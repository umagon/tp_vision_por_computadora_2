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793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hGL/gJEfSF+xSq5xsfoME7C6Kr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497DB8D-DA3C-45D5-B854-F588C973F43F}">
  <a:tblStyle styleId="{4497DB8D-DA3C-45D5-B854-F588C973F43F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CFD7E7"/>
          </a:solidFill>
        </a:fill>
      </a:tcStyle>
    </a:wholeTbl>
    <a:band1H>
      <a:tcTxStyle/>
    </a:band1H>
    <a:band2H>
      <a:tcTxStyle b="off" i="off"/>
      <a:tcStyle>
        <a:fill>
          <a:solidFill>
            <a:srgbClr val="E8ECF4"/>
          </a:solidFill>
        </a:fill>
      </a:tcStyle>
    </a:band2H>
    <a:band1V>
      <a:tcTxStyle/>
    </a:band1V>
    <a:band2V>
      <a:tcTxStyle/>
    </a:band2V>
    <a:lastCol>
      <a:tcTxStyle/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428181" y="6414762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body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indent="-228600" lvl="1" marL="9144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2pPr>
            <a:lvl3pPr indent="-228600" lvl="2" marL="1371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3pPr>
            <a:lvl4pPr indent="-228600" lvl="3" marL="18288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4pPr>
            <a:lvl5pPr indent="-228600" lvl="4" marL="22860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8428181" y="6414762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7"/>
          <p:cNvSpPr txBox="1"/>
          <p:nvPr>
            <p:ph idx="12" type="sldNum"/>
          </p:nvPr>
        </p:nvSpPr>
        <p:spPr>
          <a:xfrm>
            <a:off x="8428181" y="6414762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" type="body"/>
          </p:nvPr>
        </p:nvSpPr>
        <p:spPr>
          <a:xfrm>
            <a:off x="722312" y="2906713"/>
            <a:ext cx="7772401" cy="15001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18"/>
          <p:cNvSpPr txBox="1"/>
          <p:nvPr>
            <p:ph idx="12" type="sldNum"/>
          </p:nvPr>
        </p:nvSpPr>
        <p:spPr>
          <a:xfrm>
            <a:off x="8428181" y="6414762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1pPr>
            <a:lvl2pPr indent="-4064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2pPr>
            <a:lvl3pPr indent="-4064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3pPr>
            <a:lvl4pPr indent="-4064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4pPr>
            <a:lvl5pPr indent="-4064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»"/>
              <a:defRPr sz="28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8428181" y="6414762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2" type="body"/>
          </p:nvPr>
        </p:nvSpPr>
        <p:spPr>
          <a:xfrm>
            <a:off x="4645025" y="1535111"/>
            <a:ext cx="4041775" cy="6397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2" type="sldNum"/>
          </p:nvPr>
        </p:nvSpPr>
        <p:spPr>
          <a:xfrm>
            <a:off x="8428181" y="6414762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1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4" name="Google Shape;34;p21"/>
          <p:cNvSpPr txBox="1"/>
          <p:nvPr>
            <p:ph idx="12" type="sldNum"/>
          </p:nvPr>
        </p:nvSpPr>
        <p:spPr>
          <a:xfrm>
            <a:off x="8428181" y="6414762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2"/>
          <p:cNvSpPr txBox="1"/>
          <p:nvPr>
            <p:ph type="title"/>
          </p:nvPr>
        </p:nvSpPr>
        <p:spPr>
          <a:xfrm>
            <a:off x="457200" y="273050"/>
            <a:ext cx="3008316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7" name="Google Shape;37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2" type="body"/>
          </p:nvPr>
        </p:nvSpPr>
        <p:spPr>
          <a:xfrm>
            <a:off x="457198" y="1435100"/>
            <a:ext cx="3008317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2" type="sldNum"/>
          </p:nvPr>
        </p:nvSpPr>
        <p:spPr>
          <a:xfrm>
            <a:off x="8428181" y="6414762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/>
          <p:nvPr>
            <p:ph type="title"/>
          </p:nvPr>
        </p:nvSpPr>
        <p:spPr>
          <a:xfrm>
            <a:off x="1792288" y="4800600"/>
            <a:ext cx="5486403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2" name="Google Shape;42;p23"/>
          <p:cNvSpPr/>
          <p:nvPr>
            <p:ph idx="2" type="pic"/>
          </p:nvPr>
        </p:nvSpPr>
        <p:spPr>
          <a:xfrm>
            <a:off x="1792288" y="612775"/>
            <a:ext cx="5486403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23"/>
          <p:cNvSpPr txBox="1"/>
          <p:nvPr>
            <p:ph idx="1" type="body"/>
          </p:nvPr>
        </p:nvSpPr>
        <p:spPr>
          <a:xfrm>
            <a:off x="1792288" y="5367337"/>
            <a:ext cx="5486403" cy="8048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3"/>
          <p:cNvSpPr txBox="1"/>
          <p:nvPr>
            <p:ph idx="12" type="sldNum"/>
          </p:nvPr>
        </p:nvSpPr>
        <p:spPr>
          <a:xfrm>
            <a:off x="8428181" y="6414762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318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31800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31800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318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318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318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318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2" type="sldNum"/>
          </p:nvPr>
        </p:nvSpPr>
        <p:spPr>
          <a:xfrm>
            <a:off x="8428181" y="6414762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"/>
          <p:cNvSpPr/>
          <p:nvPr/>
        </p:nvSpPr>
        <p:spPr>
          <a:xfrm>
            <a:off x="-1" y="-2"/>
            <a:ext cx="12191697" cy="73156"/>
          </a:xfrm>
          <a:prstGeom prst="rect">
            <a:avLst/>
          </a:prstGeom>
          <a:solidFill>
            <a:srgbClr val="00A89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"/>
          <p:cNvSpPr txBox="1"/>
          <p:nvPr/>
        </p:nvSpPr>
        <p:spPr>
          <a:xfrm>
            <a:off x="1417319" y="1371600"/>
            <a:ext cx="9326882" cy="1666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Segmentación y clasificación de patologías</a:t>
            </a:r>
            <a:b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retinales en imágenes OCT mediante Deep Learning</a:t>
            </a:r>
            <a:endParaRPr/>
          </a:p>
        </p:txBody>
      </p:sp>
      <p:sp>
        <p:nvSpPr>
          <p:cNvPr id="51" name="Google Shape;51;p1"/>
          <p:cNvSpPr/>
          <p:nvPr/>
        </p:nvSpPr>
        <p:spPr>
          <a:xfrm>
            <a:off x="1371600" y="3749037"/>
            <a:ext cx="2743200" cy="36579"/>
          </a:xfrm>
          <a:prstGeom prst="rect">
            <a:avLst/>
          </a:prstGeom>
          <a:solidFill>
            <a:srgbClr val="00A89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"/>
          <p:cNvSpPr txBox="1"/>
          <p:nvPr/>
        </p:nvSpPr>
        <p:spPr>
          <a:xfrm>
            <a:off x="1417319" y="4114800"/>
            <a:ext cx="9326882" cy="300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Alexis Barniquez  |  Barbara Cerezo  |  Daniel Paniagua  |  Brian Salamone</a:t>
            </a:r>
            <a:endParaRPr/>
          </a:p>
        </p:txBody>
      </p:sp>
      <p:sp>
        <p:nvSpPr>
          <p:cNvPr id="53" name="Google Shape;53;p1"/>
          <p:cNvSpPr txBox="1"/>
          <p:nvPr/>
        </p:nvSpPr>
        <p:spPr>
          <a:xfrm>
            <a:off x="1417319" y="4846320"/>
            <a:ext cx="9326882" cy="280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B8D"/>
                </a:solidFill>
                <a:latin typeface="Calibri"/>
                <a:ea typeface="Calibri"/>
                <a:cs typeface="Calibri"/>
                <a:sym typeface="Calibri"/>
              </a:rPr>
              <a:t>Visión por Computadora II  -  CEIA  - 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"/>
          <p:cNvSpPr/>
          <p:nvPr/>
        </p:nvSpPr>
        <p:spPr>
          <a:xfrm>
            <a:off x="-1" y="-2"/>
            <a:ext cx="12191697" cy="73156"/>
          </a:xfrm>
          <a:prstGeom prst="rect">
            <a:avLst/>
          </a:prstGeom>
          <a:solidFill>
            <a:srgbClr val="00A89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777239" y="457198"/>
            <a:ext cx="9052561" cy="542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Contexto clínico</a:t>
            </a:r>
            <a:endParaRPr/>
          </a:p>
        </p:txBody>
      </p:sp>
      <p:sp>
        <p:nvSpPr>
          <p:cNvPr id="60" name="Google Shape;60;p2"/>
          <p:cNvSpPr txBox="1"/>
          <p:nvPr/>
        </p:nvSpPr>
        <p:spPr>
          <a:xfrm>
            <a:off x="777237" y="1463038"/>
            <a:ext cx="4937764" cy="385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El problema</a:t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731519" y="2103120"/>
            <a:ext cx="54867" cy="457203"/>
          </a:xfrm>
          <a:prstGeom prst="rect">
            <a:avLst/>
          </a:prstGeom>
          <a:solidFill>
            <a:srgbClr val="00A89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1142999" y="2103121"/>
            <a:ext cx="4572002" cy="5065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Las enfermedades retinales (CNV, DME, Drusen) son causas principales de perdida de visión a nivel mundial</a:t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731519" y="3017520"/>
            <a:ext cx="54867" cy="457203"/>
          </a:xfrm>
          <a:prstGeom prst="rect">
            <a:avLst/>
          </a:prstGeom>
          <a:solidFill>
            <a:srgbClr val="00A89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 txBox="1"/>
          <p:nvPr/>
        </p:nvSpPr>
        <p:spPr>
          <a:xfrm>
            <a:off x="1142999" y="3017521"/>
            <a:ext cx="4572002" cy="5065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La Tomografía de Coherencia Óptica (OCT) es el estándar de imagen para diagnostico oftalmológico</a:t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731519" y="3931920"/>
            <a:ext cx="54867" cy="457203"/>
          </a:xfrm>
          <a:prstGeom prst="rect">
            <a:avLst/>
          </a:prstGeom>
          <a:solidFill>
            <a:srgbClr val="00A89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1142999" y="3931920"/>
            <a:ext cx="4572002" cy="5065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Se requieren herramientas automatizadas que asistan al especialista en el diagnostico temprano</a:t>
            </a:r>
            <a:endParaRPr/>
          </a:p>
        </p:txBody>
      </p:sp>
      <p:sp>
        <p:nvSpPr>
          <p:cNvPr id="67" name="Google Shape;67;p2"/>
          <p:cNvSpPr txBox="1"/>
          <p:nvPr/>
        </p:nvSpPr>
        <p:spPr>
          <a:xfrm>
            <a:off x="6629399" y="1463038"/>
            <a:ext cx="4480564" cy="385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4 clases de patología</a:t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6583680" y="2103120"/>
            <a:ext cx="4846323" cy="777243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6583680" y="2103120"/>
            <a:ext cx="73155" cy="777243"/>
          </a:xfrm>
          <a:prstGeom prst="rect">
            <a:avLst/>
          </a:prstGeom>
          <a:solidFill>
            <a:srgbClr val="F96167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 txBox="1"/>
          <p:nvPr/>
        </p:nvSpPr>
        <p:spPr>
          <a:xfrm>
            <a:off x="6995159" y="2148838"/>
            <a:ext cx="1737363" cy="333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CNV</a:t>
            </a:r>
            <a:endParaRPr/>
          </a:p>
        </p:txBody>
      </p:sp>
      <p:sp>
        <p:nvSpPr>
          <p:cNvPr id="71" name="Google Shape;71;p2"/>
          <p:cNvSpPr txBox="1"/>
          <p:nvPr/>
        </p:nvSpPr>
        <p:spPr>
          <a:xfrm>
            <a:off x="6995158" y="2468877"/>
            <a:ext cx="4023364" cy="258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B8D"/>
                </a:solidFill>
                <a:latin typeface="Calibri"/>
                <a:ea typeface="Calibri"/>
                <a:cs typeface="Calibri"/>
                <a:sym typeface="Calibri"/>
              </a:rPr>
              <a:t>Neovascularización coroidea</a:t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6583680" y="3063238"/>
            <a:ext cx="4846323" cy="777243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6583680" y="3063238"/>
            <a:ext cx="73155" cy="777243"/>
          </a:xfrm>
          <a:prstGeom prst="rect">
            <a:avLst/>
          </a:prstGeom>
          <a:solidFill>
            <a:srgbClr val="F9C74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 txBox="1"/>
          <p:nvPr/>
        </p:nvSpPr>
        <p:spPr>
          <a:xfrm>
            <a:off x="6995159" y="3108960"/>
            <a:ext cx="1737363" cy="3330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DME</a:t>
            </a:r>
            <a:endParaRPr/>
          </a:p>
        </p:txBody>
      </p:sp>
      <p:sp>
        <p:nvSpPr>
          <p:cNvPr id="75" name="Google Shape;75;p2"/>
          <p:cNvSpPr txBox="1"/>
          <p:nvPr/>
        </p:nvSpPr>
        <p:spPr>
          <a:xfrm>
            <a:off x="6995158" y="3428998"/>
            <a:ext cx="4023364" cy="258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B8D"/>
                </a:solidFill>
                <a:latin typeface="Calibri"/>
                <a:ea typeface="Calibri"/>
                <a:cs typeface="Calibri"/>
                <a:sym typeface="Calibri"/>
              </a:rPr>
              <a:t>Edema macular diabético</a:t>
            </a: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6583680" y="4023359"/>
            <a:ext cx="4846323" cy="777243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6583680" y="4023359"/>
            <a:ext cx="73155" cy="777243"/>
          </a:xfrm>
          <a:prstGeom prst="rect">
            <a:avLst/>
          </a:prstGeom>
          <a:solidFill>
            <a:srgbClr val="00A89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 txBox="1"/>
          <p:nvPr/>
        </p:nvSpPr>
        <p:spPr>
          <a:xfrm>
            <a:off x="6995159" y="4069079"/>
            <a:ext cx="1737363" cy="333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DRUSEN</a:t>
            </a:r>
            <a:endParaRPr/>
          </a:p>
        </p:txBody>
      </p:sp>
      <p:sp>
        <p:nvSpPr>
          <p:cNvPr id="79" name="Google Shape;79;p2"/>
          <p:cNvSpPr txBox="1"/>
          <p:nvPr/>
        </p:nvSpPr>
        <p:spPr>
          <a:xfrm>
            <a:off x="6995158" y="4389120"/>
            <a:ext cx="4023364" cy="258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B8D"/>
                </a:solidFill>
                <a:latin typeface="Calibri"/>
                <a:ea typeface="Calibri"/>
                <a:cs typeface="Calibri"/>
                <a:sym typeface="Calibri"/>
              </a:rPr>
              <a:t>Depositos sub-retinales</a:t>
            </a:r>
            <a:endParaRPr/>
          </a:p>
        </p:txBody>
      </p:sp>
      <p:sp>
        <p:nvSpPr>
          <p:cNvPr id="80" name="Google Shape;80;p2"/>
          <p:cNvSpPr/>
          <p:nvPr/>
        </p:nvSpPr>
        <p:spPr>
          <a:xfrm>
            <a:off x="6583680" y="4983479"/>
            <a:ext cx="4846323" cy="777243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6583680" y="4983479"/>
            <a:ext cx="73155" cy="777243"/>
          </a:xfrm>
          <a:prstGeom prst="rect">
            <a:avLst/>
          </a:prstGeom>
          <a:solidFill>
            <a:srgbClr val="2ECC71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 txBox="1"/>
          <p:nvPr/>
        </p:nvSpPr>
        <p:spPr>
          <a:xfrm>
            <a:off x="6995159" y="5029198"/>
            <a:ext cx="1737363" cy="333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NORMAL</a:t>
            </a:r>
            <a:endParaRPr/>
          </a:p>
        </p:txBody>
      </p:sp>
      <p:sp>
        <p:nvSpPr>
          <p:cNvPr id="83" name="Google Shape;83;p2"/>
          <p:cNvSpPr txBox="1"/>
          <p:nvPr/>
        </p:nvSpPr>
        <p:spPr>
          <a:xfrm>
            <a:off x="6995158" y="5349240"/>
            <a:ext cx="4023364" cy="258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B8D"/>
                </a:solidFill>
                <a:latin typeface="Calibri"/>
                <a:ea typeface="Calibri"/>
                <a:cs typeface="Calibri"/>
                <a:sym typeface="Calibri"/>
              </a:rPr>
              <a:t>Retina sana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"/>
          <p:cNvSpPr/>
          <p:nvPr/>
        </p:nvSpPr>
        <p:spPr>
          <a:xfrm>
            <a:off x="-1" y="-2"/>
            <a:ext cx="12191697" cy="73156"/>
          </a:xfrm>
          <a:prstGeom prst="rect">
            <a:avLst/>
          </a:prstGeom>
          <a:solidFill>
            <a:srgbClr val="00A89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 txBox="1"/>
          <p:nvPr/>
        </p:nvSpPr>
        <p:spPr>
          <a:xfrm>
            <a:off x="777239" y="457198"/>
            <a:ext cx="9052561" cy="542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Objetivo e hipótesis</a:t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731519" y="1645920"/>
            <a:ext cx="10698482" cy="1188723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 txBox="1"/>
          <p:nvPr/>
        </p:nvSpPr>
        <p:spPr>
          <a:xfrm>
            <a:off x="1234438" y="1885786"/>
            <a:ext cx="9692645" cy="6449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Pregunta: ¿la segmentación semántica de capas retinales como preprocesamiento, mejora la clasificación automática de patologías en imágenes OCT?</a:t>
            </a:r>
            <a:endParaRPr/>
          </a:p>
        </p:txBody>
      </p:sp>
      <p:sp>
        <p:nvSpPr>
          <p:cNvPr id="92" name="Google Shape;92;p3"/>
          <p:cNvSpPr txBox="1"/>
          <p:nvPr/>
        </p:nvSpPr>
        <p:spPr>
          <a:xfrm>
            <a:off x="777237" y="3291840"/>
            <a:ext cx="4937764" cy="385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Hipótesis</a:t>
            </a:r>
            <a:endParaRPr/>
          </a:p>
        </p:txBody>
      </p:sp>
      <p:sp>
        <p:nvSpPr>
          <p:cNvPr id="93" name="Google Shape;93;p3"/>
          <p:cNvSpPr txBox="1"/>
          <p:nvPr/>
        </p:nvSpPr>
        <p:spPr>
          <a:xfrm>
            <a:off x="777237" y="3840479"/>
            <a:ext cx="4937764" cy="1062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La información estructural extraída por un modelo de segmentación debería mejorar la capacidad del clasificador al proveer representaciones mas ricas de la anatomía retinal.</a:t>
            </a:r>
            <a:endParaRPr/>
          </a:p>
        </p:txBody>
      </p:sp>
      <p:sp>
        <p:nvSpPr>
          <p:cNvPr id="94" name="Google Shape;94;p3"/>
          <p:cNvSpPr txBox="1"/>
          <p:nvPr/>
        </p:nvSpPr>
        <p:spPr>
          <a:xfrm>
            <a:off x="6629399" y="3291840"/>
            <a:ext cx="4937764" cy="385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Enfoque experimental</a:t>
            </a:r>
            <a:endParaRPr/>
          </a:p>
        </p:txBody>
      </p:sp>
      <p:sp>
        <p:nvSpPr>
          <p:cNvPr id="95" name="Google Shape;95;p3"/>
          <p:cNvSpPr txBox="1"/>
          <p:nvPr/>
        </p:nvSpPr>
        <p:spPr>
          <a:xfrm>
            <a:off x="6629399" y="3840479"/>
            <a:ext cx="4937764" cy="2779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1. Entrenar UNet++ para segmentar 8 capas retinales</a:t>
            </a:r>
            <a:endParaRPr/>
          </a:p>
        </p:txBody>
      </p:sp>
      <p:sp>
        <p:nvSpPr>
          <p:cNvPr id="96" name="Google Shape;96;p3"/>
          <p:cNvSpPr txBox="1"/>
          <p:nvPr/>
        </p:nvSpPr>
        <p:spPr>
          <a:xfrm>
            <a:off x="6629399" y="4343399"/>
            <a:ext cx="4937764" cy="2779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2. Entrenar ResNet50 sobre imágenes OCT originales</a:t>
            </a:r>
            <a:endParaRPr/>
          </a:p>
        </p:txBody>
      </p:sp>
      <p:sp>
        <p:nvSpPr>
          <p:cNvPr id="97" name="Google Shape;97;p3"/>
          <p:cNvSpPr txBox="1"/>
          <p:nvPr/>
        </p:nvSpPr>
        <p:spPr>
          <a:xfrm>
            <a:off x="6629399" y="4846320"/>
            <a:ext cx="4937764" cy="2779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3. Entrenar ResNet50 sobre mascaras de segmentación</a:t>
            </a:r>
            <a:endParaRPr/>
          </a:p>
        </p:txBody>
      </p:sp>
      <p:sp>
        <p:nvSpPr>
          <p:cNvPr id="98" name="Google Shape;98;p3"/>
          <p:cNvSpPr txBox="1"/>
          <p:nvPr/>
        </p:nvSpPr>
        <p:spPr>
          <a:xfrm>
            <a:off x="6629399" y="5349240"/>
            <a:ext cx="4937764" cy="2779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4. Comparar ambos clasificadores aislando la variable de input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/>
          <p:nvPr/>
        </p:nvSpPr>
        <p:spPr>
          <a:xfrm>
            <a:off x="-1" y="-2"/>
            <a:ext cx="12191697" cy="73156"/>
          </a:xfrm>
          <a:prstGeom prst="rect">
            <a:avLst/>
          </a:prstGeom>
          <a:solidFill>
            <a:srgbClr val="00A89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 txBox="1"/>
          <p:nvPr/>
        </p:nvSpPr>
        <p:spPr>
          <a:xfrm>
            <a:off x="777239" y="457198"/>
            <a:ext cx="9052561" cy="542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Datasets</a:t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731517" y="1463037"/>
            <a:ext cx="5120646" cy="4114805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731517" y="1463039"/>
            <a:ext cx="5120646" cy="548641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 txBox="1"/>
          <p:nvPr/>
        </p:nvSpPr>
        <p:spPr>
          <a:xfrm>
            <a:off x="1051557" y="1570816"/>
            <a:ext cx="4480564" cy="333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de segmentación</a:t>
            </a:r>
            <a:endParaRPr/>
          </a:p>
        </p:txBody>
      </p:sp>
      <p:sp>
        <p:nvSpPr>
          <p:cNvPr id="108" name="Google Shape;108;p4"/>
          <p:cNvSpPr txBox="1"/>
          <p:nvPr/>
        </p:nvSpPr>
        <p:spPr>
          <a:xfrm>
            <a:off x="1051557" y="2285999"/>
            <a:ext cx="4480564" cy="280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Fuente: Kaggle - Retinal Layer Segmentation</a:t>
            </a:r>
            <a:endParaRPr/>
          </a:p>
        </p:txBody>
      </p:sp>
      <p:sp>
        <p:nvSpPr>
          <p:cNvPr id="109" name="Google Shape;109;p4"/>
          <p:cNvSpPr txBox="1"/>
          <p:nvPr/>
        </p:nvSpPr>
        <p:spPr>
          <a:xfrm>
            <a:off x="1051557" y="2926078"/>
            <a:ext cx="4480564" cy="280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Formato: archivos .npy (224 x 512 px, escala de grises)</a:t>
            </a:r>
            <a:endParaRPr/>
          </a:p>
        </p:txBody>
      </p:sp>
      <p:sp>
        <p:nvSpPr>
          <p:cNvPr id="110" name="Google Shape;110;p4"/>
          <p:cNvSpPr txBox="1"/>
          <p:nvPr/>
        </p:nvSpPr>
        <p:spPr>
          <a:xfrm>
            <a:off x="1051557" y="3566159"/>
            <a:ext cx="4480564" cy="280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9 clases: 8 capas retinales + fondo</a:t>
            </a:r>
            <a:endParaRPr/>
          </a:p>
        </p:txBody>
      </p:sp>
      <p:sp>
        <p:nvSpPr>
          <p:cNvPr id="111" name="Google Shape;111;p4"/>
          <p:cNvSpPr txBox="1"/>
          <p:nvPr/>
        </p:nvSpPr>
        <p:spPr>
          <a:xfrm>
            <a:off x="1051557" y="4206240"/>
            <a:ext cx="4480564" cy="280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Clase 0 (fondo) dominante; capas 1-7 balanceadas</a:t>
            </a:r>
            <a:endParaRPr/>
          </a:p>
        </p:txBody>
      </p:sp>
      <p:sp>
        <p:nvSpPr>
          <p:cNvPr id="112" name="Google Shape;112;p4"/>
          <p:cNvSpPr txBox="1"/>
          <p:nvPr/>
        </p:nvSpPr>
        <p:spPr>
          <a:xfrm>
            <a:off x="1051557" y="4846320"/>
            <a:ext cx="4480564" cy="280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Máscaras de segmentación píxel a píxel</a:t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6309359" y="1463037"/>
            <a:ext cx="5120643" cy="4114805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6309359" y="1463039"/>
            <a:ext cx="5120643" cy="548641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6629399" y="1570816"/>
            <a:ext cx="4480563" cy="333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de clasificación</a:t>
            </a:r>
            <a:endParaRPr/>
          </a:p>
        </p:txBody>
      </p:sp>
      <p:sp>
        <p:nvSpPr>
          <p:cNvPr id="116" name="Google Shape;116;p4"/>
          <p:cNvSpPr txBox="1"/>
          <p:nvPr/>
        </p:nvSpPr>
        <p:spPr>
          <a:xfrm>
            <a:off x="6629399" y="2285999"/>
            <a:ext cx="4480564" cy="280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Fuente: Kermany et al. (2018) - Cell</a:t>
            </a:r>
            <a:endParaRPr/>
          </a:p>
        </p:txBody>
      </p:sp>
      <p:sp>
        <p:nvSpPr>
          <p:cNvPr id="117" name="Google Shape;117;p4"/>
          <p:cNvSpPr txBox="1"/>
          <p:nvPr/>
        </p:nvSpPr>
        <p:spPr>
          <a:xfrm>
            <a:off x="6629399" y="2926078"/>
            <a:ext cx="4480564" cy="280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4 clases: CNV, DME, DRUSEN, NORMAL</a:t>
            </a:r>
            <a:endParaRPr/>
          </a:p>
        </p:txBody>
      </p:sp>
      <p:sp>
        <p:nvSpPr>
          <p:cNvPr id="118" name="Google Shape;118;p4"/>
          <p:cNvSpPr txBox="1"/>
          <p:nvPr/>
        </p:nvSpPr>
        <p:spPr>
          <a:xfrm>
            <a:off x="6629399" y="3566159"/>
            <a:ext cx="4480564" cy="280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Train: ~8,000 imágenes (WeightedRandomSampler)</a:t>
            </a:r>
            <a:endParaRPr/>
          </a:p>
        </p:txBody>
      </p:sp>
      <p:sp>
        <p:nvSpPr>
          <p:cNvPr id="119" name="Google Shape;119;p4"/>
          <p:cNvSpPr txBox="1"/>
          <p:nvPr/>
        </p:nvSpPr>
        <p:spPr>
          <a:xfrm>
            <a:off x="6629399" y="4206240"/>
            <a:ext cx="4480564" cy="280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Validación: 2,032 imágenes</a:t>
            </a:r>
            <a:endParaRPr/>
          </a:p>
        </p:txBody>
      </p:sp>
      <p:sp>
        <p:nvSpPr>
          <p:cNvPr id="120" name="Google Shape;120;p4"/>
          <p:cNvSpPr txBox="1"/>
          <p:nvPr/>
        </p:nvSpPr>
        <p:spPr>
          <a:xfrm>
            <a:off x="6629399" y="4846320"/>
            <a:ext cx="4480564" cy="280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Test: 4,015 imágenes (224 x 224 px)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/>
          <p:nvPr/>
        </p:nvSpPr>
        <p:spPr>
          <a:xfrm>
            <a:off x="-1" y="-2"/>
            <a:ext cx="12191697" cy="73156"/>
          </a:xfrm>
          <a:prstGeom prst="rect">
            <a:avLst/>
          </a:prstGeom>
          <a:solidFill>
            <a:srgbClr val="00A89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 txBox="1"/>
          <p:nvPr/>
        </p:nvSpPr>
        <p:spPr>
          <a:xfrm>
            <a:off x="777239" y="457198"/>
            <a:ext cx="9052561" cy="542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Pipeline propuesto</a:t>
            </a:r>
            <a:endParaRPr/>
          </a:p>
        </p:txBody>
      </p:sp>
      <p:sp>
        <p:nvSpPr>
          <p:cNvPr id="127" name="Google Shape;127;p5"/>
          <p:cNvSpPr txBox="1"/>
          <p:nvPr/>
        </p:nvSpPr>
        <p:spPr>
          <a:xfrm>
            <a:off x="777238" y="1463039"/>
            <a:ext cx="2651763" cy="300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Camino 1: clasificación directa</a:t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731519" y="2011678"/>
            <a:ext cx="2286001" cy="1097282"/>
          </a:xfrm>
          <a:prstGeom prst="rect">
            <a:avLst/>
          </a:prstGeom>
          <a:solidFill>
            <a:srgbClr val="CADCFC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 txBox="1"/>
          <p:nvPr/>
        </p:nvSpPr>
        <p:spPr>
          <a:xfrm>
            <a:off x="868677" y="2227233"/>
            <a:ext cx="2011684" cy="300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Imagen OCT</a:t>
            </a:r>
            <a:endParaRPr/>
          </a:p>
        </p:txBody>
      </p:sp>
      <p:sp>
        <p:nvSpPr>
          <p:cNvPr id="130" name="Google Shape;130;p5"/>
          <p:cNvSpPr txBox="1"/>
          <p:nvPr/>
        </p:nvSpPr>
        <p:spPr>
          <a:xfrm>
            <a:off x="868677" y="2592991"/>
            <a:ext cx="2011684" cy="2483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B8D"/>
                </a:solidFill>
                <a:latin typeface="Calibri"/>
                <a:ea typeface="Calibri"/>
                <a:cs typeface="Calibri"/>
                <a:sym typeface="Calibri"/>
              </a:rPr>
              <a:t>224 x 224 RGB</a:t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3200399" y="2468877"/>
            <a:ext cx="731524" cy="54867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4114798" y="2011678"/>
            <a:ext cx="2560324" cy="1097282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 txBox="1"/>
          <p:nvPr/>
        </p:nvSpPr>
        <p:spPr>
          <a:xfrm>
            <a:off x="4251959" y="2246847"/>
            <a:ext cx="2286003" cy="333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ResNet50</a:t>
            </a:r>
            <a:endParaRPr/>
          </a:p>
        </p:txBody>
      </p:sp>
      <p:sp>
        <p:nvSpPr>
          <p:cNvPr id="134" name="Google Shape;134;p5"/>
          <p:cNvSpPr txBox="1"/>
          <p:nvPr/>
        </p:nvSpPr>
        <p:spPr>
          <a:xfrm>
            <a:off x="4251959" y="2612607"/>
            <a:ext cx="2286003" cy="2483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ImageNet pre-entrenadas</a:t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6857999" y="2468877"/>
            <a:ext cx="731524" cy="54867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7772400" y="2011678"/>
            <a:ext cx="3200400" cy="1097282"/>
          </a:xfrm>
          <a:prstGeom prst="rect">
            <a:avLst/>
          </a:prstGeom>
          <a:solidFill>
            <a:srgbClr val="2ECC71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 txBox="1"/>
          <p:nvPr/>
        </p:nvSpPr>
        <p:spPr>
          <a:xfrm>
            <a:off x="7909559" y="2250002"/>
            <a:ext cx="2926083" cy="333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Predicción</a:t>
            </a:r>
            <a:endParaRPr/>
          </a:p>
        </p:txBody>
      </p:sp>
      <p:sp>
        <p:nvSpPr>
          <p:cNvPr id="138" name="Google Shape;138;p5"/>
          <p:cNvSpPr txBox="1"/>
          <p:nvPr/>
        </p:nvSpPr>
        <p:spPr>
          <a:xfrm>
            <a:off x="7909559" y="2570042"/>
            <a:ext cx="2926083" cy="300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Accuracy: 92%</a:t>
            </a:r>
            <a:endParaRPr/>
          </a:p>
        </p:txBody>
      </p:sp>
      <p:sp>
        <p:nvSpPr>
          <p:cNvPr id="139" name="Google Shape;139;p5"/>
          <p:cNvSpPr txBox="1"/>
          <p:nvPr/>
        </p:nvSpPr>
        <p:spPr>
          <a:xfrm>
            <a:off x="777237" y="3566159"/>
            <a:ext cx="4480564" cy="300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Camino 2: segmentación + clasificación</a:t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731519" y="4114798"/>
            <a:ext cx="1828801" cy="1097284"/>
          </a:xfrm>
          <a:prstGeom prst="rect">
            <a:avLst/>
          </a:prstGeom>
          <a:solidFill>
            <a:srgbClr val="CADCFC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 txBox="1"/>
          <p:nvPr/>
        </p:nvSpPr>
        <p:spPr>
          <a:xfrm>
            <a:off x="822958" y="4320540"/>
            <a:ext cx="1645923" cy="280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Imagen OCT</a:t>
            </a:r>
            <a:endParaRPr/>
          </a:p>
        </p:txBody>
      </p:sp>
      <p:sp>
        <p:nvSpPr>
          <p:cNvPr id="142" name="Google Shape;142;p5"/>
          <p:cNvSpPr txBox="1"/>
          <p:nvPr/>
        </p:nvSpPr>
        <p:spPr>
          <a:xfrm>
            <a:off x="822958" y="4686298"/>
            <a:ext cx="1645923" cy="2257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B8D"/>
                </a:solidFill>
                <a:latin typeface="Calibri"/>
                <a:ea typeface="Calibri"/>
                <a:cs typeface="Calibri"/>
                <a:sym typeface="Calibri"/>
              </a:rPr>
              <a:t>Escala de grises</a:t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2697477" y="4572000"/>
            <a:ext cx="457203" cy="54864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3291840" y="4114798"/>
            <a:ext cx="2103123" cy="1097284"/>
          </a:xfrm>
          <a:prstGeom prst="rect">
            <a:avLst/>
          </a:prstGeom>
          <a:solidFill>
            <a:srgbClr val="00A89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 txBox="1"/>
          <p:nvPr/>
        </p:nvSpPr>
        <p:spPr>
          <a:xfrm>
            <a:off x="3383279" y="4320540"/>
            <a:ext cx="1920241" cy="300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UNet++</a:t>
            </a:r>
            <a:endParaRPr/>
          </a:p>
        </p:txBody>
      </p:sp>
      <p:sp>
        <p:nvSpPr>
          <p:cNvPr id="146" name="Google Shape;146;p5"/>
          <p:cNvSpPr txBox="1"/>
          <p:nvPr/>
        </p:nvSpPr>
        <p:spPr>
          <a:xfrm>
            <a:off x="3383279" y="4686298"/>
            <a:ext cx="1920241" cy="2257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ResNet34 encoder</a:t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5532120" y="4572000"/>
            <a:ext cx="457203" cy="54864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6126479" y="4114798"/>
            <a:ext cx="1645923" cy="1097284"/>
          </a:xfrm>
          <a:prstGeom prst="rect">
            <a:avLst/>
          </a:prstGeom>
          <a:solidFill>
            <a:srgbClr val="F9C74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6217918" y="4328004"/>
            <a:ext cx="1463044" cy="280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Máscara</a:t>
            </a:r>
            <a:endParaRPr/>
          </a:p>
        </p:txBody>
      </p:sp>
      <p:sp>
        <p:nvSpPr>
          <p:cNvPr id="150" name="Google Shape;150;p5"/>
          <p:cNvSpPr txBox="1"/>
          <p:nvPr/>
        </p:nvSpPr>
        <p:spPr>
          <a:xfrm>
            <a:off x="6217918" y="4693763"/>
            <a:ext cx="1463044" cy="2257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8 capas</a:t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7909559" y="4572000"/>
            <a:ext cx="457203" cy="54864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8503918" y="4114798"/>
            <a:ext cx="1828803" cy="1097284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 txBox="1"/>
          <p:nvPr/>
        </p:nvSpPr>
        <p:spPr>
          <a:xfrm>
            <a:off x="8595359" y="4303698"/>
            <a:ext cx="1645923" cy="300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ResNet50</a:t>
            </a:r>
            <a:endParaRPr/>
          </a:p>
        </p:txBody>
      </p:sp>
      <p:sp>
        <p:nvSpPr>
          <p:cNvPr id="154" name="Google Shape;154;p5"/>
          <p:cNvSpPr txBox="1"/>
          <p:nvPr/>
        </p:nvSpPr>
        <p:spPr>
          <a:xfrm>
            <a:off x="8595359" y="4669459"/>
            <a:ext cx="1645923" cy="225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ImageNet</a:t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10469880" y="4572000"/>
            <a:ext cx="320043" cy="54864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10058400" y="5486398"/>
            <a:ext cx="1371600" cy="731524"/>
          </a:xfrm>
          <a:prstGeom prst="rect">
            <a:avLst/>
          </a:prstGeom>
          <a:solidFill>
            <a:srgbClr val="E74C3C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 txBox="1"/>
          <p:nvPr/>
        </p:nvSpPr>
        <p:spPr>
          <a:xfrm>
            <a:off x="10149839" y="5564702"/>
            <a:ext cx="1188723" cy="258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/>
          </a:p>
        </p:txBody>
      </p:sp>
      <p:sp>
        <p:nvSpPr>
          <p:cNvPr id="158" name="Google Shape;158;p5"/>
          <p:cNvSpPr txBox="1"/>
          <p:nvPr/>
        </p:nvSpPr>
        <p:spPr>
          <a:xfrm>
            <a:off x="10149839" y="5839023"/>
            <a:ext cx="1188723" cy="300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72%</a:t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731519" y="5943598"/>
            <a:ext cx="8686801" cy="640084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731519" y="5943598"/>
            <a:ext cx="54867" cy="640084"/>
          </a:xfrm>
          <a:prstGeom prst="rect">
            <a:avLst/>
          </a:prstGeom>
          <a:solidFill>
            <a:srgbClr val="F96167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 txBox="1"/>
          <p:nvPr/>
        </p:nvSpPr>
        <p:spPr>
          <a:xfrm>
            <a:off x="1005839" y="6123239"/>
            <a:ext cx="8138160" cy="280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Mismo clasificador (ResNet50), diferente input. Esto aísla el efecto de la segmentación.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"/>
          <p:cNvSpPr/>
          <p:nvPr/>
        </p:nvSpPr>
        <p:spPr>
          <a:xfrm>
            <a:off x="-1" y="-2"/>
            <a:ext cx="12191697" cy="73156"/>
          </a:xfrm>
          <a:prstGeom prst="rect">
            <a:avLst/>
          </a:prstGeom>
          <a:solidFill>
            <a:srgbClr val="00A89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 txBox="1"/>
          <p:nvPr/>
        </p:nvSpPr>
        <p:spPr>
          <a:xfrm>
            <a:off x="777239" y="457198"/>
            <a:ext cx="9052561" cy="542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Modelo de segmentación: UNet++</a:t>
            </a:r>
            <a:endParaRPr/>
          </a:p>
        </p:txBody>
      </p:sp>
      <p:sp>
        <p:nvSpPr>
          <p:cNvPr id="168" name="Google Shape;168;p6"/>
          <p:cNvSpPr txBox="1"/>
          <p:nvPr/>
        </p:nvSpPr>
        <p:spPr>
          <a:xfrm>
            <a:off x="777237" y="1463038"/>
            <a:ext cx="5394964" cy="340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Arquitectura y configuración</a:t>
            </a:r>
            <a:endParaRPr/>
          </a:p>
        </p:txBody>
      </p:sp>
      <p:sp>
        <p:nvSpPr>
          <p:cNvPr id="169" name="Google Shape;169;p6"/>
          <p:cNvSpPr txBox="1"/>
          <p:nvPr/>
        </p:nvSpPr>
        <p:spPr>
          <a:xfrm>
            <a:off x="960118" y="2103121"/>
            <a:ext cx="1554485" cy="280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Modelo:</a:t>
            </a:r>
            <a:endParaRPr/>
          </a:p>
        </p:txBody>
      </p:sp>
      <p:sp>
        <p:nvSpPr>
          <p:cNvPr id="170" name="Google Shape;170;p6"/>
          <p:cNvSpPr txBox="1"/>
          <p:nvPr/>
        </p:nvSpPr>
        <p:spPr>
          <a:xfrm>
            <a:off x="2606038" y="2103121"/>
            <a:ext cx="3566164" cy="280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UNet++</a:t>
            </a:r>
            <a:endParaRPr/>
          </a:p>
        </p:txBody>
      </p:sp>
      <p:sp>
        <p:nvSpPr>
          <p:cNvPr id="171" name="Google Shape;171;p6"/>
          <p:cNvSpPr txBox="1"/>
          <p:nvPr/>
        </p:nvSpPr>
        <p:spPr>
          <a:xfrm>
            <a:off x="960118" y="2560321"/>
            <a:ext cx="1554485" cy="280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Encoder:</a:t>
            </a:r>
            <a:endParaRPr/>
          </a:p>
        </p:txBody>
      </p:sp>
      <p:sp>
        <p:nvSpPr>
          <p:cNvPr id="172" name="Google Shape;172;p6"/>
          <p:cNvSpPr txBox="1"/>
          <p:nvPr/>
        </p:nvSpPr>
        <p:spPr>
          <a:xfrm>
            <a:off x="2606038" y="2560321"/>
            <a:ext cx="3745050" cy="280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ResNet34 (con pesos pre-entrenados / Imagenet)</a:t>
            </a:r>
            <a:endParaRPr/>
          </a:p>
        </p:txBody>
      </p:sp>
      <p:sp>
        <p:nvSpPr>
          <p:cNvPr id="173" name="Google Shape;173;p6"/>
          <p:cNvSpPr txBox="1"/>
          <p:nvPr/>
        </p:nvSpPr>
        <p:spPr>
          <a:xfrm>
            <a:off x="960118" y="3017521"/>
            <a:ext cx="1554485" cy="280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Input:</a:t>
            </a:r>
            <a:endParaRPr/>
          </a:p>
        </p:txBody>
      </p:sp>
      <p:sp>
        <p:nvSpPr>
          <p:cNvPr id="174" name="Google Shape;174;p6"/>
          <p:cNvSpPr txBox="1"/>
          <p:nvPr/>
        </p:nvSpPr>
        <p:spPr>
          <a:xfrm>
            <a:off x="2606038" y="3017521"/>
            <a:ext cx="3566164" cy="280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1 canal, 224 x 512 px</a:t>
            </a:r>
            <a:endParaRPr/>
          </a:p>
        </p:txBody>
      </p:sp>
      <p:sp>
        <p:nvSpPr>
          <p:cNvPr id="175" name="Google Shape;175;p6"/>
          <p:cNvSpPr txBox="1"/>
          <p:nvPr/>
        </p:nvSpPr>
        <p:spPr>
          <a:xfrm>
            <a:off x="960118" y="3474720"/>
            <a:ext cx="1554485" cy="280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/>
          </a:p>
        </p:txBody>
      </p:sp>
      <p:sp>
        <p:nvSpPr>
          <p:cNvPr id="176" name="Google Shape;176;p6"/>
          <p:cNvSpPr txBox="1"/>
          <p:nvPr/>
        </p:nvSpPr>
        <p:spPr>
          <a:xfrm>
            <a:off x="2606038" y="3474720"/>
            <a:ext cx="3566164" cy="280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8 clases de capas retinales</a:t>
            </a:r>
            <a:endParaRPr/>
          </a:p>
        </p:txBody>
      </p:sp>
      <p:sp>
        <p:nvSpPr>
          <p:cNvPr id="177" name="Google Shape;177;p6"/>
          <p:cNvSpPr txBox="1"/>
          <p:nvPr/>
        </p:nvSpPr>
        <p:spPr>
          <a:xfrm>
            <a:off x="960118" y="3931920"/>
            <a:ext cx="1554485" cy="280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Loss:</a:t>
            </a:r>
            <a:endParaRPr/>
          </a:p>
        </p:txBody>
      </p:sp>
      <p:sp>
        <p:nvSpPr>
          <p:cNvPr id="178" name="Google Shape;178;p6"/>
          <p:cNvSpPr txBox="1"/>
          <p:nvPr/>
        </p:nvSpPr>
        <p:spPr>
          <a:xfrm>
            <a:off x="2606038" y="3931920"/>
            <a:ext cx="3566164" cy="280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CrossEntropyLoss</a:t>
            </a:r>
            <a:endParaRPr/>
          </a:p>
        </p:txBody>
      </p:sp>
      <p:sp>
        <p:nvSpPr>
          <p:cNvPr id="179" name="Google Shape;179;p6"/>
          <p:cNvSpPr txBox="1"/>
          <p:nvPr/>
        </p:nvSpPr>
        <p:spPr>
          <a:xfrm>
            <a:off x="960118" y="4389120"/>
            <a:ext cx="1554485" cy="280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Optimizer:</a:t>
            </a:r>
            <a:endParaRPr/>
          </a:p>
        </p:txBody>
      </p:sp>
      <p:sp>
        <p:nvSpPr>
          <p:cNvPr id="180" name="Google Shape;180;p6"/>
          <p:cNvSpPr txBox="1"/>
          <p:nvPr/>
        </p:nvSpPr>
        <p:spPr>
          <a:xfrm>
            <a:off x="2606038" y="4389120"/>
            <a:ext cx="3566164" cy="280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Adam (lr = 1e-3)</a:t>
            </a:r>
            <a:endParaRPr/>
          </a:p>
        </p:txBody>
      </p:sp>
      <p:sp>
        <p:nvSpPr>
          <p:cNvPr id="181" name="Google Shape;181;p6"/>
          <p:cNvSpPr txBox="1"/>
          <p:nvPr/>
        </p:nvSpPr>
        <p:spPr>
          <a:xfrm>
            <a:off x="960118" y="4846320"/>
            <a:ext cx="1554485" cy="280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Split:</a:t>
            </a:r>
            <a:endParaRPr/>
          </a:p>
        </p:txBody>
      </p:sp>
      <p:sp>
        <p:nvSpPr>
          <p:cNvPr id="182" name="Google Shape;182;p6"/>
          <p:cNvSpPr txBox="1"/>
          <p:nvPr/>
        </p:nvSpPr>
        <p:spPr>
          <a:xfrm>
            <a:off x="2606038" y="4846320"/>
            <a:ext cx="3566164" cy="280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80% train / 20% val (176/44 imgs)</a:t>
            </a:r>
            <a:endParaRPr/>
          </a:p>
        </p:txBody>
      </p:sp>
      <p:sp>
        <p:nvSpPr>
          <p:cNvPr id="183" name="Google Shape;183;p6"/>
          <p:cNvSpPr txBox="1"/>
          <p:nvPr/>
        </p:nvSpPr>
        <p:spPr>
          <a:xfrm>
            <a:off x="960118" y="5303520"/>
            <a:ext cx="1554485" cy="280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Epochs:</a:t>
            </a:r>
            <a:endParaRPr/>
          </a:p>
        </p:txBody>
      </p:sp>
      <p:sp>
        <p:nvSpPr>
          <p:cNvPr id="184" name="Google Shape;184;p6"/>
          <p:cNvSpPr txBox="1"/>
          <p:nvPr/>
        </p:nvSpPr>
        <p:spPr>
          <a:xfrm>
            <a:off x="2606038" y="5303520"/>
            <a:ext cx="3566164" cy="280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50, batch size 8</a:t>
            </a:r>
            <a:endParaRPr/>
          </a:p>
        </p:txBody>
      </p:sp>
      <p:sp>
        <p:nvSpPr>
          <p:cNvPr id="185" name="Google Shape;185;p6"/>
          <p:cNvSpPr txBox="1"/>
          <p:nvPr/>
        </p:nvSpPr>
        <p:spPr>
          <a:xfrm>
            <a:off x="6903718" y="1463038"/>
            <a:ext cx="4480564" cy="340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Justificación técnica</a:t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6858000" y="2103120"/>
            <a:ext cx="4572000" cy="1371603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6858000" y="2103120"/>
            <a:ext cx="54864" cy="1371603"/>
          </a:xfrm>
          <a:prstGeom prst="rect">
            <a:avLst/>
          </a:prstGeom>
          <a:solidFill>
            <a:srgbClr val="00A89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 txBox="1"/>
          <p:nvPr/>
        </p:nvSpPr>
        <p:spPr>
          <a:xfrm>
            <a:off x="7132318" y="2287137"/>
            <a:ext cx="4023364" cy="2779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¿Por qué UNet++ sobre U-Net?</a:t>
            </a:r>
            <a:endParaRPr/>
          </a:p>
        </p:txBody>
      </p:sp>
      <p:sp>
        <p:nvSpPr>
          <p:cNvPr id="189" name="Google Shape;189;p6"/>
          <p:cNvSpPr txBox="1"/>
          <p:nvPr/>
        </p:nvSpPr>
        <p:spPr>
          <a:xfrm>
            <a:off x="7132318" y="2652897"/>
            <a:ext cx="4023364" cy="461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Las conexiones densas anidadas mejoran la captura de detalles finos en capas retinales delgadas, críticas en OCT.</a:t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6858000" y="3749037"/>
            <a:ext cx="4572000" cy="1371603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6858000" y="3749037"/>
            <a:ext cx="54864" cy="1371603"/>
          </a:xfrm>
          <a:prstGeom prst="rect">
            <a:avLst/>
          </a:prstGeom>
          <a:solidFill>
            <a:srgbClr val="00A89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 txBox="1"/>
          <p:nvPr/>
        </p:nvSpPr>
        <p:spPr>
          <a:xfrm>
            <a:off x="7132318" y="3963977"/>
            <a:ext cx="4023363" cy="2779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¿Por qué ResNet34 como encoder?</a:t>
            </a:r>
            <a:endParaRPr/>
          </a:p>
        </p:txBody>
      </p:sp>
      <p:sp>
        <p:nvSpPr>
          <p:cNvPr id="193" name="Google Shape;193;p6"/>
          <p:cNvSpPr txBox="1"/>
          <p:nvPr/>
        </p:nvSpPr>
        <p:spPr>
          <a:xfrm>
            <a:off x="7132318" y="4373355"/>
            <a:ext cx="4023363" cy="461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Balance entre capacidad de representación y costo computacional para imágenes médicas de un solo canal.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"/>
          <p:cNvSpPr/>
          <p:nvPr/>
        </p:nvSpPr>
        <p:spPr>
          <a:xfrm>
            <a:off x="-1" y="-2"/>
            <a:ext cx="12191697" cy="73156"/>
          </a:xfrm>
          <a:prstGeom prst="rect">
            <a:avLst/>
          </a:prstGeom>
          <a:solidFill>
            <a:srgbClr val="00A89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 txBox="1"/>
          <p:nvPr/>
        </p:nvSpPr>
        <p:spPr>
          <a:xfrm>
            <a:off x="777239" y="457198"/>
            <a:ext cx="9052561" cy="542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Resultados: segmentación</a:t>
            </a:r>
            <a:endParaRPr/>
          </a:p>
        </p:txBody>
      </p:sp>
      <p:sp>
        <p:nvSpPr>
          <p:cNvPr id="200" name="Google Shape;200;p7"/>
          <p:cNvSpPr txBox="1"/>
          <p:nvPr/>
        </p:nvSpPr>
        <p:spPr>
          <a:xfrm>
            <a:off x="777238" y="1371599"/>
            <a:ext cx="3108963" cy="7457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0.981</a:t>
            </a:r>
            <a:endParaRPr/>
          </a:p>
        </p:txBody>
      </p:sp>
      <p:sp>
        <p:nvSpPr>
          <p:cNvPr id="201" name="Google Shape;201;p7"/>
          <p:cNvSpPr txBox="1"/>
          <p:nvPr/>
        </p:nvSpPr>
        <p:spPr>
          <a:xfrm>
            <a:off x="777238" y="2103121"/>
            <a:ext cx="3108963" cy="300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B7B8D"/>
                </a:solidFill>
                <a:latin typeface="Calibri"/>
                <a:ea typeface="Calibri"/>
                <a:cs typeface="Calibri"/>
                <a:sym typeface="Calibri"/>
              </a:rPr>
              <a:t>Dice (macro)</a:t>
            </a:r>
            <a:endParaRPr/>
          </a:p>
        </p:txBody>
      </p:sp>
      <p:sp>
        <p:nvSpPr>
          <p:cNvPr id="202" name="Google Shape;202;p7"/>
          <p:cNvSpPr txBox="1"/>
          <p:nvPr/>
        </p:nvSpPr>
        <p:spPr>
          <a:xfrm>
            <a:off x="4617718" y="1371599"/>
            <a:ext cx="3108964" cy="7457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0.964</a:t>
            </a:r>
            <a:endParaRPr/>
          </a:p>
        </p:txBody>
      </p:sp>
      <p:sp>
        <p:nvSpPr>
          <p:cNvPr id="203" name="Google Shape;203;p7"/>
          <p:cNvSpPr txBox="1"/>
          <p:nvPr/>
        </p:nvSpPr>
        <p:spPr>
          <a:xfrm>
            <a:off x="4617718" y="2103121"/>
            <a:ext cx="3108964" cy="300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B7B8D"/>
                </a:solidFill>
                <a:latin typeface="Calibri"/>
                <a:ea typeface="Calibri"/>
                <a:cs typeface="Calibri"/>
                <a:sym typeface="Calibri"/>
              </a:rPr>
              <a:t>IoU (macro)</a:t>
            </a:r>
            <a:endParaRPr/>
          </a:p>
        </p:txBody>
      </p:sp>
      <p:sp>
        <p:nvSpPr>
          <p:cNvPr id="204" name="Google Shape;204;p7"/>
          <p:cNvSpPr txBox="1"/>
          <p:nvPr/>
        </p:nvSpPr>
        <p:spPr>
          <a:xfrm>
            <a:off x="8458199" y="1371599"/>
            <a:ext cx="3108964" cy="7457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6B7B8D"/>
                </a:solidFill>
                <a:latin typeface="Calibri"/>
                <a:ea typeface="Calibri"/>
                <a:cs typeface="Calibri"/>
                <a:sym typeface="Calibri"/>
              </a:rPr>
              <a:t>1.53</a:t>
            </a:r>
            <a:endParaRPr/>
          </a:p>
        </p:txBody>
      </p:sp>
      <p:sp>
        <p:nvSpPr>
          <p:cNvPr id="205" name="Google Shape;205;p7"/>
          <p:cNvSpPr txBox="1"/>
          <p:nvPr/>
        </p:nvSpPr>
        <p:spPr>
          <a:xfrm>
            <a:off x="8458199" y="2103121"/>
            <a:ext cx="3108964" cy="300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B7B8D"/>
                </a:solidFill>
                <a:latin typeface="Calibri"/>
                <a:ea typeface="Calibri"/>
                <a:cs typeface="Calibri"/>
                <a:sym typeface="Calibri"/>
              </a:rPr>
              <a:t>Hausdorff Dist. (px)</a:t>
            </a:r>
            <a:endParaRPr/>
          </a:p>
        </p:txBody>
      </p:sp>
      <p:sp>
        <p:nvSpPr>
          <p:cNvPr id="206" name="Google Shape;206;p7"/>
          <p:cNvSpPr txBox="1"/>
          <p:nvPr/>
        </p:nvSpPr>
        <p:spPr>
          <a:xfrm>
            <a:off x="777237" y="2926078"/>
            <a:ext cx="5394964" cy="333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Dice y Hausdorff por capa retinal</a:t>
            </a:r>
            <a:endParaRPr/>
          </a:p>
        </p:txBody>
      </p:sp>
      <p:graphicFrame>
        <p:nvGraphicFramePr>
          <p:cNvPr id="207" name="Google Shape;207;p7"/>
          <p:cNvGraphicFramePr/>
          <p:nvPr/>
        </p:nvGraphicFramePr>
        <p:xfrm>
          <a:off x="731519" y="34747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{4497DB8D-DA3C-45D5-B854-F588C973F43F}</a:tableStyleId>
              </a:tblPr>
              <a:tblGrid>
                <a:gridCol w="1337300"/>
                <a:gridCol w="1337300"/>
                <a:gridCol w="1337300"/>
                <a:gridCol w="1337300"/>
                <a:gridCol w="1337300"/>
                <a:gridCol w="1337300"/>
                <a:gridCol w="1337300"/>
                <a:gridCol w="13373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ILM-RNFL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RNFL-GCL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GCL-IPL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IPL-INL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INL-OPL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OPL-ONL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ONL-IS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IS-OS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1E2761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A896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0A896"/>
                          </a:solidFill>
                        </a:rPr>
                        <a:t>0.999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A896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0A896"/>
                          </a:solidFill>
                        </a:rPr>
                        <a:t>0.980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A896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0A896"/>
                          </a:solidFill>
                        </a:rPr>
                        <a:t>0.989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A896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0A896"/>
                          </a:solidFill>
                        </a:rPr>
                        <a:t>0.970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A896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0A896"/>
                          </a:solidFill>
                        </a:rPr>
                        <a:t>0.967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A896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0A896"/>
                          </a:solidFill>
                        </a:rPr>
                        <a:t>0.990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A896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0A896"/>
                          </a:solidFill>
                        </a:rPr>
                        <a:t>0.978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A896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0A896"/>
                          </a:solidFill>
                        </a:rPr>
                        <a:t>0.979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5F5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A896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A896"/>
                          </a:solidFill>
                        </a:rPr>
                        <a:t>█████████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A896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A896"/>
                          </a:solidFill>
                        </a:rPr>
                        <a:t>█████████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A896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A896"/>
                          </a:solidFill>
                        </a:rPr>
                        <a:t>█████████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A896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A896"/>
                          </a:solidFill>
                        </a:rPr>
                        <a:t>█████████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A896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A896"/>
                          </a:solidFill>
                        </a:rPr>
                        <a:t>█████████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A896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A896"/>
                          </a:solidFill>
                        </a:rPr>
                        <a:t>█████████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A896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A896"/>
                          </a:solidFill>
                        </a:rPr>
                        <a:t>█████████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A896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A896"/>
                          </a:solidFill>
                        </a:rPr>
                        <a:t>█████████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8" name="Google Shape;208;p7"/>
          <p:cNvSpPr txBox="1"/>
          <p:nvPr/>
        </p:nvSpPr>
        <p:spPr>
          <a:xfrm>
            <a:off x="777237" y="4846320"/>
            <a:ext cx="5394964" cy="333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Convergencia del entrenamiento</a:t>
            </a:r>
            <a:endParaRPr/>
          </a:p>
        </p:txBody>
      </p:sp>
      <p:graphicFrame>
        <p:nvGraphicFramePr>
          <p:cNvPr id="209" name="Google Shape;209;p7"/>
          <p:cNvGraphicFramePr/>
          <p:nvPr/>
        </p:nvGraphicFramePr>
        <p:xfrm>
          <a:off x="731519" y="53035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{4497DB8D-DA3C-45D5-B854-F588C973F43F}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Epoch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Train Loss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Val Loss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Mejora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1E276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</a:rPr>
                        <a:t>0.9495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</a:rPr>
                        <a:t>0.5684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5F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</a:rPr>
                        <a:t>10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</a:rPr>
                        <a:t>0.0932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</a:rPr>
                        <a:t>0.0854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</a:rPr>
                        <a:t>85%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</a:rPr>
                        <a:t>20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</a:rPr>
                        <a:t>0.0530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</a:rPr>
                        <a:t>0.0583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</a:rPr>
                        <a:t>32%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5F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</a:rPr>
                        <a:t>30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</a:rPr>
                        <a:t>0.0315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</a:rPr>
                        <a:t>0.0354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</a:rPr>
                        <a:t>39%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</a:rPr>
                        <a:t>50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</a:rPr>
                        <a:t>0.0192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</a:rPr>
                        <a:t>0.0201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</a:rPr>
                        <a:t>43%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"/>
          <p:cNvSpPr/>
          <p:nvPr/>
        </p:nvSpPr>
        <p:spPr>
          <a:xfrm>
            <a:off x="-1" y="-2"/>
            <a:ext cx="12191700" cy="73200"/>
          </a:xfrm>
          <a:prstGeom prst="rect">
            <a:avLst/>
          </a:prstGeom>
          <a:solidFill>
            <a:srgbClr val="00A89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 txBox="1"/>
          <p:nvPr/>
        </p:nvSpPr>
        <p:spPr>
          <a:xfrm>
            <a:off x="777239" y="457198"/>
            <a:ext cx="9052561" cy="542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Clasificación: 3 estrategias</a:t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731520" y="1371600"/>
            <a:ext cx="3383280" cy="4754880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731520" y="1371599"/>
            <a:ext cx="3383280" cy="548644"/>
          </a:xfrm>
          <a:prstGeom prst="rect">
            <a:avLst/>
          </a:prstGeom>
          <a:solidFill>
            <a:srgbClr val="2ECC71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 txBox="1"/>
          <p:nvPr/>
        </p:nvSpPr>
        <p:spPr>
          <a:xfrm>
            <a:off x="868677" y="1506921"/>
            <a:ext cx="3108963" cy="2779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Modelo 1: imágenes originales</a:t>
            </a:r>
            <a:endParaRPr/>
          </a:p>
        </p:txBody>
      </p:sp>
      <p:sp>
        <p:nvSpPr>
          <p:cNvPr id="219" name="Google Shape;219;p8"/>
          <p:cNvSpPr txBox="1"/>
          <p:nvPr/>
        </p:nvSpPr>
        <p:spPr>
          <a:xfrm>
            <a:off x="960118" y="2103121"/>
            <a:ext cx="2926085" cy="2483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Input: OCT RGB (224x224)</a:t>
            </a:r>
            <a:endParaRPr/>
          </a:p>
        </p:txBody>
      </p:sp>
      <p:sp>
        <p:nvSpPr>
          <p:cNvPr id="220" name="Google Shape;220;p8"/>
          <p:cNvSpPr txBox="1"/>
          <p:nvPr/>
        </p:nvSpPr>
        <p:spPr>
          <a:xfrm>
            <a:off x="960118" y="2560321"/>
            <a:ext cx="2926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Replicar canal1 → 3 canales</a:t>
            </a:r>
            <a:endParaRPr/>
          </a:p>
        </p:txBody>
      </p:sp>
      <p:sp>
        <p:nvSpPr>
          <p:cNvPr id="221" name="Google Shape;221;p8"/>
          <p:cNvSpPr txBox="1"/>
          <p:nvPr/>
        </p:nvSpPr>
        <p:spPr>
          <a:xfrm>
            <a:off x="960118" y="3017521"/>
            <a:ext cx="2926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ResNet50 </a:t>
            </a:r>
            <a:endParaRPr/>
          </a:p>
        </p:txBody>
      </p:sp>
      <p:sp>
        <p:nvSpPr>
          <p:cNvPr id="222" name="Google Shape;222;p8"/>
          <p:cNvSpPr txBox="1"/>
          <p:nvPr/>
        </p:nvSpPr>
        <p:spPr>
          <a:xfrm>
            <a:off x="960118" y="3396788"/>
            <a:ext cx="2926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Adam, lr = 1e-4</a:t>
            </a:r>
            <a:endParaRPr/>
          </a:p>
        </p:txBody>
      </p:sp>
      <p:sp>
        <p:nvSpPr>
          <p:cNvPr id="223" name="Google Shape;223;p8"/>
          <p:cNvSpPr txBox="1"/>
          <p:nvPr/>
        </p:nvSpPr>
        <p:spPr>
          <a:xfrm>
            <a:off x="960118" y="3931920"/>
            <a:ext cx="2926085" cy="2483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30 epochs, patience = 5</a:t>
            </a:r>
            <a:endParaRPr/>
          </a:p>
        </p:txBody>
      </p:sp>
      <p:sp>
        <p:nvSpPr>
          <p:cNvPr id="224" name="Google Shape;224;p8"/>
          <p:cNvSpPr txBox="1"/>
          <p:nvPr/>
        </p:nvSpPr>
        <p:spPr>
          <a:xfrm>
            <a:off x="960118" y="4389120"/>
            <a:ext cx="2926085" cy="2483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ColorJitter (+-0.2)</a:t>
            </a:r>
            <a:endParaRPr/>
          </a:p>
        </p:txBody>
      </p:sp>
      <p:sp>
        <p:nvSpPr>
          <p:cNvPr id="225" name="Google Shape;225;p8"/>
          <p:cNvSpPr txBox="1"/>
          <p:nvPr/>
        </p:nvSpPr>
        <p:spPr>
          <a:xfrm>
            <a:off x="960118" y="4846320"/>
            <a:ext cx="29262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WeightedRandomSampler</a:t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4389120" y="1371600"/>
            <a:ext cx="3383282" cy="4754880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4389120" y="1371599"/>
            <a:ext cx="3383282" cy="548644"/>
          </a:xfrm>
          <a:prstGeom prst="rect">
            <a:avLst/>
          </a:prstGeom>
          <a:solidFill>
            <a:srgbClr val="F96167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 txBox="1"/>
          <p:nvPr/>
        </p:nvSpPr>
        <p:spPr>
          <a:xfrm>
            <a:off x="4526279" y="1506921"/>
            <a:ext cx="3108963" cy="2779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Modelo 2: solo máscaras</a:t>
            </a:r>
            <a:endParaRPr/>
          </a:p>
        </p:txBody>
      </p:sp>
      <p:sp>
        <p:nvSpPr>
          <p:cNvPr id="229" name="Google Shape;229;p8"/>
          <p:cNvSpPr txBox="1"/>
          <p:nvPr/>
        </p:nvSpPr>
        <p:spPr>
          <a:xfrm>
            <a:off x="4617718" y="2103121"/>
            <a:ext cx="2926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Input: OCT RGB (224x224)</a:t>
            </a:r>
            <a:endParaRPr/>
          </a:p>
        </p:txBody>
      </p:sp>
      <p:sp>
        <p:nvSpPr>
          <p:cNvPr id="230" name="Google Shape;230;p8"/>
          <p:cNvSpPr txBox="1"/>
          <p:nvPr/>
        </p:nvSpPr>
        <p:spPr>
          <a:xfrm>
            <a:off x="4617718" y="2560321"/>
            <a:ext cx="2926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Resize (224,512)</a:t>
            </a:r>
            <a:endParaRPr/>
          </a:p>
        </p:txBody>
      </p:sp>
      <p:sp>
        <p:nvSpPr>
          <p:cNvPr id="231" name="Google Shape;231;p8"/>
          <p:cNvSpPr txBox="1"/>
          <p:nvPr/>
        </p:nvSpPr>
        <p:spPr>
          <a:xfrm>
            <a:off x="4617718" y="3017521"/>
            <a:ext cx="2926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U-Net SegmentadorEntrada: 1 canal</a:t>
            </a:r>
            <a:endParaRPr/>
          </a:p>
        </p:txBody>
      </p:sp>
      <p:sp>
        <p:nvSpPr>
          <p:cNvPr id="232" name="Google Shape;232;p8"/>
          <p:cNvSpPr txBox="1"/>
          <p:nvPr/>
        </p:nvSpPr>
        <p:spPr>
          <a:xfrm>
            <a:off x="4617718" y="3474720"/>
            <a:ext cx="2926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Resize (224,224)</a:t>
            </a:r>
            <a:endParaRPr/>
          </a:p>
        </p:txBody>
      </p:sp>
      <p:sp>
        <p:nvSpPr>
          <p:cNvPr id="233" name="Google Shape;233;p8"/>
          <p:cNvSpPr txBox="1"/>
          <p:nvPr/>
        </p:nvSpPr>
        <p:spPr>
          <a:xfrm>
            <a:off x="4617718" y="3931920"/>
            <a:ext cx="292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ResNet50 1 → 3 canales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 txBox="1"/>
          <p:nvPr/>
        </p:nvSpPr>
        <p:spPr>
          <a:xfrm>
            <a:off x="4617718" y="4389120"/>
            <a:ext cx="292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Adam, lr = 1e-4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 txBox="1"/>
          <p:nvPr/>
        </p:nvSpPr>
        <p:spPr>
          <a:xfrm>
            <a:off x="4617718" y="4846320"/>
            <a:ext cx="29262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0 epochs, patience = 5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lang="en-US" sz="1000">
                <a:solidFill>
                  <a:srgbClr val="545454"/>
                </a:solidFill>
                <a:highlight>
                  <a:srgbClr val="FEFE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</p:txBody>
      </p:sp>
      <p:sp>
        <p:nvSpPr>
          <p:cNvPr id="236" name="Google Shape;236;p8"/>
          <p:cNvSpPr/>
          <p:nvPr/>
        </p:nvSpPr>
        <p:spPr>
          <a:xfrm>
            <a:off x="8046718" y="1371600"/>
            <a:ext cx="3383282" cy="4754880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8046718" y="1371599"/>
            <a:ext cx="3383282" cy="548644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 txBox="1"/>
          <p:nvPr/>
        </p:nvSpPr>
        <p:spPr>
          <a:xfrm>
            <a:off x="8183880" y="1506921"/>
            <a:ext cx="3108963" cy="2779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Modelo 3: híbrido 4-ch</a:t>
            </a:r>
            <a:endParaRPr/>
          </a:p>
        </p:txBody>
      </p:sp>
      <p:sp>
        <p:nvSpPr>
          <p:cNvPr id="239" name="Google Shape;239;p8"/>
          <p:cNvSpPr txBox="1"/>
          <p:nvPr/>
        </p:nvSpPr>
        <p:spPr>
          <a:xfrm>
            <a:off x="8275318" y="2103121"/>
            <a:ext cx="2926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Input: OCT RGB (224x224)</a:t>
            </a:r>
            <a:endParaRPr/>
          </a:p>
        </p:txBody>
      </p:sp>
      <p:sp>
        <p:nvSpPr>
          <p:cNvPr id="240" name="Google Shape;240;p8"/>
          <p:cNvSpPr txBox="1"/>
          <p:nvPr/>
        </p:nvSpPr>
        <p:spPr>
          <a:xfrm>
            <a:off x="8275318" y="2560321"/>
            <a:ext cx="2926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Resize (224,512)</a:t>
            </a:r>
            <a:endParaRPr/>
          </a:p>
        </p:txBody>
      </p:sp>
      <p:sp>
        <p:nvSpPr>
          <p:cNvPr id="241" name="Google Shape;241;p8"/>
          <p:cNvSpPr txBox="1"/>
          <p:nvPr/>
        </p:nvSpPr>
        <p:spPr>
          <a:xfrm>
            <a:off x="8275318" y="3017521"/>
            <a:ext cx="292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U-Net SegmentadorEntrada: 1 canal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 txBox="1"/>
          <p:nvPr/>
        </p:nvSpPr>
        <p:spPr>
          <a:xfrm>
            <a:off x="8275318" y="3474720"/>
            <a:ext cx="2926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Resize (224,224)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 txBox="1"/>
          <p:nvPr/>
        </p:nvSpPr>
        <p:spPr>
          <a:xfrm>
            <a:off x="8275318" y="3931920"/>
            <a:ext cx="2926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ResNet50 1 → 4 canales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 txBox="1"/>
          <p:nvPr/>
        </p:nvSpPr>
        <p:spPr>
          <a:xfrm>
            <a:off x="8275318" y="4389120"/>
            <a:ext cx="2926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Adam, lr = 1e-4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 txBox="1"/>
          <p:nvPr/>
        </p:nvSpPr>
        <p:spPr>
          <a:xfrm>
            <a:off x="8275318" y="4846320"/>
            <a:ext cx="2926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20 epochs, patience = 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lang="en-US" sz="1000">
                <a:solidFill>
                  <a:srgbClr val="545454"/>
                </a:solidFill>
                <a:highlight>
                  <a:srgbClr val="FEFE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731519" y="6309359"/>
            <a:ext cx="10698482" cy="54867"/>
          </a:xfrm>
          <a:prstGeom prst="rect">
            <a:avLst/>
          </a:prstGeom>
          <a:solidFill>
            <a:srgbClr val="00A89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 txBox="1"/>
          <p:nvPr/>
        </p:nvSpPr>
        <p:spPr>
          <a:xfrm flipH="1">
            <a:off x="4617713" y="5306095"/>
            <a:ext cx="2782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WeightedRandomSampler</a:t>
            </a:r>
            <a:endParaRPr/>
          </a:p>
        </p:txBody>
      </p:sp>
      <p:sp>
        <p:nvSpPr>
          <p:cNvPr id="248" name="Google Shape;248;p8"/>
          <p:cNvSpPr txBox="1"/>
          <p:nvPr/>
        </p:nvSpPr>
        <p:spPr>
          <a:xfrm flipH="1">
            <a:off x="8183863" y="5306108"/>
            <a:ext cx="2782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WeightedRandomSampler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"/>
          <p:cNvSpPr/>
          <p:nvPr/>
        </p:nvSpPr>
        <p:spPr>
          <a:xfrm>
            <a:off x="-1" y="-2"/>
            <a:ext cx="12191697" cy="73156"/>
          </a:xfrm>
          <a:prstGeom prst="rect">
            <a:avLst/>
          </a:prstGeom>
          <a:solidFill>
            <a:srgbClr val="00A89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 txBox="1"/>
          <p:nvPr/>
        </p:nvSpPr>
        <p:spPr>
          <a:xfrm>
            <a:off x="777239" y="457198"/>
            <a:ext cx="9052561" cy="542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Resultados: clasificación comparativa</a:t>
            </a:r>
            <a:endParaRPr/>
          </a:p>
        </p:txBody>
      </p:sp>
      <p:sp>
        <p:nvSpPr>
          <p:cNvPr id="255" name="Google Shape;255;p9"/>
          <p:cNvSpPr/>
          <p:nvPr/>
        </p:nvSpPr>
        <p:spPr>
          <a:xfrm>
            <a:off x="731520" y="1280160"/>
            <a:ext cx="3383280" cy="1828803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 txBox="1"/>
          <p:nvPr/>
        </p:nvSpPr>
        <p:spPr>
          <a:xfrm>
            <a:off x="868677" y="1453186"/>
            <a:ext cx="3108963" cy="280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B8D"/>
                </a:solidFill>
                <a:latin typeface="Calibri"/>
                <a:ea typeface="Calibri"/>
                <a:cs typeface="Calibri"/>
                <a:sym typeface="Calibri"/>
              </a:rPr>
              <a:t>Mod. 1: originales</a:t>
            </a:r>
            <a:endParaRPr/>
          </a:p>
        </p:txBody>
      </p:sp>
      <p:sp>
        <p:nvSpPr>
          <p:cNvPr id="257" name="Google Shape;257;p9"/>
          <p:cNvSpPr txBox="1"/>
          <p:nvPr/>
        </p:nvSpPr>
        <p:spPr>
          <a:xfrm>
            <a:off x="868677" y="1773227"/>
            <a:ext cx="3108963" cy="850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92%</a:t>
            </a:r>
            <a:endParaRPr/>
          </a:p>
        </p:txBody>
      </p:sp>
      <p:sp>
        <p:nvSpPr>
          <p:cNvPr id="258" name="Google Shape;258;p9"/>
          <p:cNvSpPr txBox="1"/>
          <p:nvPr/>
        </p:nvSpPr>
        <p:spPr>
          <a:xfrm>
            <a:off x="868677" y="2687628"/>
            <a:ext cx="3108963" cy="2483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B8D"/>
                </a:solidFill>
                <a:latin typeface="Calibri"/>
                <a:ea typeface="Calibri"/>
                <a:cs typeface="Calibri"/>
                <a:sym typeface="Calibri"/>
              </a:rPr>
              <a:t>Accuracy test</a:t>
            </a:r>
            <a:endParaRPr/>
          </a:p>
        </p:txBody>
      </p:sp>
      <p:sp>
        <p:nvSpPr>
          <p:cNvPr id="259" name="Google Shape;259;p9"/>
          <p:cNvSpPr/>
          <p:nvPr/>
        </p:nvSpPr>
        <p:spPr>
          <a:xfrm>
            <a:off x="4389120" y="1280160"/>
            <a:ext cx="3383282" cy="1828803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 txBox="1"/>
          <p:nvPr/>
        </p:nvSpPr>
        <p:spPr>
          <a:xfrm>
            <a:off x="4526279" y="1453186"/>
            <a:ext cx="3108963" cy="280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B8D"/>
                </a:solidFill>
                <a:latin typeface="Calibri"/>
                <a:ea typeface="Calibri"/>
                <a:cs typeface="Calibri"/>
                <a:sym typeface="Calibri"/>
              </a:rPr>
              <a:t>Mod. 2: solo máscaras</a:t>
            </a:r>
            <a:endParaRPr/>
          </a:p>
        </p:txBody>
      </p:sp>
      <p:sp>
        <p:nvSpPr>
          <p:cNvPr id="261" name="Google Shape;261;p9"/>
          <p:cNvSpPr txBox="1"/>
          <p:nvPr/>
        </p:nvSpPr>
        <p:spPr>
          <a:xfrm>
            <a:off x="4526279" y="1773227"/>
            <a:ext cx="3108963" cy="850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72%</a:t>
            </a:r>
            <a:endParaRPr/>
          </a:p>
        </p:txBody>
      </p:sp>
      <p:sp>
        <p:nvSpPr>
          <p:cNvPr id="262" name="Google Shape;262;p9"/>
          <p:cNvSpPr txBox="1"/>
          <p:nvPr/>
        </p:nvSpPr>
        <p:spPr>
          <a:xfrm>
            <a:off x="4526279" y="2687628"/>
            <a:ext cx="3108963" cy="2483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B8D"/>
                </a:solidFill>
                <a:latin typeface="Calibri"/>
                <a:ea typeface="Calibri"/>
                <a:cs typeface="Calibri"/>
                <a:sym typeface="Calibri"/>
              </a:rPr>
              <a:t>Accuracy test</a:t>
            </a: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8046718" y="1280160"/>
            <a:ext cx="3383282" cy="1828803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 txBox="1"/>
          <p:nvPr/>
        </p:nvSpPr>
        <p:spPr>
          <a:xfrm>
            <a:off x="8183877" y="1453186"/>
            <a:ext cx="3108963" cy="280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B8D"/>
                </a:solidFill>
                <a:latin typeface="Calibri"/>
                <a:ea typeface="Calibri"/>
                <a:cs typeface="Calibri"/>
                <a:sym typeface="Calibri"/>
              </a:rPr>
              <a:t>Mod. 3: híbrido 4-ch</a:t>
            </a:r>
            <a:endParaRPr/>
          </a:p>
        </p:txBody>
      </p:sp>
      <p:sp>
        <p:nvSpPr>
          <p:cNvPr id="265" name="Google Shape;265;p9"/>
          <p:cNvSpPr txBox="1"/>
          <p:nvPr/>
        </p:nvSpPr>
        <p:spPr>
          <a:xfrm>
            <a:off x="8183877" y="1773227"/>
            <a:ext cx="3108963" cy="850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92%</a:t>
            </a:r>
            <a:endParaRPr/>
          </a:p>
        </p:txBody>
      </p:sp>
      <p:sp>
        <p:nvSpPr>
          <p:cNvPr id="266" name="Google Shape;266;p9"/>
          <p:cNvSpPr txBox="1"/>
          <p:nvPr/>
        </p:nvSpPr>
        <p:spPr>
          <a:xfrm>
            <a:off x="8183877" y="2687628"/>
            <a:ext cx="3108963" cy="2483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B8D"/>
                </a:solidFill>
                <a:latin typeface="Calibri"/>
                <a:ea typeface="Calibri"/>
                <a:cs typeface="Calibri"/>
                <a:sym typeface="Calibri"/>
              </a:rPr>
              <a:t>Accuracy test</a:t>
            </a:r>
            <a:endParaRPr/>
          </a:p>
        </p:txBody>
      </p:sp>
      <p:sp>
        <p:nvSpPr>
          <p:cNvPr id="267" name="Google Shape;267;p9"/>
          <p:cNvSpPr/>
          <p:nvPr/>
        </p:nvSpPr>
        <p:spPr>
          <a:xfrm>
            <a:off x="731519" y="3200399"/>
            <a:ext cx="10698482" cy="548644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 txBox="1"/>
          <p:nvPr/>
        </p:nvSpPr>
        <p:spPr>
          <a:xfrm>
            <a:off x="1051558" y="3288600"/>
            <a:ext cx="10058404" cy="280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Modelo 3 (imagen + máscara) iguala al Modelo 1 (solo imagen). La segmentación no aporta información adicional.</a:t>
            </a:r>
            <a:endParaRPr/>
          </a:p>
        </p:txBody>
      </p:sp>
      <p:sp>
        <p:nvSpPr>
          <p:cNvPr id="269" name="Google Shape;269;p9"/>
          <p:cNvSpPr txBox="1"/>
          <p:nvPr/>
        </p:nvSpPr>
        <p:spPr>
          <a:xfrm>
            <a:off x="777239" y="3931920"/>
            <a:ext cx="9052561" cy="340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F1-Score por clase</a:t>
            </a:r>
            <a:endParaRPr/>
          </a:p>
        </p:txBody>
      </p:sp>
      <p:graphicFrame>
        <p:nvGraphicFramePr>
          <p:cNvPr id="270" name="Google Shape;270;p9"/>
          <p:cNvGraphicFramePr/>
          <p:nvPr/>
        </p:nvGraphicFramePr>
        <p:xfrm>
          <a:off x="731519" y="448055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{4497DB8D-DA3C-45D5-B854-F588C973F43F}</a:tableStyleId>
              </a:tblPr>
              <a:tblGrid>
                <a:gridCol w="1343925"/>
                <a:gridCol w="1826800"/>
                <a:gridCol w="1825175"/>
                <a:gridCol w="1922375"/>
                <a:gridCol w="1780850"/>
                <a:gridCol w="1964950"/>
              </a:tblGrid>
              <a:tr h="42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Clase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Mod. 1 (original)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Mod. 2 (máscara)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Mod. 3 (híbrido)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Delta 1 vs 2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Delta 1 vs 3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1E2761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A1A2E"/>
                          </a:solidFill>
                        </a:rPr>
                        <a:t>CNV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CC7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ECC71"/>
                          </a:solidFill>
                        </a:rPr>
                        <a:t>0.94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96167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96167"/>
                          </a:solidFill>
                        </a:rPr>
                        <a:t>0.82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CC7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ECC71"/>
                          </a:solidFill>
                        </a:rPr>
                        <a:t>0.93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4C3C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E74C3C"/>
                          </a:solidFill>
                        </a:rPr>
                        <a:t>-0.12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4C3C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E74C3C"/>
                          </a:solidFill>
                        </a:rPr>
                        <a:t>-0.01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5F5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A1A2E"/>
                          </a:solidFill>
                        </a:rPr>
                        <a:t>DME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CC7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ECC71"/>
                          </a:solidFill>
                        </a:rPr>
                        <a:t>0.94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96167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96167"/>
                          </a:solidFill>
                        </a:rPr>
                        <a:t>0.78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CC7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ECC71"/>
                          </a:solidFill>
                        </a:rPr>
                        <a:t>0.93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4C3C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E74C3C"/>
                          </a:solidFill>
                        </a:rPr>
                        <a:t>-0.16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4C3C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E74C3C"/>
                          </a:solidFill>
                        </a:rPr>
                        <a:t>-0.01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A1A2E"/>
                          </a:solidFill>
                        </a:rPr>
                        <a:t>DRUSEN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CC7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ECC71"/>
                          </a:solidFill>
                        </a:rPr>
                        <a:t>0.89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96167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96167"/>
                          </a:solidFill>
                        </a:rPr>
                        <a:t>0.54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CC7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ECC71"/>
                          </a:solidFill>
                        </a:rPr>
                        <a:t>0.89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4C3C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E74C3C"/>
                          </a:solidFill>
                        </a:rPr>
                        <a:t>-0.35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4C3C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E74C3C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5F5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A1A2E"/>
                          </a:solidFill>
                        </a:rPr>
                        <a:t>NORMAL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CC7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ECC71"/>
                          </a:solidFill>
                        </a:rPr>
                        <a:t>0.91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96167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96167"/>
                          </a:solidFill>
                        </a:rPr>
                        <a:t>0.71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CC7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ECC71"/>
                          </a:solidFill>
                        </a:rPr>
                        <a:t>0.92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4C3C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E74C3C"/>
                          </a:solidFill>
                        </a:rPr>
                        <a:t>-0.20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4C3C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E74C3C"/>
                          </a:solidFill>
                        </a:rPr>
                        <a:t>-0.01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0"/>
          <p:cNvSpPr/>
          <p:nvPr/>
        </p:nvSpPr>
        <p:spPr>
          <a:xfrm>
            <a:off x="-1" y="-2"/>
            <a:ext cx="12191697" cy="73156"/>
          </a:xfrm>
          <a:prstGeom prst="rect">
            <a:avLst/>
          </a:prstGeom>
          <a:solidFill>
            <a:srgbClr val="00A89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 txBox="1"/>
          <p:nvPr/>
        </p:nvSpPr>
        <p:spPr>
          <a:xfrm>
            <a:off x="777239" y="457198"/>
            <a:ext cx="9052561" cy="542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Análisis: ¿por qué la segmentación no mejora?</a:t>
            </a:r>
            <a:endParaRPr/>
          </a:p>
        </p:txBody>
      </p:sp>
      <p:sp>
        <p:nvSpPr>
          <p:cNvPr id="277" name="Google Shape;277;p10"/>
          <p:cNvSpPr/>
          <p:nvPr/>
        </p:nvSpPr>
        <p:spPr>
          <a:xfrm>
            <a:off x="731519" y="1463038"/>
            <a:ext cx="10698482" cy="1051563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731519" y="1463038"/>
            <a:ext cx="73155" cy="1051563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1005838" y="1645920"/>
            <a:ext cx="457205" cy="457205"/>
          </a:xfrm>
          <a:prstGeom prst="ellipse">
            <a:avLst/>
          </a:prstGeom>
          <a:solidFill>
            <a:srgbClr val="1E2761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 txBox="1"/>
          <p:nvPr/>
        </p:nvSpPr>
        <p:spPr>
          <a:xfrm>
            <a:off x="1051558" y="1645921"/>
            <a:ext cx="365763" cy="3330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81" name="Google Shape;281;p10"/>
          <p:cNvSpPr txBox="1"/>
          <p:nvPr/>
        </p:nvSpPr>
        <p:spPr>
          <a:xfrm>
            <a:off x="1691640" y="1536191"/>
            <a:ext cx="9509761" cy="300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Información de segmentación redundante</a:t>
            </a:r>
            <a:endParaRPr/>
          </a:p>
        </p:txBody>
      </p:sp>
      <p:sp>
        <p:nvSpPr>
          <p:cNvPr id="282" name="Google Shape;282;p10"/>
          <p:cNvSpPr txBox="1"/>
          <p:nvPr/>
        </p:nvSpPr>
        <p:spPr>
          <a:xfrm>
            <a:off x="1691640" y="1920238"/>
            <a:ext cx="9509761" cy="461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El Modelo 3 (imagen+mascara, 92%) iguala al Modelo 1 (solo imagen, 92%). La segmentación no agrega información que ResNet50 no extraiga ya de la imagen original.</a:t>
            </a:r>
            <a:endParaRPr/>
          </a:p>
        </p:txBody>
      </p:sp>
      <p:sp>
        <p:nvSpPr>
          <p:cNvPr id="283" name="Google Shape;283;p10"/>
          <p:cNvSpPr/>
          <p:nvPr/>
        </p:nvSpPr>
        <p:spPr>
          <a:xfrm>
            <a:off x="731519" y="2697477"/>
            <a:ext cx="10698482" cy="1051563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731519" y="2697477"/>
            <a:ext cx="73155" cy="1051563"/>
          </a:xfrm>
          <a:prstGeom prst="rect">
            <a:avLst/>
          </a:prstGeom>
          <a:solidFill>
            <a:srgbClr val="F96167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1005838" y="2880360"/>
            <a:ext cx="457205" cy="457205"/>
          </a:xfrm>
          <a:prstGeom prst="ellipse">
            <a:avLst/>
          </a:prstGeom>
          <a:solidFill>
            <a:srgbClr val="F96167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 txBox="1"/>
          <p:nvPr/>
        </p:nvSpPr>
        <p:spPr>
          <a:xfrm>
            <a:off x="1051558" y="2880360"/>
            <a:ext cx="365763" cy="333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87" name="Google Shape;287;p10"/>
          <p:cNvSpPr txBox="1"/>
          <p:nvPr/>
        </p:nvSpPr>
        <p:spPr>
          <a:xfrm>
            <a:off x="1691640" y="2770633"/>
            <a:ext cx="9509761" cy="300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Perdida de textura en máscaras puras</a:t>
            </a:r>
            <a:endParaRPr/>
          </a:p>
        </p:txBody>
      </p:sp>
      <p:sp>
        <p:nvSpPr>
          <p:cNvPr id="288" name="Google Shape;288;p10"/>
          <p:cNvSpPr txBox="1"/>
          <p:nvPr/>
        </p:nvSpPr>
        <p:spPr>
          <a:xfrm>
            <a:off x="1691640" y="3154678"/>
            <a:ext cx="9509761" cy="461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El Modelo 2 (solo máscaras, 72%) pierde textura, intensidad y contraste al reducir a etiquetas discretas 0-7. Información crítica para distinguir patologías.</a:t>
            </a:r>
            <a:endParaRPr/>
          </a:p>
        </p:txBody>
      </p:sp>
      <p:sp>
        <p:nvSpPr>
          <p:cNvPr id="289" name="Google Shape;289;p10"/>
          <p:cNvSpPr/>
          <p:nvPr/>
        </p:nvSpPr>
        <p:spPr>
          <a:xfrm>
            <a:off x="731519" y="3931920"/>
            <a:ext cx="10698482" cy="1051563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731519" y="3931920"/>
            <a:ext cx="73155" cy="1051563"/>
          </a:xfrm>
          <a:prstGeom prst="rect">
            <a:avLst/>
          </a:prstGeom>
          <a:solidFill>
            <a:srgbClr val="E74C3C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1005838" y="4114800"/>
            <a:ext cx="457205" cy="457200"/>
          </a:xfrm>
          <a:prstGeom prst="ellipse">
            <a:avLst/>
          </a:prstGeom>
          <a:solidFill>
            <a:srgbClr val="E74C3C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 txBox="1"/>
          <p:nvPr/>
        </p:nvSpPr>
        <p:spPr>
          <a:xfrm>
            <a:off x="1051558" y="4114799"/>
            <a:ext cx="365763" cy="333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93" name="Google Shape;293;p10"/>
          <p:cNvSpPr txBox="1"/>
          <p:nvPr/>
        </p:nvSpPr>
        <p:spPr>
          <a:xfrm>
            <a:off x="1691640" y="4005071"/>
            <a:ext cx="9509761" cy="300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DRUSEN: la clase más afectada (F1: 0.89 -&gt; 0.54)</a:t>
            </a:r>
            <a:endParaRPr/>
          </a:p>
        </p:txBody>
      </p:sp>
      <p:sp>
        <p:nvSpPr>
          <p:cNvPr id="294" name="Google Shape;294;p10"/>
          <p:cNvSpPr txBox="1"/>
          <p:nvPr/>
        </p:nvSpPr>
        <p:spPr>
          <a:xfrm>
            <a:off x="1691640" y="4389120"/>
            <a:ext cx="9509761" cy="461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Los drusen son depósitos sub-retinales cuya detección depende de textura visual. El Mod. 3 híbrido recupera F1=0.89, confirmando que la imagen es la clave.</a:t>
            </a:r>
            <a:endParaRPr/>
          </a:p>
        </p:txBody>
      </p:sp>
      <p:sp>
        <p:nvSpPr>
          <p:cNvPr id="295" name="Google Shape;295;p10"/>
          <p:cNvSpPr/>
          <p:nvPr/>
        </p:nvSpPr>
        <p:spPr>
          <a:xfrm>
            <a:off x="731519" y="5166359"/>
            <a:ext cx="10698482" cy="1051563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731519" y="5166359"/>
            <a:ext cx="73155" cy="1051563"/>
          </a:xfrm>
          <a:prstGeom prst="rect">
            <a:avLst/>
          </a:prstGeom>
          <a:solidFill>
            <a:srgbClr val="F9C74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1005838" y="5349240"/>
            <a:ext cx="457205" cy="457205"/>
          </a:xfrm>
          <a:prstGeom prst="ellipse">
            <a:avLst/>
          </a:prstGeom>
          <a:solidFill>
            <a:srgbClr val="F9C74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 txBox="1"/>
          <p:nvPr/>
        </p:nvSpPr>
        <p:spPr>
          <a:xfrm>
            <a:off x="1051558" y="5349240"/>
            <a:ext cx="365763" cy="333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99" name="Google Shape;299;p10"/>
          <p:cNvSpPr txBox="1"/>
          <p:nvPr/>
        </p:nvSpPr>
        <p:spPr>
          <a:xfrm>
            <a:off x="1691640" y="5239510"/>
            <a:ext cx="9509761" cy="300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Discrepancia de dominios entre datasets</a:t>
            </a:r>
            <a:endParaRPr/>
          </a:p>
        </p:txBody>
      </p:sp>
      <p:sp>
        <p:nvSpPr>
          <p:cNvPr id="300" name="Google Shape;300;p10"/>
          <p:cNvSpPr txBox="1"/>
          <p:nvPr/>
        </p:nvSpPr>
        <p:spPr>
          <a:xfrm>
            <a:off x="1691640" y="5623559"/>
            <a:ext cx="9509761" cy="461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El modelo de segmentación fue entrenado con un dataset distinto al de clasificación. Diferencias en equipos OCT y resolución amplifican la degradación del Modelo 2.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1"/>
          <p:cNvSpPr/>
          <p:nvPr/>
        </p:nvSpPr>
        <p:spPr>
          <a:xfrm>
            <a:off x="-1" y="-2"/>
            <a:ext cx="12191697" cy="73156"/>
          </a:xfrm>
          <a:prstGeom prst="rect">
            <a:avLst/>
          </a:prstGeom>
          <a:solidFill>
            <a:srgbClr val="00A89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 txBox="1"/>
          <p:nvPr/>
        </p:nvSpPr>
        <p:spPr>
          <a:xfrm>
            <a:off x="777239" y="457198"/>
            <a:ext cx="9052561" cy="542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Prototipo funcional: app demo</a:t>
            </a:r>
            <a:endParaRPr/>
          </a:p>
        </p:txBody>
      </p:sp>
      <p:sp>
        <p:nvSpPr>
          <p:cNvPr id="307" name="Google Shape;307;p11"/>
          <p:cNvSpPr txBox="1"/>
          <p:nvPr/>
        </p:nvSpPr>
        <p:spPr>
          <a:xfrm>
            <a:off x="777237" y="1463038"/>
            <a:ext cx="5394964" cy="385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Funcionalidades</a:t>
            </a:r>
            <a:endParaRPr/>
          </a:p>
        </p:txBody>
      </p:sp>
      <p:sp>
        <p:nvSpPr>
          <p:cNvPr id="308" name="Google Shape;308;p11"/>
          <p:cNvSpPr/>
          <p:nvPr/>
        </p:nvSpPr>
        <p:spPr>
          <a:xfrm>
            <a:off x="731519" y="2103120"/>
            <a:ext cx="54867" cy="822963"/>
          </a:xfrm>
          <a:prstGeom prst="rect">
            <a:avLst/>
          </a:prstGeom>
          <a:solidFill>
            <a:srgbClr val="00A89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 txBox="1"/>
          <p:nvPr/>
        </p:nvSpPr>
        <p:spPr>
          <a:xfrm>
            <a:off x="1142998" y="2103121"/>
            <a:ext cx="4663444" cy="300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Segmentación interactiva</a:t>
            </a:r>
            <a:endParaRPr/>
          </a:p>
        </p:txBody>
      </p:sp>
      <p:sp>
        <p:nvSpPr>
          <p:cNvPr id="310" name="Google Shape;310;p11"/>
          <p:cNvSpPr txBox="1"/>
          <p:nvPr/>
        </p:nvSpPr>
        <p:spPr>
          <a:xfrm>
            <a:off x="1142998" y="2468877"/>
            <a:ext cx="4663444" cy="461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Visualización de las 8 capas retinales con overlay sobre la imagen OCT original</a:t>
            </a:r>
            <a:endParaRPr/>
          </a:p>
        </p:txBody>
      </p:sp>
      <p:sp>
        <p:nvSpPr>
          <p:cNvPr id="311" name="Google Shape;311;p11"/>
          <p:cNvSpPr/>
          <p:nvPr/>
        </p:nvSpPr>
        <p:spPr>
          <a:xfrm>
            <a:off x="731519" y="3108960"/>
            <a:ext cx="54867" cy="822963"/>
          </a:xfrm>
          <a:prstGeom prst="rect">
            <a:avLst/>
          </a:prstGeom>
          <a:solidFill>
            <a:srgbClr val="00A89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 txBox="1"/>
          <p:nvPr/>
        </p:nvSpPr>
        <p:spPr>
          <a:xfrm>
            <a:off x="1142998" y="3108961"/>
            <a:ext cx="4663444" cy="300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Clasificación comparativa</a:t>
            </a:r>
            <a:endParaRPr/>
          </a:p>
        </p:txBody>
      </p:sp>
      <p:sp>
        <p:nvSpPr>
          <p:cNvPr id="313" name="Google Shape;313;p11"/>
          <p:cNvSpPr txBox="1"/>
          <p:nvPr/>
        </p:nvSpPr>
        <p:spPr>
          <a:xfrm>
            <a:off x="1142998" y="3474720"/>
            <a:ext cx="4663444" cy="461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Predicción simultánea con ambos modelos, mostrando probabilidades por clase</a:t>
            </a:r>
            <a:endParaRPr/>
          </a:p>
        </p:txBody>
      </p:sp>
      <p:sp>
        <p:nvSpPr>
          <p:cNvPr id="314" name="Google Shape;314;p11"/>
          <p:cNvSpPr/>
          <p:nvPr/>
        </p:nvSpPr>
        <p:spPr>
          <a:xfrm>
            <a:off x="731519" y="4114798"/>
            <a:ext cx="54867" cy="822964"/>
          </a:xfrm>
          <a:prstGeom prst="rect">
            <a:avLst/>
          </a:prstGeom>
          <a:solidFill>
            <a:srgbClr val="00A89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 txBox="1"/>
          <p:nvPr/>
        </p:nvSpPr>
        <p:spPr>
          <a:xfrm>
            <a:off x="1142998" y="4114798"/>
            <a:ext cx="4663444" cy="300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Análisis visual</a:t>
            </a:r>
            <a:endParaRPr/>
          </a:p>
        </p:txBody>
      </p:sp>
      <p:sp>
        <p:nvSpPr>
          <p:cNvPr id="316" name="Google Shape;316;p11"/>
          <p:cNvSpPr txBox="1"/>
          <p:nvPr/>
        </p:nvSpPr>
        <p:spPr>
          <a:xfrm>
            <a:off x="1142998" y="4480559"/>
            <a:ext cx="4663444" cy="461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Barras de probabilidad, comparación lado a lado, overlay de segmentación</a:t>
            </a:r>
            <a:endParaRPr/>
          </a:p>
        </p:txBody>
      </p:sp>
      <p:sp>
        <p:nvSpPr>
          <p:cNvPr id="317" name="Google Shape;317;p11"/>
          <p:cNvSpPr/>
          <p:nvPr/>
        </p:nvSpPr>
        <p:spPr>
          <a:xfrm>
            <a:off x="731519" y="5120640"/>
            <a:ext cx="54867" cy="822963"/>
          </a:xfrm>
          <a:prstGeom prst="rect">
            <a:avLst/>
          </a:prstGeom>
          <a:solidFill>
            <a:srgbClr val="00A89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 txBox="1"/>
          <p:nvPr/>
        </p:nvSpPr>
        <p:spPr>
          <a:xfrm>
            <a:off x="1142998" y="5120640"/>
            <a:ext cx="4663444" cy="300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Carga de imágenes</a:t>
            </a:r>
            <a:endParaRPr/>
          </a:p>
        </p:txBody>
      </p:sp>
      <p:sp>
        <p:nvSpPr>
          <p:cNvPr id="319" name="Google Shape;319;p11"/>
          <p:cNvSpPr txBox="1"/>
          <p:nvPr/>
        </p:nvSpPr>
        <p:spPr>
          <a:xfrm>
            <a:off x="1142998" y="5486399"/>
            <a:ext cx="4663444" cy="461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El usuario puede subir imágenes OCT propias para obtener predicciones</a:t>
            </a:r>
            <a:endParaRPr/>
          </a:p>
        </p:txBody>
      </p:sp>
      <p:sp>
        <p:nvSpPr>
          <p:cNvPr id="320" name="Google Shape;320;p11"/>
          <p:cNvSpPr/>
          <p:nvPr/>
        </p:nvSpPr>
        <p:spPr>
          <a:xfrm>
            <a:off x="6339063" y="2044020"/>
            <a:ext cx="4846323" cy="3322801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6339063" y="2044020"/>
            <a:ext cx="4846323" cy="548643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 txBox="1"/>
          <p:nvPr/>
        </p:nvSpPr>
        <p:spPr>
          <a:xfrm>
            <a:off x="6659102" y="2151797"/>
            <a:ext cx="4206243" cy="333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Stack tecnológico</a:t>
            </a:r>
            <a:endParaRPr/>
          </a:p>
        </p:txBody>
      </p:sp>
      <p:sp>
        <p:nvSpPr>
          <p:cNvPr id="323" name="Google Shape;323;p11"/>
          <p:cNvSpPr txBox="1"/>
          <p:nvPr/>
        </p:nvSpPr>
        <p:spPr>
          <a:xfrm>
            <a:off x="6659102" y="2866981"/>
            <a:ext cx="4206243" cy="258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Framework: Streamlit</a:t>
            </a:r>
            <a:endParaRPr/>
          </a:p>
        </p:txBody>
      </p:sp>
      <p:sp>
        <p:nvSpPr>
          <p:cNvPr id="324" name="Google Shape;324;p11"/>
          <p:cNvSpPr txBox="1"/>
          <p:nvPr/>
        </p:nvSpPr>
        <p:spPr>
          <a:xfrm>
            <a:off x="6659102" y="3324181"/>
            <a:ext cx="4206243" cy="258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Segmentacion: PyTorch + SMP (UNet++)</a:t>
            </a:r>
            <a:endParaRPr/>
          </a:p>
        </p:txBody>
      </p:sp>
      <p:sp>
        <p:nvSpPr>
          <p:cNvPr id="325" name="Google Shape;325;p11"/>
          <p:cNvSpPr txBox="1"/>
          <p:nvPr/>
        </p:nvSpPr>
        <p:spPr>
          <a:xfrm>
            <a:off x="6659102" y="3781381"/>
            <a:ext cx="4206243" cy="258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Clasificación: PyTorch + torchvision (ResNet50)</a:t>
            </a:r>
            <a:endParaRPr/>
          </a:p>
        </p:txBody>
      </p:sp>
      <p:sp>
        <p:nvSpPr>
          <p:cNvPr id="326" name="Google Shape;326;p11"/>
          <p:cNvSpPr txBox="1"/>
          <p:nvPr/>
        </p:nvSpPr>
        <p:spPr>
          <a:xfrm>
            <a:off x="6659102" y="4238581"/>
            <a:ext cx="4206243" cy="258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Visualización: matplotlib + numpy</a:t>
            </a:r>
            <a:endParaRPr/>
          </a:p>
        </p:txBody>
      </p:sp>
      <p:sp>
        <p:nvSpPr>
          <p:cNvPr id="327" name="Google Shape;327;p11"/>
          <p:cNvSpPr txBox="1"/>
          <p:nvPr/>
        </p:nvSpPr>
        <p:spPr>
          <a:xfrm>
            <a:off x="6659102" y="4695781"/>
            <a:ext cx="4206243" cy="258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Peso modelos: ~125 MB total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2"/>
          <p:cNvSpPr/>
          <p:nvPr/>
        </p:nvSpPr>
        <p:spPr>
          <a:xfrm>
            <a:off x="-1" y="-2"/>
            <a:ext cx="12191697" cy="73156"/>
          </a:xfrm>
          <a:prstGeom prst="rect">
            <a:avLst/>
          </a:prstGeom>
          <a:solidFill>
            <a:srgbClr val="00A89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 txBox="1"/>
          <p:nvPr/>
        </p:nvSpPr>
        <p:spPr>
          <a:xfrm>
            <a:off x="777239" y="365758"/>
            <a:ext cx="9052561" cy="54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/>
          </a:p>
        </p:txBody>
      </p:sp>
      <p:sp>
        <p:nvSpPr>
          <p:cNvPr id="334" name="Google Shape;334;p12"/>
          <p:cNvSpPr/>
          <p:nvPr/>
        </p:nvSpPr>
        <p:spPr>
          <a:xfrm>
            <a:off x="731519" y="1325880"/>
            <a:ext cx="365765" cy="365765"/>
          </a:xfrm>
          <a:prstGeom prst="ellipse">
            <a:avLst/>
          </a:prstGeom>
          <a:solidFill>
            <a:srgbClr val="00A89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 txBox="1"/>
          <p:nvPr/>
        </p:nvSpPr>
        <p:spPr>
          <a:xfrm>
            <a:off x="777238" y="1325880"/>
            <a:ext cx="274323" cy="280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36" name="Google Shape;336;p12"/>
          <p:cNvSpPr txBox="1"/>
          <p:nvPr/>
        </p:nvSpPr>
        <p:spPr>
          <a:xfrm>
            <a:off x="1417317" y="1290200"/>
            <a:ext cx="9966966" cy="5065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Modelo 1 (imágenes, 92%) y Modelo 3 (híbrido, 92%) superan al Modelo 2 (máscaras, 72%). La segmentación no mejora la clasificación.</a:t>
            </a:r>
            <a:endParaRPr/>
          </a:p>
        </p:txBody>
      </p:sp>
      <p:sp>
        <p:nvSpPr>
          <p:cNvPr id="337" name="Google Shape;337;p12"/>
          <p:cNvSpPr/>
          <p:nvPr/>
        </p:nvSpPr>
        <p:spPr>
          <a:xfrm>
            <a:off x="731519" y="2057399"/>
            <a:ext cx="365765" cy="365765"/>
          </a:xfrm>
          <a:prstGeom prst="ellipse">
            <a:avLst/>
          </a:prstGeom>
          <a:solidFill>
            <a:srgbClr val="00A89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 txBox="1"/>
          <p:nvPr/>
        </p:nvSpPr>
        <p:spPr>
          <a:xfrm>
            <a:off x="777238" y="2057399"/>
            <a:ext cx="274323" cy="280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39" name="Google Shape;339;p12"/>
          <p:cNvSpPr txBox="1"/>
          <p:nvPr/>
        </p:nvSpPr>
        <p:spPr>
          <a:xfrm>
            <a:off x="1417317" y="2011678"/>
            <a:ext cx="9966966" cy="5065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Modelo 3 híbrido (imagen+máscara) iguala al Modelo 1 (solo imagen): la segmentación es información redundante para ResNet50.</a:t>
            </a:r>
            <a:endParaRPr/>
          </a:p>
        </p:txBody>
      </p:sp>
      <p:sp>
        <p:nvSpPr>
          <p:cNvPr id="340" name="Google Shape;340;p12"/>
          <p:cNvSpPr/>
          <p:nvPr/>
        </p:nvSpPr>
        <p:spPr>
          <a:xfrm>
            <a:off x="731519" y="2788920"/>
            <a:ext cx="365765" cy="365765"/>
          </a:xfrm>
          <a:prstGeom prst="ellipse">
            <a:avLst/>
          </a:prstGeom>
          <a:solidFill>
            <a:srgbClr val="00A89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 txBox="1"/>
          <p:nvPr/>
        </p:nvSpPr>
        <p:spPr>
          <a:xfrm>
            <a:off x="777238" y="2788921"/>
            <a:ext cx="274323" cy="280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42" name="Google Shape;342;p12"/>
          <p:cNvSpPr txBox="1"/>
          <p:nvPr/>
        </p:nvSpPr>
        <p:spPr>
          <a:xfrm>
            <a:off x="1417317" y="2733157"/>
            <a:ext cx="9966966" cy="5065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UNet++ con ResNet34 logra segmentación precisa (Dice=0.98, IoU=0.96), validando su utilidad como herramienta independiente.</a:t>
            </a:r>
            <a:endParaRPr/>
          </a:p>
        </p:txBody>
      </p:sp>
      <p:sp>
        <p:nvSpPr>
          <p:cNvPr id="343" name="Google Shape;343;p12"/>
          <p:cNvSpPr/>
          <p:nvPr/>
        </p:nvSpPr>
        <p:spPr>
          <a:xfrm>
            <a:off x="731519" y="3520440"/>
            <a:ext cx="365765" cy="365765"/>
          </a:xfrm>
          <a:prstGeom prst="ellipse">
            <a:avLst/>
          </a:prstGeom>
          <a:solidFill>
            <a:srgbClr val="00A89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"/>
          <p:cNvSpPr txBox="1"/>
          <p:nvPr/>
        </p:nvSpPr>
        <p:spPr>
          <a:xfrm>
            <a:off x="777238" y="3520440"/>
            <a:ext cx="274323" cy="280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45" name="Google Shape;345;p12"/>
          <p:cNvSpPr txBox="1"/>
          <p:nvPr/>
        </p:nvSpPr>
        <p:spPr>
          <a:xfrm>
            <a:off x="1417317" y="3564323"/>
            <a:ext cx="9966966" cy="2779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DRUSEN es la clase mas sensible a la perdida de textura (F1: 0.89 -&gt; 0.54 con máscaras). El híbrido lo recupera (F1=0.89).</a:t>
            </a:r>
            <a:endParaRPr/>
          </a:p>
        </p:txBody>
      </p:sp>
      <p:sp>
        <p:nvSpPr>
          <p:cNvPr id="346" name="Google Shape;346;p12"/>
          <p:cNvSpPr/>
          <p:nvPr/>
        </p:nvSpPr>
        <p:spPr>
          <a:xfrm>
            <a:off x="731519" y="4251959"/>
            <a:ext cx="365765" cy="365765"/>
          </a:xfrm>
          <a:prstGeom prst="ellipse">
            <a:avLst/>
          </a:prstGeom>
          <a:solidFill>
            <a:srgbClr val="00A89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2"/>
          <p:cNvSpPr txBox="1"/>
          <p:nvPr/>
        </p:nvSpPr>
        <p:spPr>
          <a:xfrm>
            <a:off x="777238" y="4251959"/>
            <a:ext cx="274323" cy="280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48" name="Google Shape;348;p12"/>
          <p:cNvSpPr txBox="1"/>
          <p:nvPr/>
        </p:nvSpPr>
        <p:spPr>
          <a:xfrm>
            <a:off x="1417317" y="4295842"/>
            <a:ext cx="9966966" cy="2779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discrepancia de dominios entre datasets de segmentación y clasificación amplifica la degradación del Modelo 2.</a:t>
            </a:r>
            <a:endParaRPr/>
          </a:p>
        </p:txBody>
      </p:sp>
      <p:sp>
        <p:nvSpPr>
          <p:cNvPr id="349" name="Google Shape;349;p12"/>
          <p:cNvSpPr/>
          <p:nvPr/>
        </p:nvSpPr>
        <p:spPr>
          <a:xfrm>
            <a:off x="731519" y="4983479"/>
            <a:ext cx="365765" cy="365765"/>
          </a:xfrm>
          <a:prstGeom prst="ellipse">
            <a:avLst/>
          </a:prstGeom>
          <a:solidFill>
            <a:srgbClr val="00A89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2"/>
          <p:cNvSpPr txBox="1"/>
          <p:nvPr/>
        </p:nvSpPr>
        <p:spPr>
          <a:xfrm>
            <a:off x="777238" y="4983479"/>
            <a:ext cx="274323" cy="280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51" name="Google Shape;351;p12"/>
          <p:cNvSpPr txBox="1"/>
          <p:nvPr/>
        </p:nvSpPr>
        <p:spPr>
          <a:xfrm>
            <a:off x="1417317" y="5027362"/>
            <a:ext cx="9966966" cy="2779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segmentación aporta valor clínico como herramienta de interpretabilidad, complementando al clasificador.</a:t>
            </a:r>
            <a:endParaRPr/>
          </a:p>
        </p:txBody>
      </p:sp>
      <p:sp>
        <p:nvSpPr>
          <p:cNvPr id="352" name="Google Shape;352;p12"/>
          <p:cNvSpPr/>
          <p:nvPr/>
        </p:nvSpPr>
        <p:spPr>
          <a:xfrm>
            <a:off x="731519" y="5714998"/>
            <a:ext cx="365765" cy="365765"/>
          </a:xfrm>
          <a:prstGeom prst="ellipse">
            <a:avLst/>
          </a:prstGeom>
          <a:solidFill>
            <a:srgbClr val="00A89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2"/>
          <p:cNvSpPr txBox="1"/>
          <p:nvPr/>
        </p:nvSpPr>
        <p:spPr>
          <a:xfrm>
            <a:off x="777238" y="5714998"/>
            <a:ext cx="274323" cy="280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54" name="Google Shape;354;p12"/>
          <p:cNvSpPr txBox="1"/>
          <p:nvPr/>
        </p:nvSpPr>
        <p:spPr>
          <a:xfrm>
            <a:off x="1417317" y="5758881"/>
            <a:ext cx="9966966" cy="2779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app demo demuestra la factibilidad de un sistema de apoyo al diagnostico oftalmológico con DL.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3"/>
          <p:cNvSpPr/>
          <p:nvPr/>
        </p:nvSpPr>
        <p:spPr>
          <a:xfrm>
            <a:off x="-1" y="-2"/>
            <a:ext cx="12191697" cy="73156"/>
          </a:xfrm>
          <a:prstGeom prst="rect">
            <a:avLst/>
          </a:prstGeom>
          <a:solidFill>
            <a:srgbClr val="00A89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3"/>
          <p:cNvSpPr txBox="1"/>
          <p:nvPr/>
        </p:nvSpPr>
        <p:spPr>
          <a:xfrm>
            <a:off x="1417319" y="1828800"/>
            <a:ext cx="9326882" cy="706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¡Gracias!</a:t>
            </a:r>
            <a:endParaRPr/>
          </a:p>
        </p:txBody>
      </p:sp>
      <p:sp>
        <p:nvSpPr>
          <p:cNvPr id="361" name="Google Shape;361;p13"/>
          <p:cNvSpPr/>
          <p:nvPr/>
        </p:nvSpPr>
        <p:spPr>
          <a:xfrm>
            <a:off x="4571998" y="3017520"/>
            <a:ext cx="3017524" cy="36579"/>
          </a:xfrm>
          <a:prstGeom prst="rect">
            <a:avLst/>
          </a:prstGeom>
          <a:solidFill>
            <a:srgbClr val="00A89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3"/>
          <p:cNvSpPr txBox="1"/>
          <p:nvPr/>
        </p:nvSpPr>
        <p:spPr>
          <a:xfrm>
            <a:off x="1417319" y="3474720"/>
            <a:ext cx="9326882" cy="4447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¿Preguntas?</a:t>
            </a:r>
            <a:endParaRPr/>
          </a:p>
        </p:txBody>
      </p:sp>
      <p:sp>
        <p:nvSpPr>
          <p:cNvPr id="363" name="Google Shape;363;p13"/>
          <p:cNvSpPr txBox="1"/>
          <p:nvPr/>
        </p:nvSpPr>
        <p:spPr>
          <a:xfrm>
            <a:off x="1417319" y="4572000"/>
            <a:ext cx="9326882" cy="300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Alexis Barniquez  |  Barbara Cerezo  |  Daniel Paniagua  |  Brian Salamone</a:t>
            </a:r>
            <a:endParaRPr/>
          </a:p>
        </p:txBody>
      </p:sp>
      <p:sp>
        <p:nvSpPr>
          <p:cNvPr id="364" name="Google Shape;364;p13"/>
          <p:cNvSpPr txBox="1"/>
          <p:nvPr/>
        </p:nvSpPr>
        <p:spPr>
          <a:xfrm>
            <a:off x="1417319" y="5120640"/>
            <a:ext cx="9326882" cy="280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B8D"/>
                </a:solidFill>
                <a:latin typeface="Calibri"/>
                <a:ea typeface="Calibri"/>
                <a:cs typeface="Calibri"/>
                <a:sym typeface="Calibri"/>
              </a:rPr>
              <a:t>Visión por Computadora II  -  CEIA  -  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