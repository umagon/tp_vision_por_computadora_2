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1417320" y="1371600"/>
            <a:ext cx="9326880" cy="1666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Segmentación y clasificación de patologías</a:t>
            </a:r>
            <a:br/>
            <a:r>
              <a:t>retinales en imágenes OCT mediante Deep Learning</a:t>
            </a:r>
          </a:p>
        </p:txBody>
      </p:sp>
      <p:sp>
        <p:nvSpPr>
          <p:cNvPr id="96" name="Rectangle 4"/>
          <p:cNvSpPr/>
          <p:nvPr/>
        </p:nvSpPr>
        <p:spPr>
          <a:xfrm>
            <a:off x="1371600" y="3749038"/>
            <a:ext cx="2743200" cy="36577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5"/>
          <p:cNvSpPr txBox="1"/>
          <p:nvPr/>
        </p:nvSpPr>
        <p:spPr>
          <a:xfrm>
            <a:off x="1417320" y="41148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98" name="TextBox 6"/>
          <p:cNvSpPr txBox="1"/>
          <p:nvPr/>
        </p:nvSpPr>
        <p:spPr>
          <a:xfrm>
            <a:off x="1417320" y="4846320"/>
            <a:ext cx="932688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Vision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Contexto clínico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777239" y="1463039"/>
            <a:ext cx="49377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El problema</a:t>
            </a:r>
          </a:p>
        </p:txBody>
      </p:sp>
      <p:sp>
        <p:nvSpPr>
          <p:cNvPr id="103" name="Rectangle 4"/>
          <p:cNvSpPr/>
          <p:nvPr/>
        </p:nvSpPr>
        <p:spPr>
          <a:xfrm>
            <a:off x="731519" y="21031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1142999" y="2103120"/>
            <a:ext cx="4572001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Las enfermedades retinales (CNV, DME, Drusen) son causas principales de perdida de visión a nivel mundial</a:t>
            </a:r>
          </a:p>
        </p:txBody>
      </p:sp>
      <p:sp>
        <p:nvSpPr>
          <p:cNvPr id="105" name="Rectangle 6"/>
          <p:cNvSpPr/>
          <p:nvPr/>
        </p:nvSpPr>
        <p:spPr>
          <a:xfrm>
            <a:off x="731519" y="30175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7"/>
          <p:cNvSpPr txBox="1"/>
          <p:nvPr/>
        </p:nvSpPr>
        <p:spPr>
          <a:xfrm>
            <a:off x="1142999" y="3017520"/>
            <a:ext cx="4572001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 Tomografía de Coherencia Óptica (OCT) es el estándar de imagen para diagnóstico oftalmológico</a:t>
            </a:r>
          </a:p>
        </p:txBody>
      </p:sp>
      <p:sp>
        <p:nvSpPr>
          <p:cNvPr id="107" name="Rectangle 8"/>
          <p:cNvSpPr/>
          <p:nvPr/>
        </p:nvSpPr>
        <p:spPr>
          <a:xfrm>
            <a:off x="731519" y="3931920"/>
            <a:ext cx="54865" cy="4572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9"/>
          <p:cNvSpPr txBox="1"/>
          <p:nvPr/>
        </p:nvSpPr>
        <p:spPr>
          <a:xfrm>
            <a:off x="1142999" y="3931920"/>
            <a:ext cx="4572001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Se requieren herramientas automatizadas que asistan al especialista en el diagnóstico temprano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629400" y="1463039"/>
            <a:ext cx="448056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4 clases de patología</a:t>
            </a:r>
          </a:p>
        </p:txBody>
      </p:sp>
      <p:sp>
        <p:nvSpPr>
          <p:cNvPr id="110" name="Rectangle 11"/>
          <p:cNvSpPr/>
          <p:nvPr/>
        </p:nvSpPr>
        <p:spPr>
          <a:xfrm>
            <a:off x="6583680" y="2103120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Rectangle 12"/>
          <p:cNvSpPr/>
          <p:nvPr/>
        </p:nvSpPr>
        <p:spPr>
          <a:xfrm>
            <a:off x="6583680" y="2103120"/>
            <a:ext cx="73153" cy="77724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13"/>
          <p:cNvSpPr txBox="1"/>
          <p:nvPr/>
        </p:nvSpPr>
        <p:spPr>
          <a:xfrm>
            <a:off x="6995159" y="2148838"/>
            <a:ext cx="1737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CNV</a:t>
            </a:r>
          </a:p>
        </p:txBody>
      </p:sp>
      <p:sp>
        <p:nvSpPr>
          <p:cNvPr id="113" name="TextBox 14"/>
          <p:cNvSpPr txBox="1"/>
          <p:nvPr/>
        </p:nvSpPr>
        <p:spPr>
          <a:xfrm>
            <a:off x="6995159" y="2468878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Neovascularización coroidea</a:t>
            </a:r>
          </a:p>
        </p:txBody>
      </p:sp>
      <p:sp>
        <p:nvSpPr>
          <p:cNvPr id="114" name="Rectangle 15"/>
          <p:cNvSpPr/>
          <p:nvPr/>
        </p:nvSpPr>
        <p:spPr>
          <a:xfrm>
            <a:off x="6583680" y="3063238"/>
            <a:ext cx="4846321" cy="777242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Rectangle 16"/>
          <p:cNvSpPr/>
          <p:nvPr/>
        </p:nvSpPr>
        <p:spPr>
          <a:xfrm>
            <a:off x="6583680" y="3063238"/>
            <a:ext cx="73153" cy="777242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17"/>
          <p:cNvSpPr txBox="1"/>
          <p:nvPr/>
        </p:nvSpPr>
        <p:spPr>
          <a:xfrm>
            <a:off x="6995159" y="3108959"/>
            <a:ext cx="1737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DME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6995159" y="3428998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Edema macular diabético</a:t>
            </a:r>
          </a:p>
        </p:txBody>
      </p:sp>
      <p:sp>
        <p:nvSpPr>
          <p:cNvPr id="118" name="Rectangle 19"/>
          <p:cNvSpPr/>
          <p:nvPr/>
        </p:nvSpPr>
        <p:spPr>
          <a:xfrm>
            <a:off x="6583680" y="4023359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Rectangle 20"/>
          <p:cNvSpPr/>
          <p:nvPr/>
        </p:nvSpPr>
        <p:spPr>
          <a:xfrm>
            <a:off x="6583680" y="4023359"/>
            <a:ext cx="73153" cy="77724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21"/>
          <p:cNvSpPr txBox="1"/>
          <p:nvPr/>
        </p:nvSpPr>
        <p:spPr>
          <a:xfrm>
            <a:off x="6995159" y="4069079"/>
            <a:ext cx="1737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DRUSEN</a:t>
            </a:r>
          </a:p>
        </p:txBody>
      </p:sp>
      <p:sp>
        <p:nvSpPr>
          <p:cNvPr id="121" name="TextBox 22"/>
          <p:cNvSpPr txBox="1"/>
          <p:nvPr/>
        </p:nvSpPr>
        <p:spPr>
          <a:xfrm>
            <a:off x="6995159" y="4389120"/>
            <a:ext cx="40233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Depósitos sub-retinales</a:t>
            </a:r>
          </a:p>
        </p:txBody>
      </p:sp>
      <p:sp>
        <p:nvSpPr>
          <p:cNvPr id="122" name="Rectangle 23"/>
          <p:cNvSpPr/>
          <p:nvPr/>
        </p:nvSpPr>
        <p:spPr>
          <a:xfrm>
            <a:off x="6583680" y="4983479"/>
            <a:ext cx="4846321" cy="77724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Rectangle 24"/>
          <p:cNvSpPr/>
          <p:nvPr/>
        </p:nvSpPr>
        <p:spPr>
          <a:xfrm>
            <a:off x="6583680" y="4983479"/>
            <a:ext cx="73153" cy="777241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25"/>
          <p:cNvSpPr txBox="1"/>
          <p:nvPr/>
        </p:nvSpPr>
        <p:spPr>
          <a:xfrm>
            <a:off x="6995159" y="5029200"/>
            <a:ext cx="1737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NORMAL</a:t>
            </a:r>
          </a:p>
        </p:txBody>
      </p:sp>
      <p:sp>
        <p:nvSpPr>
          <p:cNvPr id="125" name="TextBox 26"/>
          <p:cNvSpPr txBox="1"/>
          <p:nvPr/>
        </p:nvSpPr>
        <p:spPr>
          <a:xfrm>
            <a:off x="6995159" y="5349240"/>
            <a:ext cx="4023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Retina sana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Objetivo e hipótesis</a:t>
            </a:r>
          </a:p>
        </p:txBody>
      </p:sp>
      <p:sp>
        <p:nvSpPr>
          <p:cNvPr id="129" name="Rectangle 3"/>
          <p:cNvSpPr/>
          <p:nvPr/>
        </p:nvSpPr>
        <p:spPr>
          <a:xfrm>
            <a:off x="731519" y="1645920"/>
            <a:ext cx="10698482" cy="118872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4"/>
          <p:cNvSpPr txBox="1"/>
          <p:nvPr/>
        </p:nvSpPr>
        <p:spPr>
          <a:xfrm>
            <a:off x="1234439" y="1885785"/>
            <a:ext cx="9692642" cy="6449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Pregunta: ¿la segmentación semántica de capas retinales como preprocesamiento, mejora la clasificación automática de patologías en imágenes OCT?</a:t>
            </a:r>
          </a:p>
        </p:txBody>
      </p:sp>
      <p:sp>
        <p:nvSpPr>
          <p:cNvPr id="131" name="TextBox 5"/>
          <p:cNvSpPr txBox="1"/>
          <p:nvPr/>
        </p:nvSpPr>
        <p:spPr>
          <a:xfrm>
            <a:off x="777239" y="3291840"/>
            <a:ext cx="4937761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Hipótesis</a:t>
            </a:r>
          </a:p>
        </p:txBody>
      </p:sp>
      <p:sp>
        <p:nvSpPr>
          <p:cNvPr id="132" name="TextBox 6"/>
          <p:cNvSpPr txBox="1"/>
          <p:nvPr/>
        </p:nvSpPr>
        <p:spPr>
          <a:xfrm>
            <a:off x="777239" y="3840479"/>
            <a:ext cx="4937761" cy="1062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1A2E"/>
                </a:solidFill>
              </a:defRPr>
            </a:lvl1pPr>
          </a:lstStyle>
          <a:p>
            <a:pPr/>
            <a:r>
              <a:t>La información estructural extraída por un modelo de segmentación debería mejorar la capacidad del clasificador al proveer representaciones mas ricas de la anatomía retinal.</a:t>
            </a:r>
          </a:p>
        </p:txBody>
      </p:sp>
      <p:sp>
        <p:nvSpPr>
          <p:cNvPr id="133" name="TextBox 7"/>
          <p:cNvSpPr txBox="1"/>
          <p:nvPr/>
        </p:nvSpPr>
        <p:spPr>
          <a:xfrm>
            <a:off x="6629400" y="3291840"/>
            <a:ext cx="493776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Enfoque experimental</a:t>
            </a:r>
          </a:p>
        </p:txBody>
      </p:sp>
      <p:sp>
        <p:nvSpPr>
          <p:cNvPr id="134" name="TextBox 8"/>
          <p:cNvSpPr txBox="1"/>
          <p:nvPr/>
        </p:nvSpPr>
        <p:spPr>
          <a:xfrm>
            <a:off x="6629400" y="3840479"/>
            <a:ext cx="4937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1. Entrenar UNet++ para segmentar 8 capas retinales</a:t>
            </a:r>
          </a:p>
        </p:txBody>
      </p:sp>
      <p:sp>
        <p:nvSpPr>
          <p:cNvPr id="135" name="TextBox 9"/>
          <p:cNvSpPr txBox="1"/>
          <p:nvPr/>
        </p:nvSpPr>
        <p:spPr>
          <a:xfrm>
            <a:off x="6629400" y="4343400"/>
            <a:ext cx="4937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2. Entrenar ResNet50 sobre imágenes OCT originales</a:t>
            </a:r>
          </a:p>
        </p:txBody>
      </p:sp>
      <p:sp>
        <p:nvSpPr>
          <p:cNvPr id="136" name="TextBox 10"/>
          <p:cNvSpPr txBox="1"/>
          <p:nvPr/>
        </p:nvSpPr>
        <p:spPr>
          <a:xfrm>
            <a:off x="6629400" y="4846320"/>
            <a:ext cx="4937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3. Entrenar ResNet50 sobre mascaras de segmentación</a:t>
            </a:r>
          </a:p>
        </p:txBody>
      </p:sp>
      <p:sp>
        <p:nvSpPr>
          <p:cNvPr id="137" name="TextBox 11"/>
          <p:cNvSpPr txBox="1"/>
          <p:nvPr/>
        </p:nvSpPr>
        <p:spPr>
          <a:xfrm>
            <a:off x="6629400" y="5349240"/>
            <a:ext cx="4937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4. Comparar ambos clasificadores aislando la variable de input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Datasets</a:t>
            </a:r>
          </a:p>
        </p:txBody>
      </p:sp>
      <p:sp>
        <p:nvSpPr>
          <p:cNvPr id="141" name="Rectangle 3"/>
          <p:cNvSpPr/>
          <p:nvPr/>
        </p:nvSpPr>
        <p:spPr>
          <a:xfrm>
            <a:off x="731519" y="1463039"/>
            <a:ext cx="5120642" cy="4114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Rectangle 4"/>
          <p:cNvSpPr/>
          <p:nvPr/>
        </p:nvSpPr>
        <p:spPr>
          <a:xfrm>
            <a:off x="731519" y="1463039"/>
            <a:ext cx="5120642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5"/>
          <p:cNvSpPr txBox="1"/>
          <p:nvPr/>
        </p:nvSpPr>
        <p:spPr>
          <a:xfrm>
            <a:off x="1051559" y="1570816"/>
            <a:ext cx="44805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segmentación</a:t>
            </a:r>
          </a:p>
        </p:txBody>
      </p:sp>
      <p:sp>
        <p:nvSpPr>
          <p:cNvPr id="144" name="TextBox 6"/>
          <p:cNvSpPr txBox="1"/>
          <p:nvPr/>
        </p:nvSpPr>
        <p:spPr>
          <a:xfrm>
            <a:off x="1051559" y="2286000"/>
            <a:ext cx="448056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Kaggle - Retinal Layer Segmentation</a:t>
            </a:r>
          </a:p>
        </p:txBody>
      </p:sp>
      <p:sp>
        <p:nvSpPr>
          <p:cNvPr id="145" name="TextBox 7"/>
          <p:cNvSpPr txBox="1"/>
          <p:nvPr/>
        </p:nvSpPr>
        <p:spPr>
          <a:xfrm>
            <a:off x="1051559" y="292607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Formato: archivos .npy (256 x 512 px, escala de grises)</a:t>
            </a:r>
          </a:p>
        </p:txBody>
      </p:sp>
      <p:sp>
        <p:nvSpPr>
          <p:cNvPr id="146" name="TextBox 8"/>
          <p:cNvSpPr txBox="1"/>
          <p:nvPr/>
        </p:nvSpPr>
        <p:spPr>
          <a:xfrm>
            <a:off x="1051559" y="3566159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9 clases: 8 capas retinales + fondo</a:t>
            </a:r>
          </a:p>
        </p:txBody>
      </p:sp>
      <p:sp>
        <p:nvSpPr>
          <p:cNvPr id="147" name="TextBox 9"/>
          <p:cNvSpPr txBox="1"/>
          <p:nvPr/>
        </p:nvSpPr>
        <p:spPr>
          <a:xfrm>
            <a:off x="1051559" y="420624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Clase 0 (fondo) dominante; capas 1-7 balanceadas</a:t>
            </a:r>
          </a:p>
        </p:txBody>
      </p:sp>
      <p:sp>
        <p:nvSpPr>
          <p:cNvPr id="148" name="TextBox 10"/>
          <p:cNvSpPr txBox="1"/>
          <p:nvPr/>
        </p:nvSpPr>
        <p:spPr>
          <a:xfrm>
            <a:off x="1051559" y="4846320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Máscaras de segmentación píxel a píxel</a:t>
            </a:r>
          </a:p>
        </p:txBody>
      </p:sp>
      <p:sp>
        <p:nvSpPr>
          <p:cNvPr id="149" name="Rectangle 11"/>
          <p:cNvSpPr/>
          <p:nvPr/>
        </p:nvSpPr>
        <p:spPr>
          <a:xfrm>
            <a:off x="6309359" y="1463039"/>
            <a:ext cx="5120641" cy="4114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Rectangle 12"/>
          <p:cNvSpPr/>
          <p:nvPr/>
        </p:nvSpPr>
        <p:spPr>
          <a:xfrm>
            <a:off x="6309359" y="1463039"/>
            <a:ext cx="5120641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13"/>
          <p:cNvSpPr txBox="1"/>
          <p:nvPr/>
        </p:nvSpPr>
        <p:spPr>
          <a:xfrm>
            <a:off x="6629400" y="1570816"/>
            <a:ext cx="448056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clasificación</a:t>
            </a:r>
          </a:p>
        </p:txBody>
      </p:sp>
      <p:sp>
        <p:nvSpPr>
          <p:cNvPr id="152" name="TextBox 14"/>
          <p:cNvSpPr txBox="1"/>
          <p:nvPr/>
        </p:nvSpPr>
        <p:spPr>
          <a:xfrm>
            <a:off x="6629400" y="2286000"/>
            <a:ext cx="4480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Kermany et al. (2018) - Cell</a:t>
            </a:r>
          </a:p>
        </p:txBody>
      </p:sp>
      <p:sp>
        <p:nvSpPr>
          <p:cNvPr id="153" name="TextBox 15"/>
          <p:cNvSpPr txBox="1"/>
          <p:nvPr/>
        </p:nvSpPr>
        <p:spPr>
          <a:xfrm>
            <a:off x="6629400" y="2926079"/>
            <a:ext cx="44805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4 clases: CNV, DME, DRUSEN, NORMAL</a:t>
            </a:r>
          </a:p>
        </p:txBody>
      </p:sp>
      <p:sp>
        <p:nvSpPr>
          <p:cNvPr id="154" name="TextBox 16"/>
          <p:cNvSpPr txBox="1"/>
          <p:nvPr/>
        </p:nvSpPr>
        <p:spPr>
          <a:xfrm>
            <a:off x="6629400" y="3566159"/>
            <a:ext cx="44805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Train: ~8,000 imágenes (WeightedRandomSampler)</a:t>
            </a:r>
          </a:p>
        </p:txBody>
      </p:sp>
      <p:sp>
        <p:nvSpPr>
          <p:cNvPr id="155" name="TextBox 17"/>
          <p:cNvSpPr txBox="1"/>
          <p:nvPr/>
        </p:nvSpPr>
        <p:spPr>
          <a:xfrm>
            <a:off x="6629400" y="4206240"/>
            <a:ext cx="44805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Validación: 2,032 imágenes</a:t>
            </a:r>
          </a:p>
        </p:txBody>
      </p:sp>
      <p:sp>
        <p:nvSpPr>
          <p:cNvPr id="156" name="TextBox 18"/>
          <p:cNvSpPr txBox="1"/>
          <p:nvPr/>
        </p:nvSpPr>
        <p:spPr>
          <a:xfrm>
            <a:off x="6629400" y="4846320"/>
            <a:ext cx="44805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Test: 4,015 imágenes (224 x 224 px)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Pipeline propuesto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77239" y="1463039"/>
            <a:ext cx="265176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1: clasificación directa</a:t>
            </a:r>
          </a:p>
        </p:txBody>
      </p:sp>
      <p:sp>
        <p:nvSpPr>
          <p:cNvPr id="161" name="Rectangle 4"/>
          <p:cNvSpPr/>
          <p:nvPr/>
        </p:nvSpPr>
        <p:spPr>
          <a:xfrm>
            <a:off x="731519" y="2011679"/>
            <a:ext cx="2286001" cy="1097281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868680" y="2103120"/>
            <a:ext cx="201168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868680" y="2468879"/>
            <a:ext cx="201168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224 x 224 RGB</a:t>
            </a:r>
          </a:p>
        </p:txBody>
      </p:sp>
      <p:sp>
        <p:nvSpPr>
          <p:cNvPr id="164" name="Rectangle 7"/>
          <p:cNvSpPr/>
          <p:nvPr/>
        </p:nvSpPr>
        <p:spPr>
          <a:xfrm>
            <a:off x="3200400" y="2468879"/>
            <a:ext cx="731521" cy="54865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Rectangle 8"/>
          <p:cNvSpPr/>
          <p:nvPr/>
        </p:nvSpPr>
        <p:spPr>
          <a:xfrm>
            <a:off x="4114800" y="2011679"/>
            <a:ext cx="2560321" cy="109728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9"/>
          <p:cNvSpPr txBox="1"/>
          <p:nvPr/>
        </p:nvSpPr>
        <p:spPr>
          <a:xfrm>
            <a:off x="4251960" y="2103120"/>
            <a:ext cx="228600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67" name="TextBox 10"/>
          <p:cNvSpPr txBox="1"/>
          <p:nvPr/>
        </p:nvSpPr>
        <p:spPr>
          <a:xfrm>
            <a:off x="4251960" y="2468879"/>
            <a:ext cx="22860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CADCFC"/>
                </a:solidFill>
              </a:defRPr>
            </a:lvl1pPr>
          </a:lstStyle>
          <a:p>
            <a:pPr/>
            <a:r>
              <a:t>ImageNet pretrained</a:t>
            </a:r>
          </a:p>
        </p:txBody>
      </p:sp>
      <p:sp>
        <p:nvSpPr>
          <p:cNvPr id="168" name="Rectangle 11"/>
          <p:cNvSpPr/>
          <p:nvPr/>
        </p:nvSpPr>
        <p:spPr>
          <a:xfrm>
            <a:off x="6858000" y="2468879"/>
            <a:ext cx="731521" cy="54865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12"/>
          <p:cNvSpPr/>
          <p:nvPr/>
        </p:nvSpPr>
        <p:spPr>
          <a:xfrm>
            <a:off x="7772400" y="2011679"/>
            <a:ext cx="3200400" cy="1097281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13"/>
          <p:cNvSpPr txBox="1"/>
          <p:nvPr/>
        </p:nvSpPr>
        <p:spPr>
          <a:xfrm>
            <a:off x="7909559" y="2148839"/>
            <a:ext cx="292608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Predicción</a:t>
            </a:r>
          </a:p>
        </p:txBody>
      </p:sp>
      <p:sp>
        <p:nvSpPr>
          <p:cNvPr id="171" name="TextBox 14"/>
          <p:cNvSpPr txBox="1"/>
          <p:nvPr/>
        </p:nvSpPr>
        <p:spPr>
          <a:xfrm>
            <a:off x="7909559" y="2514600"/>
            <a:ext cx="292608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Accuracy: 94%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777239" y="3566159"/>
            <a:ext cx="44805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2: Segmentacion + Clasificacion</a:t>
            </a:r>
          </a:p>
        </p:txBody>
      </p:sp>
      <p:sp>
        <p:nvSpPr>
          <p:cNvPr id="173" name="Rectangle 16"/>
          <p:cNvSpPr/>
          <p:nvPr/>
        </p:nvSpPr>
        <p:spPr>
          <a:xfrm>
            <a:off x="731519" y="4114800"/>
            <a:ext cx="1828801" cy="1097281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TextBox 17"/>
          <p:cNvSpPr txBox="1"/>
          <p:nvPr/>
        </p:nvSpPr>
        <p:spPr>
          <a:xfrm>
            <a:off x="822959" y="4206240"/>
            <a:ext cx="164592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22959" y="4572000"/>
            <a:ext cx="164592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6B7B8D"/>
                </a:solidFill>
              </a:defRPr>
            </a:lvl1pPr>
          </a:lstStyle>
          <a:p>
            <a:pPr/>
            <a:r>
              <a:t>Escala de grises</a:t>
            </a:r>
          </a:p>
        </p:txBody>
      </p:sp>
      <p:sp>
        <p:nvSpPr>
          <p:cNvPr id="176" name="Rectangle 19"/>
          <p:cNvSpPr/>
          <p:nvPr/>
        </p:nvSpPr>
        <p:spPr>
          <a:xfrm>
            <a:off x="2697479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Rectangle 20"/>
          <p:cNvSpPr/>
          <p:nvPr/>
        </p:nvSpPr>
        <p:spPr>
          <a:xfrm>
            <a:off x="3291840" y="4114800"/>
            <a:ext cx="2103121" cy="109728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TextBox 21"/>
          <p:cNvSpPr txBox="1"/>
          <p:nvPr/>
        </p:nvSpPr>
        <p:spPr>
          <a:xfrm>
            <a:off x="3383279" y="4206240"/>
            <a:ext cx="19202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UNet++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3383279" y="4572000"/>
            <a:ext cx="192024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ResNet34 encoder</a:t>
            </a:r>
          </a:p>
        </p:txBody>
      </p:sp>
      <p:sp>
        <p:nvSpPr>
          <p:cNvPr id="180" name="Rectangle 23"/>
          <p:cNvSpPr/>
          <p:nvPr/>
        </p:nvSpPr>
        <p:spPr>
          <a:xfrm>
            <a:off x="5532120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24"/>
          <p:cNvSpPr/>
          <p:nvPr/>
        </p:nvSpPr>
        <p:spPr>
          <a:xfrm>
            <a:off x="6126479" y="4114800"/>
            <a:ext cx="1645921" cy="1097281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25"/>
          <p:cNvSpPr txBox="1"/>
          <p:nvPr/>
        </p:nvSpPr>
        <p:spPr>
          <a:xfrm>
            <a:off x="6217920" y="4206240"/>
            <a:ext cx="14630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Máscara</a:t>
            </a:r>
          </a:p>
        </p:txBody>
      </p:sp>
      <p:sp>
        <p:nvSpPr>
          <p:cNvPr id="183" name="TextBox 26"/>
          <p:cNvSpPr txBox="1"/>
          <p:nvPr/>
        </p:nvSpPr>
        <p:spPr>
          <a:xfrm>
            <a:off x="6217920" y="4572000"/>
            <a:ext cx="146304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E2761"/>
                </a:solidFill>
              </a:defRPr>
            </a:lvl1pPr>
          </a:lstStyle>
          <a:p>
            <a:pPr/>
            <a:r>
              <a:t>8 capas</a:t>
            </a:r>
          </a:p>
        </p:txBody>
      </p:sp>
      <p:sp>
        <p:nvSpPr>
          <p:cNvPr id="184" name="Rectangle 27"/>
          <p:cNvSpPr/>
          <p:nvPr/>
        </p:nvSpPr>
        <p:spPr>
          <a:xfrm>
            <a:off x="7909559" y="4572000"/>
            <a:ext cx="45720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28"/>
          <p:cNvSpPr/>
          <p:nvPr/>
        </p:nvSpPr>
        <p:spPr>
          <a:xfrm>
            <a:off x="8503919" y="4114800"/>
            <a:ext cx="1828801" cy="109728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TextBox 29"/>
          <p:cNvSpPr txBox="1"/>
          <p:nvPr/>
        </p:nvSpPr>
        <p:spPr>
          <a:xfrm>
            <a:off x="8595359" y="4206240"/>
            <a:ext cx="16459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87" name="TextBox 30"/>
          <p:cNvSpPr txBox="1"/>
          <p:nvPr/>
        </p:nvSpPr>
        <p:spPr>
          <a:xfrm>
            <a:off x="8595359" y="4572000"/>
            <a:ext cx="16459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ImageNet</a:t>
            </a:r>
          </a:p>
        </p:txBody>
      </p:sp>
      <p:sp>
        <p:nvSpPr>
          <p:cNvPr id="188" name="Rectangle 31"/>
          <p:cNvSpPr/>
          <p:nvPr/>
        </p:nvSpPr>
        <p:spPr>
          <a:xfrm>
            <a:off x="10469880" y="4572000"/>
            <a:ext cx="320041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Rectangle 32"/>
          <p:cNvSpPr/>
          <p:nvPr/>
        </p:nvSpPr>
        <p:spPr>
          <a:xfrm>
            <a:off x="10058400" y="5486400"/>
            <a:ext cx="1371600" cy="731521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33"/>
          <p:cNvSpPr txBox="1"/>
          <p:nvPr/>
        </p:nvSpPr>
        <p:spPr>
          <a:xfrm>
            <a:off x="10149839" y="5532120"/>
            <a:ext cx="118872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91" name="TextBox 34"/>
          <p:cNvSpPr txBox="1"/>
          <p:nvPr/>
        </p:nvSpPr>
        <p:spPr>
          <a:xfrm>
            <a:off x="10149839" y="5806440"/>
            <a:ext cx="11887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70%</a:t>
            </a:r>
          </a:p>
        </p:txBody>
      </p:sp>
      <p:sp>
        <p:nvSpPr>
          <p:cNvPr id="192" name="Rectangle 35"/>
          <p:cNvSpPr/>
          <p:nvPr/>
        </p:nvSpPr>
        <p:spPr>
          <a:xfrm>
            <a:off x="731519" y="5943600"/>
            <a:ext cx="8686801" cy="64008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Rectangle 36"/>
          <p:cNvSpPr/>
          <p:nvPr/>
        </p:nvSpPr>
        <p:spPr>
          <a:xfrm>
            <a:off x="731519" y="5943600"/>
            <a:ext cx="54865" cy="64008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TextBox 37"/>
          <p:cNvSpPr txBox="1"/>
          <p:nvPr/>
        </p:nvSpPr>
        <p:spPr>
          <a:xfrm>
            <a:off x="1051559" y="5989320"/>
            <a:ext cx="8138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A1A2E"/>
                </a:solidFill>
              </a:defRPr>
            </a:lvl1pPr>
          </a:lstStyle>
          <a:p>
            <a:pPr/>
            <a:r>
              <a:t>Mismo clasificador (ResNet50), diferente input. Esto aísla el efecto de la segmentación.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Modelo de segmentación: UNet++</a:t>
            </a:r>
          </a:p>
        </p:txBody>
      </p:sp>
      <p:sp>
        <p:nvSpPr>
          <p:cNvPr id="198" name="TextBox 3"/>
          <p:cNvSpPr txBox="1"/>
          <p:nvPr/>
        </p:nvSpPr>
        <p:spPr>
          <a:xfrm>
            <a:off x="777239" y="1463039"/>
            <a:ext cx="539496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Arquitectura y configuración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960119" y="21031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00" name="TextBox 5"/>
          <p:cNvSpPr txBox="1"/>
          <p:nvPr/>
        </p:nvSpPr>
        <p:spPr>
          <a:xfrm>
            <a:off x="2606040" y="21031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UNet++ (Nested U-Net)</a:t>
            </a:r>
          </a:p>
        </p:txBody>
      </p:sp>
      <p:sp>
        <p:nvSpPr>
          <p:cNvPr id="201" name="TextBox 6"/>
          <p:cNvSpPr txBox="1"/>
          <p:nvPr/>
        </p:nvSpPr>
        <p:spPr>
          <a:xfrm>
            <a:off x="960119" y="25603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Encoder:</a:t>
            </a:r>
          </a:p>
        </p:txBody>
      </p:sp>
      <p:sp>
        <p:nvSpPr>
          <p:cNvPr id="202" name="TextBox 7"/>
          <p:cNvSpPr txBox="1"/>
          <p:nvPr/>
        </p:nvSpPr>
        <p:spPr>
          <a:xfrm>
            <a:off x="2606040" y="25603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ResNet34 (sin pesos pretrained)</a:t>
            </a:r>
          </a:p>
        </p:txBody>
      </p:sp>
      <p:sp>
        <p:nvSpPr>
          <p:cNvPr id="203" name="TextBox 8"/>
          <p:cNvSpPr txBox="1"/>
          <p:nvPr/>
        </p:nvSpPr>
        <p:spPr>
          <a:xfrm>
            <a:off x="960119" y="30175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04" name="TextBox 9"/>
          <p:cNvSpPr txBox="1"/>
          <p:nvPr/>
        </p:nvSpPr>
        <p:spPr>
          <a:xfrm>
            <a:off x="2606040" y="30175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1 canal, 224 x 512 px</a:t>
            </a:r>
          </a:p>
        </p:txBody>
      </p:sp>
      <p:sp>
        <p:nvSpPr>
          <p:cNvPr id="205" name="TextBox 10"/>
          <p:cNvSpPr txBox="1"/>
          <p:nvPr/>
        </p:nvSpPr>
        <p:spPr>
          <a:xfrm>
            <a:off x="960119" y="34747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Output:</a:t>
            </a:r>
          </a:p>
        </p:txBody>
      </p:sp>
      <p:sp>
        <p:nvSpPr>
          <p:cNvPr id="206" name="TextBox 11"/>
          <p:cNvSpPr txBox="1"/>
          <p:nvPr/>
        </p:nvSpPr>
        <p:spPr>
          <a:xfrm>
            <a:off x="2606040" y="34747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 clases de capas retinales</a:t>
            </a:r>
          </a:p>
        </p:txBody>
      </p:sp>
      <p:sp>
        <p:nvSpPr>
          <p:cNvPr id="207" name="TextBox 12"/>
          <p:cNvSpPr txBox="1"/>
          <p:nvPr/>
        </p:nvSpPr>
        <p:spPr>
          <a:xfrm>
            <a:off x="960119" y="39319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Loss:</a:t>
            </a:r>
          </a:p>
        </p:txBody>
      </p:sp>
      <p:sp>
        <p:nvSpPr>
          <p:cNvPr id="208" name="TextBox 13"/>
          <p:cNvSpPr txBox="1"/>
          <p:nvPr/>
        </p:nvSpPr>
        <p:spPr>
          <a:xfrm>
            <a:off x="2606040" y="39319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CrossEntropyLoss</a:t>
            </a:r>
          </a:p>
        </p:txBody>
      </p:sp>
      <p:sp>
        <p:nvSpPr>
          <p:cNvPr id="209" name="TextBox 14"/>
          <p:cNvSpPr txBox="1"/>
          <p:nvPr/>
        </p:nvSpPr>
        <p:spPr>
          <a:xfrm>
            <a:off x="960119" y="43891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10" name="TextBox 15"/>
          <p:cNvSpPr txBox="1"/>
          <p:nvPr/>
        </p:nvSpPr>
        <p:spPr>
          <a:xfrm>
            <a:off x="2606040" y="43891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Adam (lr = 1e-3)</a:t>
            </a:r>
          </a:p>
        </p:txBody>
      </p:sp>
      <p:sp>
        <p:nvSpPr>
          <p:cNvPr id="211" name="TextBox 16"/>
          <p:cNvSpPr txBox="1"/>
          <p:nvPr/>
        </p:nvSpPr>
        <p:spPr>
          <a:xfrm>
            <a:off x="960119" y="48463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Split:</a:t>
            </a:r>
          </a:p>
        </p:txBody>
      </p:sp>
      <p:sp>
        <p:nvSpPr>
          <p:cNvPr id="212" name="TextBox 17"/>
          <p:cNvSpPr txBox="1"/>
          <p:nvPr/>
        </p:nvSpPr>
        <p:spPr>
          <a:xfrm>
            <a:off x="2606040" y="48463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80% train / 20% val (176/44 imgs)</a:t>
            </a:r>
          </a:p>
        </p:txBody>
      </p:sp>
      <p:sp>
        <p:nvSpPr>
          <p:cNvPr id="213" name="TextBox 18"/>
          <p:cNvSpPr txBox="1"/>
          <p:nvPr/>
        </p:nvSpPr>
        <p:spPr>
          <a:xfrm>
            <a:off x="960119" y="5303520"/>
            <a:ext cx="15544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14" name="TextBox 19"/>
          <p:cNvSpPr txBox="1"/>
          <p:nvPr/>
        </p:nvSpPr>
        <p:spPr>
          <a:xfrm>
            <a:off x="2606040" y="5303520"/>
            <a:ext cx="356616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50, batch size 8</a:t>
            </a:r>
          </a:p>
        </p:txBody>
      </p:sp>
      <p:sp>
        <p:nvSpPr>
          <p:cNvPr id="215" name="TextBox 20"/>
          <p:cNvSpPr txBox="1"/>
          <p:nvPr/>
        </p:nvSpPr>
        <p:spPr>
          <a:xfrm>
            <a:off x="6903719" y="1463039"/>
            <a:ext cx="448056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Justificación técnica</a:t>
            </a:r>
          </a:p>
        </p:txBody>
      </p:sp>
      <p:sp>
        <p:nvSpPr>
          <p:cNvPr id="216" name="Rectangle 21"/>
          <p:cNvSpPr/>
          <p:nvPr/>
        </p:nvSpPr>
        <p:spPr>
          <a:xfrm>
            <a:off x="6858000" y="2103120"/>
            <a:ext cx="4572000" cy="13716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Rectangle 22"/>
          <p:cNvSpPr/>
          <p:nvPr/>
        </p:nvSpPr>
        <p:spPr>
          <a:xfrm>
            <a:off x="6858000" y="2103120"/>
            <a:ext cx="54864" cy="13716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TextBox 23"/>
          <p:cNvSpPr txBox="1"/>
          <p:nvPr/>
        </p:nvSpPr>
        <p:spPr>
          <a:xfrm>
            <a:off x="7178039" y="2362549"/>
            <a:ext cx="4023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UNet++ sobre U-Net?</a:t>
            </a:r>
          </a:p>
        </p:txBody>
      </p:sp>
      <p:sp>
        <p:nvSpPr>
          <p:cNvPr id="219" name="TextBox 24"/>
          <p:cNvSpPr txBox="1"/>
          <p:nvPr/>
        </p:nvSpPr>
        <p:spPr>
          <a:xfrm>
            <a:off x="7178039" y="2728309"/>
            <a:ext cx="40233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Las conexiones densas anidadas mejoran la captura de detalles finos en capas retinales delgadas, críticas en OCT.</a:t>
            </a:r>
          </a:p>
        </p:txBody>
      </p:sp>
      <p:sp>
        <p:nvSpPr>
          <p:cNvPr id="220" name="Rectangle 25"/>
          <p:cNvSpPr/>
          <p:nvPr/>
        </p:nvSpPr>
        <p:spPr>
          <a:xfrm>
            <a:off x="6858000" y="3749038"/>
            <a:ext cx="4572000" cy="13716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6"/>
          <p:cNvSpPr/>
          <p:nvPr/>
        </p:nvSpPr>
        <p:spPr>
          <a:xfrm>
            <a:off x="6858000" y="3749038"/>
            <a:ext cx="54864" cy="137160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27"/>
          <p:cNvSpPr txBox="1"/>
          <p:nvPr/>
        </p:nvSpPr>
        <p:spPr>
          <a:xfrm>
            <a:off x="7178039" y="4003654"/>
            <a:ext cx="4023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ResNet34 como encoder?</a:t>
            </a:r>
          </a:p>
        </p:txBody>
      </p:sp>
      <p:sp>
        <p:nvSpPr>
          <p:cNvPr id="223" name="TextBox 28"/>
          <p:cNvSpPr txBox="1"/>
          <p:nvPr/>
        </p:nvSpPr>
        <p:spPr>
          <a:xfrm>
            <a:off x="7178039" y="4369414"/>
            <a:ext cx="402336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Balance entre capacidad de representación y costo computacional para imágenes médicas de un solo canal.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segmentación</a:t>
            </a:r>
          </a:p>
        </p:txBody>
      </p:sp>
      <p:sp>
        <p:nvSpPr>
          <p:cNvPr id="227" name="TextBox 3"/>
          <p:cNvSpPr txBox="1"/>
          <p:nvPr/>
        </p:nvSpPr>
        <p:spPr>
          <a:xfrm>
            <a:off x="777239" y="1371600"/>
            <a:ext cx="3108961" cy="745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00A896"/>
                </a:solidFill>
              </a:defRPr>
            </a:lvl1pPr>
          </a:lstStyle>
          <a:p>
            <a:pPr/>
            <a:r>
              <a:t>0.981</a:t>
            </a:r>
          </a:p>
        </p:txBody>
      </p:sp>
      <p:sp>
        <p:nvSpPr>
          <p:cNvPr id="228" name="TextBox 4"/>
          <p:cNvSpPr txBox="1"/>
          <p:nvPr/>
        </p:nvSpPr>
        <p:spPr>
          <a:xfrm>
            <a:off x="777239" y="2103120"/>
            <a:ext cx="3108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Dice (macro)</a:t>
            </a:r>
          </a:p>
        </p:txBody>
      </p:sp>
      <p:sp>
        <p:nvSpPr>
          <p:cNvPr id="229" name="TextBox 5"/>
          <p:cNvSpPr txBox="1"/>
          <p:nvPr/>
        </p:nvSpPr>
        <p:spPr>
          <a:xfrm>
            <a:off x="4617720" y="1371600"/>
            <a:ext cx="3108961" cy="745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1E2761"/>
                </a:solidFill>
              </a:defRPr>
            </a:lvl1pPr>
          </a:lstStyle>
          <a:p>
            <a:pPr/>
            <a:r>
              <a:t>0.964</a:t>
            </a:r>
          </a:p>
        </p:txBody>
      </p:sp>
      <p:sp>
        <p:nvSpPr>
          <p:cNvPr id="230" name="TextBox 6"/>
          <p:cNvSpPr txBox="1"/>
          <p:nvPr/>
        </p:nvSpPr>
        <p:spPr>
          <a:xfrm>
            <a:off x="4617720" y="2103120"/>
            <a:ext cx="3108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IoU (macro)</a:t>
            </a:r>
          </a:p>
        </p:txBody>
      </p:sp>
      <p:sp>
        <p:nvSpPr>
          <p:cNvPr id="231" name="TextBox 7"/>
          <p:cNvSpPr txBox="1"/>
          <p:nvPr/>
        </p:nvSpPr>
        <p:spPr>
          <a:xfrm>
            <a:off x="8458200" y="1371600"/>
            <a:ext cx="3108961" cy="745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5200">
                <a:solidFill>
                  <a:srgbClr val="6B7B8D"/>
                </a:solidFill>
              </a:defRPr>
            </a:lvl1pPr>
          </a:lstStyle>
          <a:p>
            <a:pPr/>
            <a:r>
              <a:t>1.53</a:t>
            </a:r>
          </a:p>
        </p:txBody>
      </p:sp>
      <p:sp>
        <p:nvSpPr>
          <p:cNvPr id="232" name="TextBox 8"/>
          <p:cNvSpPr txBox="1"/>
          <p:nvPr/>
        </p:nvSpPr>
        <p:spPr>
          <a:xfrm>
            <a:off x="8458200" y="2103120"/>
            <a:ext cx="3108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Hausdorff Dist. (px)</a:t>
            </a:r>
          </a:p>
        </p:txBody>
      </p:sp>
      <p:sp>
        <p:nvSpPr>
          <p:cNvPr id="233" name="TextBox 9"/>
          <p:cNvSpPr txBox="1"/>
          <p:nvPr/>
        </p:nvSpPr>
        <p:spPr>
          <a:xfrm>
            <a:off x="777239" y="2926079"/>
            <a:ext cx="53949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Dice y Hausdorff por capa retinal</a:t>
            </a:r>
          </a:p>
        </p:txBody>
      </p:sp>
      <p:graphicFrame>
        <p:nvGraphicFramePr>
          <p:cNvPr id="234" name="Table 10"/>
          <p:cNvGraphicFramePr/>
          <p:nvPr/>
        </p:nvGraphicFramePr>
        <p:xfrm>
          <a:off x="731519" y="3474720"/>
          <a:ext cx="10698482" cy="109728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ILM-RNFL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RNFL-GCL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GCL-IPL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IPL-INL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INL-OPL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OPL-ONL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ONL-IS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IS-OS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0.967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TextBox 11"/>
          <p:cNvSpPr txBox="1"/>
          <p:nvPr/>
        </p:nvSpPr>
        <p:spPr>
          <a:xfrm>
            <a:off x="777239" y="4846320"/>
            <a:ext cx="53949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Convergencia del entrenamiento</a:t>
            </a:r>
          </a:p>
        </p:txBody>
      </p:sp>
      <p:graphicFrame>
        <p:nvGraphicFramePr>
          <p:cNvPr id="236" name="Table 12"/>
          <p:cNvGraphicFramePr/>
          <p:nvPr/>
        </p:nvGraphicFramePr>
        <p:xfrm>
          <a:off x="731519" y="5303520"/>
          <a:ext cx="7315201" cy="13716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Train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Val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Mejora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0.9495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0.5684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-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0.0932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0.0854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85%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0.0583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32%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0.0315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39%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0.0192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0.0201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43%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Clasificación: diseño experimental</a:t>
            </a:r>
          </a:p>
        </p:txBody>
      </p:sp>
      <p:sp>
        <p:nvSpPr>
          <p:cNvPr id="240" name="Rectangle 3"/>
          <p:cNvSpPr/>
          <p:nvPr/>
        </p:nvSpPr>
        <p:spPr>
          <a:xfrm>
            <a:off x="731519" y="1463039"/>
            <a:ext cx="5120642" cy="45720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Rectangle 4"/>
          <p:cNvSpPr/>
          <p:nvPr/>
        </p:nvSpPr>
        <p:spPr>
          <a:xfrm>
            <a:off x="731519" y="1463039"/>
            <a:ext cx="5120642" cy="640081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5"/>
          <p:cNvSpPr txBox="1"/>
          <p:nvPr/>
        </p:nvSpPr>
        <p:spPr>
          <a:xfrm>
            <a:off x="1051559" y="1612989"/>
            <a:ext cx="448056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Modelo 1: imágenes originales</a:t>
            </a:r>
          </a:p>
        </p:txBody>
      </p:sp>
      <p:sp>
        <p:nvSpPr>
          <p:cNvPr id="243" name="TextBox 6"/>
          <p:cNvSpPr txBox="1"/>
          <p:nvPr/>
        </p:nvSpPr>
        <p:spPr>
          <a:xfrm>
            <a:off x="1051559" y="2377439"/>
            <a:ext cx="15544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44" name="TextBox 7"/>
          <p:cNvSpPr txBox="1"/>
          <p:nvPr/>
        </p:nvSpPr>
        <p:spPr>
          <a:xfrm>
            <a:off x="2697479" y="2377439"/>
            <a:ext cx="29260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imágenes OCT originales (224x224, RGB)</a:t>
            </a:r>
          </a:p>
        </p:txBody>
      </p:sp>
      <p:sp>
        <p:nvSpPr>
          <p:cNvPr id="245" name="TextBox 8"/>
          <p:cNvSpPr txBox="1"/>
          <p:nvPr/>
        </p:nvSpPr>
        <p:spPr>
          <a:xfrm>
            <a:off x="1051559" y="2880360"/>
            <a:ext cx="15544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46" name="TextBox 9"/>
          <p:cNvSpPr txBox="1"/>
          <p:nvPr/>
        </p:nvSpPr>
        <p:spPr>
          <a:xfrm>
            <a:off x="2697479" y="2880360"/>
            <a:ext cx="29260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 pretrained)</a:t>
            </a:r>
          </a:p>
        </p:txBody>
      </p:sp>
      <p:sp>
        <p:nvSpPr>
          <p:cNvPr id="247" name="TextBox 10"/>
          <p:cNvSpPr txBox="1"/>
          <p:nvPr/>
        </p:nvSpPr>
        <p:spPr>
          <a:xfrm>
            <a:off x="1051559" y="3383279"/>
            <a:ext cx="15544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Capa final:</a:t>
            </a:r>
          </a:p>
        </p:txBody>
      </p:sp>
      <p:sp>
        <p:nvSpPr>
          <p:cNvPr id="248" name="TextBox 11"/>
          <p:cNvSpPr txBox="1"/>
          <p:nvPr/>
        </p:nvSpPr>
        <p:spPr>
          <a:xfrm>
            <a:off x="2697479" y="3383279"/>
            <a:ext cx="29260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FC(2048 -&gt; 4 clases)</a:t>
            </a:r>
          </a:p>
        </p:txBody>
      </p:sp>
      <p:sp>
        <p:nvSpPr>
          <p:cNvPr id="249" name="TextBox 12"/>
          <p:cNvSpPr txBox="1"/>
          <p:nvPr/>
        </p:nvSpPr>
        <p:spPr>
          <a:xfrm>
            <a:off x="1051559" y="3886200"/>
            <a:ext cx="15544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50" name="TextBox 13"/>
          <p:cNvSpPr txBox="1"/>
          <p:nvPr/>
        </p:nvSpPr>
        <p:spPr>
          <a:xfrm>
            <a:off x="2697479" y="3886200"/>
            <a:ext cx="29260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Adam (lr = 1e-4)</a:t>
            </a:r>
          </a:p>
        </p:txBody>
      </p:sp>
      <p:sp>
        <p:nvSpPr>
          <p:cNvPr id="251" name="TextBox 14"/>
          <p:cNvSpPr txBox="1"/>
          <p:nvPr/>
        </p:nvSpPr>
        <p:spPr>
          <a:xfrm>
            <a:off x="1051559" y="4389120"/>
            <a:ext cx="15544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52" name="TextBox 15"/>
          <p:cNvSpPr txBox="1"/>
          <p:nvPr/>
        </p:nvSpPr>
        <p:spPr>
          <a:xfrm>
            <a:off x="2697479" y="4389120"/>
            <a:ext cx="292608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30 (early stopping, patience = 5)</a:t>
            </a:r>
          </a:p>
        </p:txBody>
      </p:sp>
      <p:sp>
        <p:nvSpPr>
          <p:cNvPr id="253" name="TextBox 16"/>
          <p:cNvSpPr txBox="1"/>
          <p:nvPr/>
        </p:nvSpPr>
        <p:spPr>
          <a:xfrm>
            <a:off x="1051559" y="4892040"/>
            <a:ext cx="15544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Augmentation:</a:t>
            </a:r>
          </a:p>
        </p:txBody>
      </p:sp>
      <p:sp>
        <p:nvSpPr>
          <p:cNvPr id="254" name="TextBox 17"/>
          <p:cNvSpPr txBox="1"/>
          <p:nvPr/>
        </p:nvSpPr>
        <p:spPr>
          <a:xfrm>
            <a:off x="2697479" y="4892040"/>
            <a:ext cx="29260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ColorJitter (brillo, contraste +-0.2)</a:t>
            </a:r>
          </a:p>
        </p:txBody>
      </p:sp>
      <p:sp>
        <p:nvSpPr>
          <p:cNvPr id="255" name="TextBox 18"/>
          <p:cNvSpPr txBox="1"/>
          <p:nvPr/>
        </p:nvSpPr>
        <p:spPr>
          <a:xfrm>
            <a:off x="1051559" y="5394959"/>
            <a:ext cx="15544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Sampling:</a:t>
            </a:r>
          </a:p>
        </p:txBody>
      </p:sp>
      <p:sp>
        <p:nvSpPr>
          <p:cNvPr id="256" name="TextBox 19"/>
          <p:cNvSpPr txBox="1"/>
          <p:nvPr/>
        </p:nvSpPr>
        <p:spPr>
          <a:xfrm>
            <a:off x="2697479" y="5394959"/>
            <a:ext cx="292608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WeightedRandomSampler</a:t>
            </a:r>
          </a:p>
        </p:txBody>
      </p:sp>
      <p:sp>
        <p:nvSpPr>
          <p:cNvPr id="257" name="Rectangle 20"/>
          <p:cNvSpPr/>
          <p:nvPr/>
        </p:nvSpPr>
        <p:spPr>
          <a:xfrm>
            <a:off x="6309359" y="1463039"/>
            <a:ext cx="5120641" cy="45720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Rectangle 21"/>
          <p:cNvSpPr/>
          <p:nvPr/>
        </p:nvSpPr>
        <p:spPr>
          <a:xfrm>
            <a:off x="6309359" y="1463039"/>
            <a:ext cx="5120641" cy="64008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TextBox 22"/>
          <p:cNvSpPr txBox="1"/>
          <p:nvPr/>
        </p:nvSpPr>
        <p:spPr>
          <a:xfrm>
            <a:off x="6629400" y="1612989"/>
            <a:ext cx="448056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Modelo 2: con segmentación</a:t>
            </a:r>
          </a:p>
        </p:txBody>
      </p:sp>
      <p:sp>
        <p:nvSpPr>
          <p:cNvPr id="260" name="TextBox 23"/>
          <p:cNvSpPr txBox="1"/>
          <p:nvPr/>
        </p:nvSpPr>
        <p:spPr>
          <a:xfrm>
            <a:off x="6629400" y="2377439"/>
            <a:ext cx="15544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61" name="TextBox 24"/>
          <p:cNvSpPr txBox="1"/>
          <p:nvPr/>
        </p:nvSpPr>
        <p:spPr>
          <a:xfrm>
            <a:off x="8275319" y="2377439"/>
            <a:ext cx="292608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Máscara de segmentación (UNet++ frozen)</a:t>
            </a:r>
          </a:p>
        </p:txBody>
      </p:sp>
      <p:sp>
        <p:nvSpPr>
          <p:cNvPr id="262" name="TextBox 25"/>
          <p:cNvSpPr txBox="1"/>
          <p:nvPr/>
        </p:nvSpPr>
        <p:spPr>
          <a:xfrm>
            <a:off x="6629400" y="2880360"/>
            <a:ext cx="15544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Pipeline:</a:t>
            </a:r>
          </a:p>
        </p:txBody>
      </p:sp>
      <p:sp>
        <p:nvSpPr>
          <p:cNvPr id="263" name="TextBox 26"/>
          <p:cNvSpPr txBox="1"/>
          <p:nvPr/>
        </p:nvSpPr>
        <p:spPr>
          <a:xfrm>
            <a:off x="8275319" y="2880360"/>
            <a:ext cx="29260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OCT -&gt; grayscale -&gt; UNet++ -&gt; máscara</a:t>
            </a:r>
          </a:p>
        </p:txBody>
      </p:sp>
      <p:sp>
        <p:nvSpPr>
          <p:cNvPr id="264" name="TextBox 27"/>
          <p:cNvSpPr txBox="1"/>
          <p:nvPr/>
        </p:nvSpPr>
        <p:spPr>
          <a:xfrm>
            <a:off x="6629400" y="3383279"/>
            <a:ext cx="15544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Mascara:</a:t>
            </a:r>
          </a:p>
        </p:txBody>
      </p:sp>
      <p:sp>
        <p:nvSpPr>
          <p:cNvPr id="265" name="TextBox 28"/>
          <p:cNvSpPr txBox="1"/>
          <p:nvPr/>
        </p:nvSpPr>
        <p:spPr>
          <a:xfrm>
            <a:off x="8275319" y="3383279"/>
            <a:ext cx="29260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Valores 0-7, normalizada, 3 canales</a:t>
            </a:r>
          </a:p>
        </p:txBody>
      </p:sp>
      <p:sp>
        <p:nvSpPr>
          <p:cNvPr id="266" name="TextBox 29"/>
          <p:cNvSpPr txBox="1"/>
          <p:nvPr/>
        </p:nvSpPr>
        <p:spPr>
          <a:xfrm>
            <a:off x="6629400" y="3886200"/>
            <a:ext cx="15544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67" name="TextBox 30"/>
          <p:cNvSpPr txBox="1"/>
          <p:nvPr/>
        </p:nvSpPr>
        <p:spPr>
          <a:xfrm>
            <a:off x="8275319" y="3886200"/>
            <a:ext cx="29260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 pretrained)</a:t>
            </a:r>
          </a:p>
        </p:txBody>
      </p:sp>
      <p:sp>
        <p:nvSpPr>
          <p:cNvPr id="268" name="TextBox 31"/>
          <p:cNvSpPr txBox="1"/>
          <p:nvPr/>
        </p:nvSpPr>
        <p:spPr>
          <a:xfrm>
            <a:off x="6629400" y="4389120"/>
            <a:ext cx="15544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Capa final:</a:t>
            </a:r>
          </a:p>
        </p:txBody>
      </p:sp>
      <p:sp>
        <p:nvSpPr>
          <p:cNvPr id="269" name="TextBox 32"/>
          <p:cNvSpPr txBox="1"/>
          <p:nvPr/>
        </p:nvSpPr>
        <p:spPr>
          <a:xfrm>
            <a:off x="8275319" y="4389120"/>
            <a:ext cx="292608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FC(2048 -&gt; 4 clases)</a:t>
            </a:r>
          </a:p>
        </p:txBody>
      </p:sp>
      <p:sp>
        <p:nvSpPr>
          <p:cNvPr id="270" name="TextBox 33"/>
          <p:cNvSpPr txBox="1"/>
          <p:nvPr/>
        </p:nvSpPr>
        <p:spPr>
          <a:xfrm>
            <a:off x="6629400" y="4892040"/>
            <a:ext cx="15544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71" name="TextBox 34"/>
          <p:cNvSpPr txBox="1"/>
          <p:nvPr/>
        </p:nvSpPr>
        <p:spPr>
          <a:xfrm>
            <a:off x="8275319" y="4892040"/>
            <a:ext cx="29260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Adam (lr = 1e-4)</a:t>
            </a:r>
          </a:p>
        </p:txBody>
      </p:sp>
      <p:sp>
        <p:nvSpPr>
          <p:cNvPr id="272" name="TextBox 35"/>
          <p:cNvSpPr txBox="1"/>
          <p:nvPr/>
        </p:nvSpPr>
        <p:spPr>
          <a:xfrm>
            <a:off x="6629400" y="5394959"/>
            <a:ext cx="15544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1E2761"/>
                </a:solidFill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73" name="TextBox 36"/>
          <p:cNvSpPr txBox="1"/>
          <p:nvPr/>
        </p:nvSpPr>
        <p:spPr>
          <a:xfrm>
            <a:off x="8275319" y="5394959"/>
            <a:ext cx="29260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20 (early stopping, patience = 5)</a:t>
            </a:r>
          </a:p>
        </p:txBody>
      </p:sp>
      <p:sp>
        <p:nvSpPr>
          <p:cNvPr id="274" name="Rectangle 37"/>
          <p:cNvSpPr/>
          <p:nvPr/>
        </p:nvSpPr>
        <p:spPr>
          <a:xfrm>
            <a:off x="731519" y="6217920"/>
            <a:ext cx="10698482" cy="54865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7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clasificación comparativa</a:t>
            </a:r>
          </a:p>
        </p:txBody>
      </p:sp>
      <p:sp>
        <p:nvSpPr>
          <p:cNvPr id="278" name="Rectangle 3"/>
          <p:cNvSpPr/>
          <p:nvPr/>
        </p:nvSpPr>
        <p:spPr>
          <a:xfrm>
            <a:off x="731519" y="1371600"/>
            <a:ext cx="5120642" cy="182880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TextBox 4"/>
          <p:cNvSpPr txBox="1"/>
          <p:nvPr/>
        </p:nvSpPr>
        <p:spPr>
          <a:xfrm>
            <a:off x="960120" y="1417319"/>
            <a:ext cx="46634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Modelo 1: imágenes originales</a:t>
            </a:r>
          </a:p>
        </p:txBody>
      </p:sp>
      <p:sp>
        <p:nvSpPr>
          <p:cNvPr id="280" name="TextBox 5"/>
          <p:cNvSpPr txBox="1"/>
          <p:nvPr/>
        </p:nvSpPr>
        <p:spPr>
          <a:xfrm>
            <a:off x="960120" y="1828800"/>
            <a:ext cx="4663440" cy="1007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200">
                <a:solidFill>
                  <a:srgbClr val="2ECC71"/>
                </a:solidFill>
              </a:defRPr>
            </a:lvl1pPr>
          </a:lstStyle>
          <a:p>
            <a:pPr/>
            <a:r>
              <a:t>94%</a:t>
            </a:r>
          </a:p>
        </p:txBody>
      </p:sp>
      <p:sp>
        <p:nvSpPr>
          <p:cNvPr id="281" name="TextBox 6"/>
          <p:cNvSpPr txBox="1"/>
          <p:nvPr/>
        </p:nvSpPr>
        <p:spPr>
          <a:xfrm>
            <a:off x="960120" y="2651760"/>
            <a:ext cx="46634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Accuracy en test (4,015 imágenes)</a:t>
            </a:r>
          </a:p>
        </p:txBody>
      </p:sp>
      <p:sp>
        <p:nvSpPr>
          <p:cNvPr id="282" name="Rectangle 7"/>
          <p:cNvSpPr/>
          <p:nvPr/>
        </p:nvSpPr>
        <p:spPr>
          <a:xfrm>
            <a:off x="6309359" y="1371600"/>
            <a:ext cx="5120641" cy="182880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TextBox 8"/>
          <p:cNvSpPr txBox="1"/>
          <p:nvPr/>
        </p:nvSpPr>
        <p:spPr>
          <a:xfrm>
            <a:off x="6537959" y="1417319"/>
            <a:ext cx="466344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Modelo 2: con segmentación</a:t>
            </a:r>
          </a:p>
        </p:txBody>
      </p:sp>
      <p:sp>
        <p:nvSpPr>
          <p:cNvPr id="284" name="TextBox 9"/>
          <p:cNvSpPr txBox="1"/>
          <p:nvPr/>
        </p:nvSpPr>
        <p:spPr>
          <a:xfrm>
            <a:off x="6537959" y="1828800"/>
            <a:ext cx="4663441" cy="1007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7200">
                <a:solidFill>
                  <a:srgbClr val="E74C3C"/>
                </a:solidFill>
              </a:defRPr>
            </a:lvl1pPr>
          </a:lstStyle>
          <a:p>
            <a:pPr/>
            <a:r>
              <a:t>70%</a:t>
            </a:r>
          </a:p>
        </p:txBody>
      </p:sp>
      <p:sp>
        <p:nvSpPr>
          <p:cNvPr id="285" name="TextBox 10"/>
          <p:cNvSpPr txBox="1"/>
          <p:nvPr/>
        </p:nvSpPr>
        <p:spPr>
          <a:xfrm>
            <a:off x="6537959" y="2651760"/>
            <a:ext cx="466344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Accuracy en test (4,015 imágenes)</a:t>
            </a:r>
          </a:p>
        </p:txBody>
      </p:sp>
      <p:sp>
        <p:nvSpPr>
          <p:cNvPr id="286" name="TextBox 11"/>
          <p:cNvSpPr txBox="1"/>
          <p:nvPr/>
        </p:nvSpPr>
        <p:spPr>
          <a:xfrm>
            <a:off x="4077970" y="3425651"/>
            <a:ext cx="4023360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800">
                <a:solidFill>
                  <a:srgbClr val="E74C3C"/>
                </a:solidFill>
              </a:defRPr>
            </a:lvl1pPr>
          </a:lstStyle>
          <a:p>
            <a:pPr/>
            <a:r>
              <a:t>-24pp</a:t>
            </a:r>
          </a:p>
        </p:txBody>
      </p:sp>
      <p:sp>
        <p:nvSpPr>
          <p:cNvPr id="287" name="TextBox 12"/>
          <p:cNvSpPr txBox="1"/>
          <p:nvPr/>
        </p:nvSpPr>
        <p:spPr>
          <a:xfrm>
            <a:off x="786129" y="3843808"/>
            <a:ext cx="905256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000">
                <a:solidFill>
                  <a:srgbClr val="1E2761"/>
                </a:solidFill>
              </a:defRPr>
            </a:lvl1pPr>
          </a:lstStyle>
          <a:p>
            <a:pPr/>
            <a:r>
              <a:t>F1-Score por clase</a:t>
            </a:r>
          </a:p>
        </p:txBody>
      </p:sp>
      <p:graphicFrame>
        <p:nvGraphicFramePr>
          <p:cNvPr id="288" name="Table 13"/>
          <p:cNvGraphicFramePr/>
          <p:nvPr/>
        </p:nvGraphicFramePr>
        <p:xfrm>
          <a:off x="740409" y="4341648"/>
          <a:ext cx="10698482" cy="2286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Clase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F1 Modelo 1 (original)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F1 Modelo 2 (segmentación)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Diferencia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1A1A2E"/>
                          </a:solidFill>
                        </a:rPr>
                        <a:t>CNV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2ECC71"/>
                          </a:solidFill>
                        </a:rPr>
                        <a:t>0.95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F96167"/>
                          </a:solidFill>
                        </a:rPr>
                        <a:t>0.81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E74C3C"/>
                          </a:solidFill>
                        </a:rPr>
                        <a:t>-0.14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1A1A2E"/>
                          </a:solidFill>
                        </a:rPr>
                        <a:t>DME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F96167"/>
                          </a:solidFill>
                        </a:rPr>
                        <a:t>0.76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E74C3C"/>
                          </a:solidFill>
                        </a:rPr>
                        <a:t>-0.18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1A1A2E"/>
                          </a:solidFill>
                        </a:rPr>
                        <a:t>DRUSEN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2ECC71"/>
                          </a:solidFill>
                        </a:rPr>
                        <a:t>0.92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F96167"/>
                          </a:solidFill>
                        </a:rPr>
                        <a:t>0.59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E74C3C"/>
                          </a:solidFill>
                        </a:rPr>
                        <a:t>-0.33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1A1A2E"/>
                          </a:solidFill>
                        </a:rPr>
                        <a:t>NORMAL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F96167"/>
                          </a:solidFill>
                        </a:rPr>
                        <a:t>0.66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E74C3C"/>
                          </a:solidFill>
                        </a:rPr>
                        <a:t>-0.28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1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Análisis: ¿por qué la segmentación no mejora?</a:t>
            </a:r>
          </a:p>
        </p:txBody>
      </p:sp>
      <p:sp>
        <p:nvSpPr>
          <p:cNvPr id="292" name="Rectangle 3"/>
          <p:cNvSpPr/>
          <p:nvPr/>
        </p:nvSpPr>
        <p:spPr>
          <a:xfrm>
            <a:off x="731519" y="146303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4"/>
          <p:cNvSpPr/>
          <p:nvPr/>
        </p:nvSpPr>
        <p:spPr>
          <a:xfrm>
            <a:off x="731519" y="1463039"/>
            <a:ext cx="73153" cy="1051561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Oval 5"/>
          <p:cNvSpPr/>
          <p:nvPr/>
        </p:nvSpPr>
        <p:spPr>
          <a:xfrm>
            <a:off x="1005839" y="1645920"/>
            <a:ext cx="457201" cy="457201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TextBox 6"/>
          <p:cNvSpPr txBox="1"/>
          <p:nvPr/>
        </p:nvSpPr>
        <p:spPr>
          <a:xfrm>
            <a:off x="1051559" y="164592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96" name="TextBox 7"/>
          <p:cNvSpPr txBox="1"/>
          <p:nvPr/>
        </p:nvSpPr>
        <p:spPr>
          <a:xfrm>
            <a:off x="1691640" y="1536191"/>
            <a:ext cx="950976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Perdida de información discriminativa</a:t>
            </a:r>
          </a:p>
        </p:txBody>
      </p:sp>
      <p:sp>
        <p:nvSpPr>
          <p:cNvPr id="297" name="TextBox 8"/>
          <p:cNvSpPr txBox="1"/>
          <p:nvPr/>
        </p:nvSpPr>
        <p:spPr>
          <a:xfrm>
            <a:off x="1691640" y="1920239"/>
            <a:ext cx="950976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La segmentación reduce la imagen a etiquetas discretas (0-7), descartando textura, intensidad y contraste fundamentales para distinguir patologías.</a:t>
            </a:r>
          </a:p>
        </p:txBody>
      </p:sp>
      <p:sp>
        <p:nvSpPr>
          <p:cNvPr id="298" name="Rectangle 9"/>
          <p:cNvSpPr/>
          <p:nvPr/>
        </p:nvSpPr>
        <p:spPr>
          <a:xfrm>
            <a:off x="731519" y="269747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10"/>
          <p:cNvSpPr/>
          <p:nvPr/>
        </p:nvSpPr>
        <p:spPr>
          <a:xfrm>
            <a:off x="731519" y="2697479"/>
            <a:ext cx="73153" cy="1051561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Oval 11"/>
          <p:cNvSpPr/>
          <p:nvPr/>
        </p:nvSpPr>
        <p:spPr>
          <a:xfrm>
            <a:off x="1005839" y="2880360"/>
            <a:ext cx="457201" cy="457201"/>
          </a:xfrm>
          <a:prstGeom prst="ellipse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TextBox 12"/>
          <p:cNvSpPr txBox="1"/>
          <p:nvPr/>
        </p:nvSpPr>
        <p:spPr>
          <a:xfrm>
            <a:off x="1051559" y="288036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2" name="TextBox 13"/>
          <p:cNvSpPr txBox="1"/>
          <p:nvPr/>
        </p:nvSpPr>
        <p:spPr>
          <a:xfrm>
            <a:off x="1691640" y="2770632"/>
            <a:ext cx="950976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Discrepancia de dominios</a:t>
            </a:r>
          </a:p>
        </p:txBody>
      </p:sp>
      <p:sp>
        <p:nvSpPr>
          <p:cNvPr id="303" name="TextBox 14"/>
          <p:cNvSpPr txBox="1"/>
          <p:nvPr/>
        </p:nvSpPr>
        <p:spPr>
          <a:xfrm>
            <a:off x="1691640" y="3154679"/>
            <a:ext cx="950976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de segmentación fue entrenado con un dataset distinto al de clasificación. Diferencias en equipos OCT y resolución generan mascaras subóptimas.</a:t>
            </a:r>
          </a:p>
        </p:txBody>
      </p:sp>
      <p:sp>
        <p:nvSpPr>
          <p:cNvPr id="304" name="Rectangle 15"/>
          <p:cNvSpPr/>
          <p:nvPr/>
        </p:nvSpPr>
        <p:spPr>
          <a:xfrm>
            <a:off x="731519" y="3931920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16"/>
          <p:cNvSpPr/>
          <p:nvPr/>
        </p:nvSpPr>
        <p:spPr>
          <a:xfrm>
            <a:off x="731519" y="3931920"/>
            <a:ext cx="73153" cy="1051561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Oval 17"/>
          <p:cNvSpPr/>
          <p:nvPr/>
        </p:nvSpPr>
        <p:spPr>
          <a:xfrm>
            <a:off x="1005839" y="4114800"/>
            <a:ext cx="457201" cy="457200"/>
          </a:xfrm>
          <a:prstGeom prst="ellipse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TextBox 18"/>
          <p:cNvSpPr txBox="1"/>
          <p:nvPr/>
        </p:nvSpPr>
        <p:spPr>
          <a:xfrm>
            <a:off x="1051559" y="411480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08" name="TextBox 19"/>
          <p:cNvSpPr txBox="1"/>
          <p:nvPr/>
        </p:nvSpPr>
        <p:spPr>
          <a:xfrm>
            <a:off x="1691640" y="4005071"/>
            <a:ext cx="950976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DRUSEN: la clase más afectada (F1: 0.92 -&gt; 0.59)</a:t>
            </a:r>
          </a:p>
        </p:txBody>
      </p:sp>
      <p:sp>
        <p:nvSpPr>
          <p:cNvPr id="309" name="TextBox 20"/>
          <p:cNvSpPr txBox="1"/>
          <p:nvPr/>
        </p:nvSpPr>
        <p:spPr>
          <a:xfrm>
            <a:off x="1691640" y="4389120"/>
            <a:ext cx="950976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Los drusen son depósitos sub-retinales cuya detección depende de textura e intensidad visual, información que se pierde completamente en la máscara.</a:t>
            </a:r>
          </a:p>
        </p:txBody>
      </p:sp>
      <p:sp>
        <p:nvSpPr>
          <p:cNvPr id="310" name="Rectangle 21"/>
          <p:cNvSpPr/>
          <p:nvPr/>
        </p:nvSpPr>
        <p:spPr>
          <a:xfrm>
            <a:off x="731519" y="5166359"/>
            <a:ext cx="10698482" cy="105156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1" name="Rectangle 22"/>
          <p:cNvSpPr/>
          <p:nvPr/>
        </p:nvSpPr>
        <p:spPr>
          <a:xfrm>
            <a:off x="731519" y="5166359"/>
            <a:ext cx="73153" cy="10515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Oval 23"/>
          <p:cNvSpPr/>
          <p:nvPr/>
        </p:nvSpPr>
        <p:spPr>
          <a:xfrm>
            <a:off x="1005839" y="5349240"/>
            <a:ext cx="457201" cy="45720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TextBox 24"/>
          <p:cNvSpPr txBox="1"/>
          <p:nvPr/>
        </p:nvSpPr>
        <p:spPr>
          <a:xfrm>
            <a:off x="1051559" y="5349240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4" name="TextBox 25"/>
          <p:cNvSpPr txBox="1"/>
          <p:nvPr/>
        </p:nvSpPr>
        <p:spPr>
          <a:xfrm>
            <a:off x="1691640" y="5239511"/>
            <a:ext cx="950976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Segmentación excelente (Dice=0.98) pero insuficiente</a:t>
            </a:r>
          </a:p>
        </p:txBody>
      </p:sp>
      <p:sp>
        <p:nvSpPr>
          <p:cNvPr id="315" name="TextBox 26"/>
          <p:cNvSpPr txBox="1"/>
          <p:nvPr/>
        </p:nvSpPr>
        <p:spPr>
          <a:xfrm>
            <a:off x="1691640" y="5623559"/>
            <a:ext cx="950976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problema no es la calidad de la segmentación, sino que la información estructural pura no es suficiente para clasificar. Saber dónde están las capas no dice cómo se ven.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TextBox 2"/>
          <p:cNvSpPr txBox="1"/>
          <p:nvPr/>
        </p:nvSpPr>
        <p:spPr>
          <a:xfrm>
            <a:off x="777239" y="457200"/>
            <a:ext cx="9052561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Prototipo funcional: app Streamlit</a:t>
            </a:r>
          </a:p>
        </p:txBody>
      </p:sp>
      <p:sp>
        <p:nvSpPr>
          <p:cNvPr id="319" name="TextBox 3"/>
          <p:cNvSpPr txBox="1"/>
          <p:nvPr/>
        </p:nvSpPr>
        <p:spPr>
          <a:xfrm>
            <a:off x="777239" y="1463039"/>
            <a:ext cx="53949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Funcionalidades</a:t>
            </a:r>
          </a:p>
        </p:txBody>
      </p:sp>
      <p:sp>
        <p:nvSpPr>
          <p:cNvPr id="320" name="Rectangle 4"/>
          <p:cNvSpPr/>
          <p:nvPr/>
        </p:nvSpPr>
        <p:spPr>
          <a:xfrm>
            <a:off x="731519" y="210312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1" name="TextBox 5"/>
          <p:cNvSpPr txBox="1"/>
          <p:nvPr/>
        </p:nvSpPr>
        <p:spPr>
          <a:xfrm>
            <a:off x="1143000" y="210312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Segmentación interactiva</a:t>
            </a:r>
          </a:p>
        </p:txBody>
      </p:sp>
      <p:sp>
        <p:nvSpPr>
          <p:cNvPr id="322" name="TextBox 6"/>
          <p:cNvSpPr txBox="1"/>
          <p:nvPr/>
        </p:nvSpPr>
        <p:spPr>
          <a:xfrm>
            <a:off x="1143000" y="2468878"/>
            <a:ext cx="466344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 de las 8 capas retinales con overlay sobre la imagen OCT original</a:t>
            </a:r>
          </a:p>
        </p:txBody>
      </p:sp>
      <p:sp>
        <p:nvSpPr>
          <p:cNvPr id="323" name="Rectangle 7"/>
          <p:cNvSpPr/>
          <p:nvPr/>
        </p:nvSpPr>
        <p:spPr>
          <a:xfrm>
            <a:off x="731519" y="310896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8"/>
          <p:cNvSpPr txBox="1"/>
          <p:nvPr/>
        </p:nvSpPr>
        <p:spPr>
          <a:xfrm>
            <a:off x="1143000" y="310896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Clasificación comparativa</a:t>
            </a:r>
          </a:p>
        </p:txBody>
      </p:sp>
      <p:sp>
        <p:nvSpPr>
          <p:cNvPr id="325" name="TextBox 9"/>
          <p:cNvSpPr txBox="1"/>
          <p:nvPr/>
        </p:nvSpPr>
        <p:spPr>
          <a:xfrm>
            <a:off x="1143000" y="3474720"/>
            <a:ext cx="46634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Predicción simultánea con ambos modelos, mostrando probabilidades por clase</a:t>
            </a:r>
          </a:p>
        </p:txBody>
      </p:sp>
      <p:sp>
        <p:nvSpPr>
          <p:cNvPr id="326" name="Rectangle 10"/>
          <p:cNvSpPr/>
          <p:nvPr/>
        </p:nvSpPr>
        <p:spPr>
          <a:xfrm>
            <a:off x="731519" y="411480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TextBox 11"/>
          <p:cNvSpPr txBox="1"/>
          <p:nvPr/>
        </p:nvSpPr>
        <p:spPr>
          <a:xfrm>
            <a:off x="1143000" y="411480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Análisis visual</a:t>
            </a:r>
          </a:p>
        </p:txBody>
      </p:sp>
      <p:sp>
        <p:nvSpPr>
          <p:cNvPr id="328" name="TextBox 12"/>
          <p:cNvSpPr txBox="1"/>
          <p:nvPr/>
        </p:nvSpPr>
        <p:spPr>
          <a:xfrm>
            <a:off x="1143000" y="4480559"/>
            <a:ext cx="4663440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Barras de probabilidad, comparación lado a lado, overlay de segmentación</a:t>
            </a:r>
          </a:p>
        </p:txBody>
      </p:sp>
      <p:sp>
        <p:nvSpPr>
          <p:cNvPr id="329" name="Rectangle 13"/>
          <p:cNvSpPr/>
          <p:nvPr/>
        </p:nvSpPr>
        <p:spPr>
          <a:xfrm>
            <a:off x="731519" y="5120640"/>
            <a:ext cx="54865" cy="822961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TextBox 14"/>
          <p:cNvSpPr txBox="1"/>
          <p:nvPr/>
        </p:nvSpPr>
        <p:spPr>
          <a:xfrm>
            <a:off x="1143000" y="5120640"/>
            <a:ext cx="46634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Carga de imágenes</a:t>
            </a:r>
          </a:p>
        </p:txBody>
      </p:sp>
      <p:sp>
        <p:nvSpPr>
          <p:cNvPr id="331" name="TextBox 15"/>
          <p:cNvSpPr txBox="1"/>
          <p:nvPr/>
        </p:nvSpPr>
        <p:spPr>
          <a:xfrm>
            <a:off x="1143000" y="5486400"/>
            <a:ext cx="46634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usuario puede subir imágenes OCT propias para obtener predicciones</a:t>
            </a:r>
          </a:p>
        </p:txBody>
      </p:sp>
      <p:sp>
        <p:nvSpPr>
          <p:cNvPr id="332" name="Rectangle 16"/>
          <p:cNvSpPr/>
          <p:nvPr/>
        </p:nvSpPr>
        <p:spPr>
          <a:xfrm>
            <a:off x="6622303" y="2090214"/>
            <a:ext cx="4846321" cy="3230414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3" name="Rectangle 17"/>
          <p:cNvSpPr/>
          <p:nvPr/>
        </p:nvSpPr>
        <p:spPr>
          <a:xfrm>
            <a:off x="6622303" y="2090214"/>
            <a:ext cx="4846321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TextBox 18"/>
          <p:cNvSpPr txBox="1"/>
          <p:nvPr/>
        </p:nvSpPr>
        <p:spPr>
          <a:xfrm>
            <a:off x="6942343" y="2197991"/>
            <a:ext cx="420624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Stack tecnológico</a:t>
            </a:r>
          </a:p>
        </p:txBody>
      </p:sp>
      <p:sp>
        <p:nvSpPr>
          <p:cNvPr id="335" name="TextBox 19"/>
          <p:cNvSpPr txBox="1"/>
          <p:nvPr/>
        </p:nvSpPr>
        <p:spPr>
          <a:xfrm>
            <a:off x="6942343" y="2913174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Framework: Streamlit</a:t>
            </a:r>
          </a:p>
        </p:txBody>
      </p:sp>
      <p:sp>
        <p:nvSpPr>
          <p:cNvPr id="336" name="TextBox 20"/>
          <p:cNvSpPr txBox="1"/>
          <p:nvPr/>
        </p:nvSpPr>
        <p:spPr>
          <a:xfrm>
            <a:off x="6942343" y="3370374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Segmentación: PyTorch + SMP (UNet++)</a:t>
            </a:r>
          </a:p>
        </p:txBody>
      </p:sp>
      <p:sp>
        <p:nvSpPr>
          <p:cNvPr id="337" name="TextBox 21"/>
          <p:cNvSpPr txBox="1"/>
          <p:nvPr/>
        </p:nvSpPr>
        <p:spPr>
          <a:xfrm>
            <a:off x="6942343" y="3827574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Clasificación: PyTorch + torchvision (ResNet50)</a:t>
            </a:r>
          </a:p>
        </p:txBody>
      </p:sp>
      <p:sp>
        <p:nvSpPr>
          <p:cNvPr id="338" name="TextBox 22"/>
          <p:cNvSpPr txBox="1"/>
          <p:nvPr/>
        </p:nvSpPr>
        <p:spPr>
          <a:xfrm>
            <a:off x="6942343" y="4284774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Visualización: matplotlib + numpy</a:t>
            </a:r>
          </a:p>
        </p:txBody>
      </p:sp>
      <p:sp>
        <p:nvSpPr>
          <p:cNvPr id="339" name="TextBox 23"/>
          <p:cNvSpPr txBox="1"/>
          <p:nvPr/>
        </p:nvSpPr>
        <p:spPr>
          <a:xfrm>
            <a:off x="6942343" y="4741974"/>
            <a:ext cx="4206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Peso modelos: ~125 MB total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TextBox 2"/>
          <p:cNvSpPr txBox="1"/>
          <p:nvPr/>
        </p:nvSpPr>
        <p:spPr>
          <a:xfrm>
            <a:off x="777239" y="365759"/>
            <a:ext cx="9052561" cy="54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Conclusiones</a:t>
            </a:r>
          </a:p>
        </p:txBody>
      </p:sp>
      <p:sp>
        <p:nvSpPr>
          <p:cNvPr id="343" name="Oval 3"/>
          <p:cNvSpPr/>
          <p:nvPr/>
        </p:nvSpPr>
        <p:spPr>
          <a:xfrm>
            <a:off x="731519" y="132588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4"/>
          <p:cNvSpPr txBox="1"/>
          <p:nvPr/>
        </p:nvSpPr>
        <p:spPr>
          <a:xfrm>
            <a:off x="777239" y="1325880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45" name="TextBox 5"/>
          <p:cNvSpPr txBox="1"/>
          <p:nvPr/>
        </p:nvSpPr>
        <p:spPr>
          <a:xfrm>
            <a:off x="1417319" y="1280160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El clasificador sobre imágenes OCT originales (94%) supera significativamente al pipeline con segmentación previa (70%)</a:t>
            </a:r>
          </a:p>
        </p:txBody>
      </p:sp>
      <p:sp>
        <p:nvSpPr>
          <p:cNvPr id="346" name="Oval 6"/>
          <p:cNvSpPr/>
          <p:nvPr/>
        </p:nvSpPr>
        <p:spPr>
          <a:xfrm>
            <a:off x="731519" y="205740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TextBox 7"/>
          <p:cNvSpPr txBox="1"/>
          <p:nvPr/>
        </p:nvSpPr>
        <p:spPr>
          <a:xfrm>
            <a:off x="777239" y="2057400"/>
            <a:ext cx="2743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48" name="TextBox 8"/>
          <p:cNvSpPr txBox="1"/>
          <p:nvPr/>
        </p:nvSpPr>
        <p:spPr>
          <a:xfrm>
            <a:off x="1417319" y="2011679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información de textura y contraste es mas discriminativa que la información puramente estructural de las máscaras</a:t>
            </a:r>
          </a:p>
        </p:txBody>
      </p:sp>
      <p:sp>
        <p:nvSpPr>
          <p:cNvPr id="349" name="Oval 9"/>
          <p:cNvSpPr/>
          <p:nvPr/>
        </p:nvSpPr>
        <p:spPr>
          <a:xfrm>
            <a:off x="731519" y="278892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TextBox 10"/>
          <p:cNvSpPr txBox="1"/>
          <p:nvPr/>
        </p:nvSpPr>
        <p:spPr>
          <a:xfrm>
            <a:off x="777239" y="2788920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1" name="TextBox 11"/>
          <p:cNvSpPr txBox="1"/>
          <p:nvPr/>
        </p:nvSpPr>
        <p:spPr>
          <a:xfrm>
            <a:off x="1417319" y="2743200"/>
            <a:ext cx="9966961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UNet++ con ResNet34 logra segmentación precisa (Dice = 0.98, IoU = 0.96), validando su utilidad como herramienta independiente</a:t>
            </a:r>
          </a:p>
        </p:txBody>
      </p:sp>
      <p:sp>
        <p:nvSpPr>
          <p:cNvPr id="352" name="Oval 12"/>
          <p:cNvSpPr/>
          <p:nvPr/>
        </p:nvSpPr>
        <p:spPr>
          <a:xfrm>
            <a:off x="731519" y="352044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3" name="TextBox 13"/>
          <p:cNvSpPr txBox="1"/>
          <p:nvPr/>
        </p:nvSpPr>
        <p:spPr>
          <a:xfrm>
            <a:off x="777239" y="3520440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54" name="TextBox 14"/>
          <p:cNvSpPr txBox="1"/>
          <p:nvPr/>
        </p:nvSpPr>
        <p:spPr>
          <a:xfrm>
            <a:off x="1417319" y="3474720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discrepancia de dominios entre datasets contribuye a la degradación del pipeline combinado</a:t>
            </a:r>
          </a:p>
        </p:txBody>
      </p:sp>
      <p:sp>
        <p:nvSpPr>
          <p:cNvPr id="355" name="Oval 15"/>
          <p:cNvSpPr/>
          <p:nvPr/>
        </p:nvSpPr>
        <p:spPr>
          <a:xfrm>
            <a:off x="731519" y="4251959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TextBox 16"/>
          <p:cNvSpPr txBox="1"/>
          <p:nvPr/>
        </p:nvSpPr>
        <p:spPr>
          <a:xfrm>
            <a:off x="777239" y="425195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57" name="TextBox 17"/>
          <p:cNvSpPr txBox="1"/>
          <p:nvPr/>
        </p:nvSpPr>
        <p:spPr>
          <a:xfrm>
            <a:off x="1417319" y="4206240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DRUSEN es la clase mas sensible a la perdida visual (F1: 0.92 -&gt; 0.59), coherente con su naturaleza</a:t>
            </a:r>
          </a:p>
        </p:txBody>
      </p:sp>
      <p:sp>
        <p:nvSpPr>
          <p:cNvPr id="358" name="Oval 18"/>
          <p:cNvSpPr/>
          <p:nvPr/>
        </p:nvSpPr>
        <p:spPr>
          <a:xfrm>
            <a:off x="731519" y="4983479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TextBox 19"/>
          <p:cNvSpPr txBox="1"/>
          <p:nvPr/>
        </p:nvSpPr>
        <p:spPr>
          <a:xfrm>
            <a:off x="777239" y="4983479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360" name="TextBox 20"/>
          <p:cNvSpPr txBox="1"/>
          <p:nvPr/>
        </p:nvSpPr>
        <p:spPr>
          <a:xfrm>
            <a:off x="1417319" y="4937759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segmentación aporta valor clínico como herramienta de interpretabilidad, complementando al clasificador</a:t>
            </a:r>
          </a:p>
        </p:txBody>
      </p:sp>
      <p:sp>
        <p:nvSpPr>
          <p:cNvPr id="361" name="Oval 21"/>
          <p:cNvSpPr/>
          <p:nvPr/>
        </p:nvSpPr>
        <p:spPr>
          <a:xfrm>
            <a:off x="731519" y="5715000"/>
            <a:ext cx="365761" cy="365761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2" name="TextBox 22"/>
          <p:cNvSpPr txBox="1"/>
          <p:nvPr/>
        </p:nvSpPr>
        <p:spPr>
          <a:xfrm>
            <a:off x="777239" y="5715000"/>
            <a:ext cx="2743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63" name="TextBox 23"/>
          <p:cNvSpPr txBox="1"/>
          <p:nvPr/>
        </p:nvSpPr>
        <p:spPr>
          <a:xfrm>
            <a:off x="1417319" y="5669279"/>
            <a:ext cx="99669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app Streamlit demuestra la factibilidad de un sistema de apoyo al diagnóstico oftalmológico con DL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"/>
          <p:cNvSpPr/>
          <p:nvPr/>
        </p:nvSpPr>
        <p:spPr>
          <a:xfrm>
            <a:off x="-1" y="-1"/>
            <a:ext cx="12191697" cy="7315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6" name="TextBox 2"/>
          <p:cNvSpPr txBox="1"/>
          <p:nvPr/>
        </p:nvSpPr>
        <p:spPr>
          <a:xfrm>
            <a:off x="1417320" y="1828800"/>
            <a:ext cx="9326880" cy="706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800">
                <a:solidFill>
                  <a:srgbClr val="FFFFFF"/>
                </a:solidFill>
              </a:defRPr>
            </a:lvl1pPr>
          </a:lstStyle>
          <a:p>
            <a:pPr/>
            <a:r>
              <a:t>¡Gracias!</a:t>
            </a:r>
          </a:p>
        </p:txBody>
      </p:sp>
      <p:sp>
        <p:nvSpPr>
          <p:cNvPr id="367" name="Rectangle 3"/>
          <p:cNvSpPr/>
          <p:nvPr/>
        </p:nvSpPr>
        <p:spPr>
          <a:xfrm>
            <a:off x="4572000" y="3017520"/>
            <a:ext cx="3017521" cy="36577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8" name="TextBox 4"/>
          <p:cNvSpPr txBox="1"/>
          <p:nvPr/>
        </p:nvSpPr>
        <p:spPr>
          <a:xfrm>
            <a:off x="1417320" y="3474720"/>
            <a:ext cx="9326880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ADCFC"/>
                </a:solidFill>
              </a:defRPr>
            </a:lvl1pPr>
          </a:lstStyle>
          <a:p>
            <a:pPr/>
            <a:r>
              <a:t>¿Preguntas?</a:t>
            </a:r>
          </a:p>
        </p:txBody>
      </p:sp>
      <p:sp>
        <p:nvSpPr>
          <p:cNvPr id="369" name="TextBox 5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370" name="TextBox 6"/>
          <p:cNvSpPr txBox="1"/>
          <p:nvPr/>
        </p:nvSpPr>
        <p:spPr>
          <a:xfrm>
            <a:off x="1417320" y="5120640"/>
            <a:ext cx="9326880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Vision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