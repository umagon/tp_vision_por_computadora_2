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9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65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5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6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2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2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2" cy="80486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8" y="6414761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1417319" y="1371600"/>
            <a:ext cx="9326882" cy="16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6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Segmentación y clasificación de patologías</a:t>
            </a:r>
            <a:br/>
            <a:r>
              <a:t>retinales en imágenes OCT mediante Deep Learning</a:t>
            </a:r>
          </a:p>
        </p:txBody>
      </p:sp>
      <p:sp>
        <p:nvSpPr>
          <p:cNvPr id="96" name="Rectangle 4"/>
          <p:cNvSpPr/>
          <p:nvPr/>
        </p:nvSpPr>
        <p:spPr>
          <a:xfrm>
            <a:off x="1371600" y="3749037"/>
            <a:ext cx="2743200" cy="36578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7" name="TextBox 5"/>
          <p:cNvSpPr txBox="1"/>
          <p:nvPr/>
        </p:nvSpPr>
        <p:spPr>
          <a:xfrm>
            <a:off x="1417319" y="4114800"/>
            <a:ext cx="9326882" cy="300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>
                <a:solidFill>
                  <a:srgbClr val="CADCFC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Alexis Barniquez  |  Barbara Cerezo  |  Daniel Paniagua  |  Brian Salamone</a:t>
            </a:r>
          </a:p>
        </p:txBody>
      </p:sp>
      <p:sp>
        <p:nvSpPr>
          <p:cNvPr id="98" name="TextBox 6"/>
          <p:cNvSpPr txBox="1"/>
          <p:nvPr/>
        </p:nvSpPr>
        <p:spPr>
          <a:xfrm>
            <a:off x="1417319" y="4846321"/>
            <a:ext cx="932688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Visión por Computadora II  -  CEIA  - 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1" name="TextBox 2"/>
          <p:cNvSpPr txBox="1"/>
          <p:nvPr/>
        </p:nvSpPr>
        <p:spPr>
          <a:xfrm>
            <a:off x="777239" y="457199"/>
            <a:ext cx="9052561" cy="542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Contexto clínico</a:t>
            </a:r>
          </a:p>
        </p:txBody>
      </p:sp>
      <p:sp>
        <p:nvSpPr>
          <p:cNvPr id="102" name="TextBox 3"/>
          <p:cNvSpPr txBox="1"/>
          <p:nvPr/>
        </p:nvSpPr>
        <p:spPr>
          <a:xfrm>
            <a:off x="777238" y="1463039"/>
            <a:ext cx="4937762" cy="3853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">
                <a:solidFill>
                  <a:srgbClr val="00A89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El problema</a:t>
            </a:r>
          </a:p>
        </p:txBody>
      </p:sp>
      <p:sp>
        <p:nvSpPr>
          <p:cNvPr id="103" name="Rectangle 4"/>
          <p:cNvSpPr/>
          <p:nvPr/>
        </p:nvSpPr>
        <p:spPr>
          <a:xfrm>
            <a:off x="731519" y="2103120"/>
            <a:ext cx="54866" cy="457202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4" name="TextBox 5"/>
          <p:cNvSpPr txBox="1"/>
          <p:nvPr/>
        </p:nvSpPr>
        <p:spPr>
          <a:xfrm>
            <a:off x="1142999" y="2103121"/>
            <a:ext cx="4572002" cy="506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Las enfermedades retinales (CNV, DME, Drusen) son causas principales de perdida de visión a nivel mundial</a:t>
            </a:r>
          </a:p>
        </p:txBody>
      </p:sp>
      <p:sp>
        <p:nvSpPr>
          <p:cNvPr id="105" name="Rectangle 6"/>
          <p:cNvSpPr/>
          <p:nvPr/>
        </p:nvSpPr>
        <p:spPr>
          <a:xfrm>
            <a:off x="731519" y="3017520"/>
            <a:ext cx="54866" cy="457202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6" name="TextBox 7"/>
          <p:cNvSpPr txBox="1"/>
          <p:nvPr/>
        </p:nvSpPr>
        <p:spPr>
          <a:xfrm>
            <a:off x="1142999" y="3017521"/>
            <a:ext cx="4572002" cy="506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La Tomografía de Coherencia Óptica (OCT) es el estándar de imagen para diagnostico oftalmológico</a:t>
            </a:r>
          </a:p>
        </p:txBody>
      </p:sp>
      <p:sp>
        <p:nvSpPr>
          <p:cNvPr id="107" name="Rectangle 8"/>
          <p:cNvSpPr/>
          <p:nvPr/>
        </p:nvSpPr>
        <p:spPr>
          <a:xfrm>
            <a:off x="731519" y="3931920"/>
            <a:ext cx="54866" cy="457202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8" name="TextBox 9"/>
          <p:cNvSpPr txBox="1"/>
          <p:nvPr/>
        </p:nvSpPr>
        <p:spPr>
          <a:xfrm>
            <a:off x="1142999" y="3931921"/>
            <a:ext cx="4572002" cy="506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Se requieren herramientas automatizadas que asistan al especialista en el diagnostico temprano</a:t>
            </a:r>
          </a:p>
        </p:txBody>
      </p:sp>
      <p:sp>
        <p:nvSpPr>
          <p:cNvPr id="109" name="TextBox 10"/>
          <p:cNvSpPr txBox="1"/>
          <p:nvPr/>
        </p:nvSpPr>
        <p:spPr>
          <a:xfrm>
            <a:off x="6629399" y="1463039"/>
            <a:ext cx="4480563" cy="3853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">
                <a:solidFill>
                  <a:srgbClr val="00A89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4 clases de patología</a:t>
            </a:r>
          </a:p>
        </p:txBody>
      </p:sp>
      <p:sp>
        <p:nvSpPr>
          <p:cNvPr id="110" name="Rectangle 11"/>
          <p:cNvSpPr/>
          <p:nvPr/>
        </p:nvSpPr>
        <p:spPr>
          <a:xfrm>
            <a:off x="6583680" y="2103120"/>
            <a:ext cx="4846322" cy="777242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1" name="Rectangle 12"/>
          <p:cNvSpPr/>
          <p:nvPr/>
        </p:nvSpPr>
        <p:spPr>
          <a:xfrm>
            <a:off x="6583680" y="2103120"/>
            <a:ext cx="73154" cy="777242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2" name="TextBox 13"/>
          <p:cNvSpPr txBox="1"/>
          <p:nvPr/>
        </p:nvSpPr>
        <p:spPr>
          <a:xfrm>
            <a:off x="6995159" y="2148839"/>
            <a:ext cx="1737362" cy="33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CNV</a:t>
            </a:r>
          </a:p>
        </p:txBody>
      </p:sp>
      <p:sp>
        <p:nvSpPr>
          <p:cNvPr id="113" name="TextBox 14"/>
          <p:cNvSpPr txBox="1"/>
          <p:nvPr/>
        </p:nvSpPr>
        <p:spPr>
          <a:xfrm>
            <a:off x="6995159" y="2468878"/>
            <a:ext cx="402336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Neovascularización coroidea</a:t>
            </a:r>
          </a:p>
        </p:txBody>
      </p:sp>
      <p:sp>
        <p:nvSpPr>
          <p:cNvPr id="114" name="Rectangle 15"/>
          <p:cNvSpPr/>
          <p:nvPr/>
        </p:nvSpPr>
        <p:spPr>
          <a:xfrm>
            <a:off x="6583680" y="3063238"/>
            <a:ext cx="4846322" cy="777242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5" name="Rectangle 16"/>
          <p:cNvSpPr/>
          <p:nvPr/>
        </p:nvSpPr>
        <p:spPr>
          <a:xfrm>
            <a:off x="6583680" y="3063238"/>
            <a:ext cx="73154" cy="777242"/>
          </a:xfrm>
          <a:prstGeom prst="rect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6" name="TextBox 17"/>
          <p:cNvSpPr txBox="1"/>
          <p:nvPr/>
        </p:nvSpPr>
        <p:spPr>
          <a:xfrm>
            <a:off x="6995159" y="3108960"/>
            <a:ext cx="1737362" cy="33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DME</a:t>
            </a:r>
          </a:p>
        </p:txBody>
      </p:sp>
      <p:sp>
        <p:nvSpPr>
          <p:cNvPr id="117" name="TextBox 18"/>
          <p:cNvSpPr txBox="1"/>
          <p:nvPr/>
        </p:nvSpPr>
        <p:spPr>
          <a:xfrm>
            <a:off x="6995159" y="3428999"/>
            <a:ext cx="4023362" cy="25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Edema macular diabético</a:t>
            </a:r>
          </a:p>
        </p:txBody>
      </p:sp>
      <p:sp>
        <p:nvSpPr>
          <p:cNvPr id="118" name="Rectangle 19"/>
          <p:cNvSpPr/>
          <p:nvPr/>
        </p:nvSpPr>
        <p:spPr>
          <a:xfrm>
            <a:off x="6583680" y="4023359"/>
            <a:ext cx="4846322" cy="777242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9" name="Rectangle 20"/>
          <p:cNvSpPr/>
          <p:nvPr/>
        </p:nvSpPr>
        <p:spPr>
          <a:xfrm>
            <a:off x="6583680" y="4023359"/>
            <a:ext cx="73154" cy="777242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0" name="TextBox 21"/>
          <p:cNvSpPr txBox="1"/>
          <p:nvPr/>
        </p:nvSpPr>
        <p:spPr>
          <a:xfrm>
            <a:off x="6995159" y="4069080"/>
            <a:ext cx="1737362" cy="33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DRUSEN</a:t>
            </a:r>
          </a:p>
        </p:txBody>
      </p:sp>
      <p:sp>
        <p:nvSpPr>
          <p:cNvPr id="121" name="TextBox 22"/>
          <p:cNvSpPr txBox="1"/>
          <p:nvPr/>
        </p:nvSpPr>
        <p:spPr>
          <a:xfrm>
            <a:off x="6995159" y="4389121"/>
            <a:ext cx="4023362" cy="25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Depositos sub-retinales</a:t>
            </a:r>
          </a:p>
        </p:txBody>
      </p:sp>
      <p:sp>
        <p:nvSpPr>
          <p:cNvPr id="122" name="Rectangle 23"/>
          <p:cNvSpPr/>
          <p:nvPr/>
        </p:nvSpPr>
        <p:spPr>
          <a:xfrm>
            <a:off x="6583680" y="4983479"/>
            <a:ext cx="4846322" cy="777242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3" name="Rectangle 24"/>
          <p:cNvSpPr/>
          <p:nvPr/>
        </p:nvSpPr>
        <p:spPr>
          <a:xfrm>
            <a:off x="6583680" y="4983479"/>
            <a:ext cx="73154" cy="777242"/>
          </a:xfrm>
          <a:prstGeom prst="rect">
            <a:avLst/>
          </a:prstGeom>
          <a:solidFill>
            <a:srgbClr val="2ECC7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4" name="TextBox 25"/>
          <p:cNvSpPr txBox="1"/>
          <p:nvPr/>
        </p:nvSpPr>
        <p:spPr>
          <a:xfrm>
            <a:off x="6995159" y="5029199"/>
            <a:ext cx="1737362" cy="3330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NORMAL</a:t>
            </a:r>
          </a:p>
        </p:txBody>
      </p:sp>
      <p:sp>
        <p:nvSpPr>
          <p:cNvPr id="125" name="TextBox 26"/>
          <p:cNvSpPr txBox="1"/>
          <p:nvPr/>
        </p:nvSpPr>
        <p:spPr>
          <a:xfrm>
            <a:off x="6995159" y="5349241"/>
            <a:ext cx="402336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Retina sana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8" name="TextBox 2"/>
          <p:cNvSpPr txBox="1"/>
          <p:nvPr/>
        </p:nvSpPr>
        <p:spPr>
          <a:xfrm>
            <a:off x="777239" y="457199"/>
            <a:ext cx="9052561" cy="542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Objetivo e hipótesis</a:t>
            </a:r>
          </a:p>
        </p:txBody>
      </p:sp>
      <p:sp>
        <p:nvSpPr>
          <p:cNvPr id="129" name="Rectangle 3"/>
          <p:cNvSpPr/>
          <p:nvPr/>
        </p:nvSpPr>
        <p:spPr>
          <a:xfrm>
            <a:off x="731519" y="1645920"/>
            <a:ext cx="10698482" cy="118872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0" name="TextBox 4"/>
          <p:cNvSpPr txBox="1"/>
          <p:nvPr/>
        </p:nvSpPr>
        <p:spPr>
          <a:xfrm>
            <a:off x="1234438" y="1885786"/>
            <a:ext cx="9692644" cy="644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Pregunta: ¿la segmentación semántica de capas retinales como preprocesamiento, mejora la clasificación automática de patologías en imágenes OCT?</a:t>
            </a:r>
          </a:p>
        </p:txBody>
      </p:sp>
      <p:sp>
        <p:nvSpPr>
          <p:cNvPr id="131" name="TextBox 5"/>
          <p:cNvSpPr txBox="1"/>
          <p:nvPr/>
        </p:nvSpPr>
        <p:spPr>
          <a:xfrm>
            <a:off x="777238" y="3291841"/>
            <a:ext cx="4937762" cy="3853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">
                <a:solidFill>
                  <a:srgbClr val="00A89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Hipótesis</a:t>
            </a:r>
          </a:p>
        </p:txBody>
      </p:sp>
      <p:sp>
        <p:nvSpPr>
          <p:cNvPr id="132" name="TextBox 6"/>
          <p:cNvSpPr txBox="1"/>
          <p:nvPr/>
        </p:nvSpPr>
        <p:spPr>
          <a:xfrm>
            <a:off x="777238" y="3840480"/>
            <a:ext cx="4937762" cy="1062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La información estructural extraída por un modelo de segmentación debería mejorar la capacidad del clasificador al proveer representaciones mas ricas de la anatomía retinal.</a:t>
            </a:r>
          </a:p>
        </p:txBody>
      </p:sp>
      <p:sp>
        <p:nvSpPr>
          <p:cNvPr id="133" name="TextBox 7"/>
          <p:cNvSpPr txBox="1"/>
          <p:nvPr/>
        </p:nvSpPr>
        <p:spPr>
          <a:xfrm>
            <a:off x="6629399" y="3291841"/>
            <a:ext cx="4937763" cy="3853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">
                <a:solidFill>
                  <a:srgbClr val="00A89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Enfoque experimental</a:t>
            </a:r>
          </a:p>
        </p:txBody>
      </p:sp>
      <p:sp>
        <p:nvSpPr>
          <p:cNvPr id="134" name="TextBox 8"/>
          <p:cNvSpPr txBox="1"/>
          <p:nvPr/>
        </p:nvSpPr>
        <p:spPr>
          <a:xfrm>
            <a:off x="6629399" y="3840480"/>
            <a:ext cx="4937763" cy="277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1. Entrenar UNet++ para segmentar 8 capas retinales</a:t>
            </a:r>
          </a:p>
        </p:txBody>
      </p:sp>
      <p:sp>
        <p:nvSpPr>
          <p:cNvPr id="135" name="TextBox 9"/>
          <p:cNvSpPr txBox="1"/>
          <p:nvPr/>
        </p:nvSpPr>
        <p:spPr>
          <a:xfrm>
            <a:off x="6629399" y="4343400"/>
            <a:ext cx="4937763" cy="2779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2. Entrenar ResNet50 sobre imágenes OCT originales</a:t>
            </a:r>
          </a:p>
        </p:txBody>
      </p:sp>
      <p:sp>
        <p:nvSpPr>
          <p:cNvPr id="136" name="TextBox 10"/>
          <p:cNvSpPr txBox="1"/>
          <p:nvPr/>
        </p:nvSpPr>
        <p:spPr>
          <a:xfrm>
            <a:off x="6629399" y="4846321"/>
            <a:ext cx="4937763" cy="277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3. Entrenar ResNet50 sobre mascaras de segmentación</a:t>
            </a:r>
          </a:p>
        </p:txBody>
      </p:sp>
      <p:sp>
        <p:nvSpPr>
          <p:cNvPr id="137" name="TextBox 11"/>
          <p:cNvSpPr txBox="1"/>
          <p:nvPr/>
        </p:nvSpPr>
        <p:spPr>
          <a:xfrm>
            <a:off x="6629399" y="5349241"/>
            <a:ext cx="4937763" cy="277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4. Comparar ambos clasificadores aislando la variable de input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0" name="TextBox 2"/>
          <p:cNvSpPr txBox="1"/>
          <p:nvPr/>
        </p:nvSpPr>
        <p:spPr>
          <a:xfrm>
            <a:off x="777239" y="457199"/>
            <a:ext cx="9052561" cy="542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Datasets</a:t>
            </a:r>
          </a:p>
        </p:txBody>
      </p:sp>
      <p:sp>
        <p:nvSpPr>
          <p:cNvPr id="141" name="Rectangle 3"/>
          <p:cNvSpPr/>
          <p:nvPr/>
        </p:nvSpPr>
        <p:spPr>
          <a:xfrm>
            <a:off x="731518" y="1463038"/>
            <a:ext cx="5120644" cy="411480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2" name="Rectangle 4"/>
          <p:cNvSpPr/>
          <p:nvPr/>
        </p:nvSpPr>
        <p:spPr>
          <a:xfrm>
            <a:off x="731518" y="1463039"/>
            <a:ext cx="5120644" cy="54864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3" name="TextBox 5"/>
          <p:cNvSpPr txBox="1"/>
          <p:nvPr/>
        </p:nvSpPr>
        <p:spPr>
          <a:xfrm>
            <a:off x="1051558" y="1570817"/>
            <a:ext cx="4480562" cy="33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Dataset de segmentación</a:t>
            </a:r>
          </a:p>
        </p:txBody>
      </p:sp>
      <p:sp>
        <p:nvSpPr>
          <p:cNvPr id="144" name="TextBox 6"/>
          <p:cNvSpPr txBox="1"/>
          <p:nvPr/>
        </p:nvSpPr>
        <p:spPr>
          <a:xfrm>
            <a:off x="1051558" y="2286000"/>
            <a:ext cx="448056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Fuente: Kaggle - Retinal Layer Segmentation</a:t>
            </a:r>
          </a:p>
        </p:txBody>
      </p:sp>
      <p:sp>
        <p:nvSpPr>
          <p:cNvPr id="145" name="TextBox 7"/>
          <p:cNvSpPr txBox="1"/>
          <p:nvPr/>
        </p:nvSpPr>
        <p:spPr>
          <a:xfrm>
            <a:off x="1051558" y="2926079"/>
            <a:ext cx="448056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Formato: archivos .npy (256 x 512 px, escala de grises)</a:t>
            </a:r>
          </a:p>
        </p:txBody>
      </p:sp>
      <p:sp>
        <p:nvSpPr>
          <p:cNvPr id="146" name="TextBox 8"/>
          <p:cNvSpPr txBox="1"/>
          <p:nvPr/>
        </p:nvSpPr>
        <p:spPr>
          <a:xfrm>
            <a:off x="1051558" y="3566160"/>
            <a:ext cx="448056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9 clases: 8 capas retinales + fondo</a:t>
            </a:r>
          </a:p>
        </p:txBody>
      </p:sp>
      <p:sp>
        <p:nvSpPr>
          <p:cNvPr id="147" name="TextBox 9"/>
          <p:cNvSpPr txBox="1"/>
          <p:nvPr/>
        </p:nvSpPr>
        <p:spPr>
          <a:xfrm>
            <a:off x="1051558" y="4206241"/>
            <a:ext cx="448056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Clase 0 (fondo) dominante; capas 1-7 balanceadas</a:t>
            </a:r>
          </a:p>
        </p:txBody>
      </p:sp>
      <p:sp>
        <p:nvSpPr>
          <p:cNvPr id="148" name="TextBox 10"/>
          <p:cNvSpPr txBox="1"/>
          <p:nvPr/>
        </p:nvSpPr>
        <p:spPr>
          <a:xfrm>
            <a:off x="1051558" y="4846321"/>
            <a:ext cx="448056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Máscaras de segmentación píxel a píxel</a:t>
            </a:r>
          </a:p>
        </p:txBody>
      </p:sp>
      <p:sp>
        <p:nvSpPr>
          <p:cNvPr id="149" name="Rectangle 11"/>
          <p:cNvSpPr/>
          <p:nvPr/>
        </p:nvSpPr>
        <p:spPr>
          <a:xfrm>
            <a:off x="6309359" y="1463038"/>
            <a:ext cx="5120642" cy="411480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0" name="Rectangle 12"/>
          <p:cNvSpPr/>
          <p:nvPr/>
        </p:nvSpPr>
        <p:spPr>
          <a:xfrm>
            <a:off x="6309359" y="1463039"/>
            <a:ext cx="5120642" cy="54864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1" name="TextBox 13"/>
          <p:cNvSpPr txBox="1"/>
          <p:nvPr/>
        </p:nvSpPr>
        <p:spPr>
          <a:xfrm>
            <a:off x="6629399" y="1570817"/>
            <a:ext cx="4480562" cy="33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Dataset de clasificación</a:t>
            </a:r>
          </a:p>
        </p:txBody>
      </p:sp>
      <p:sp>
        <p:nvSpPr>
          <p:cNvPr id="152" name="TextBox 14"/>
          <p:cNvSpPr txBox="1"/>
          <p:nvPr/>
        </p:nvSpPr>
        <p:spPr>
          <a:xfrm>
            <a:off x="6629399" y="2286000"/>
            <a:ext cx="4480563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Fuente: Kermany et al. (2018) - Cell</a:t>
            </a:r>
          </a:p>
        </p:txBody>
      </p:sp>
      <p:sp>
        <p:nvSpPr>
          <p:cNvPr id="153" name="TextBox 15"/>
          <p:cNvSpPr txBox="1"/>
          <p:nvPr/>
        </p:nvSpPr>
        <p:spPr>
          <a:xfrm>
            <a:off x="6629399" y="2926079"/>
            <a:ext cx="4480563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4 clases: CNV, DME, DRUSEN, NORMAL</a:t>
            </a:r>
          </a:p>
        </p:txBody>
      </p:sp>
      <p:sp>
        <p:nvSpPr>
          <p:cNvPr id="154" name="TextBox 16"/>
          <p:cNvSpPr txBox="1"/>
          <p:nvPr/>
        </p:nvSpPr>
        <p:spPr>
          <a:xfrm>
            <a:off x="6629399" y="3566160"/>
            <a:ext cx="4480563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Train: ~8,000 imágenes (WeightedRandomSampler)</a:t>
            </a:r>
          </a:p>
        </p:txBody>
      </p:sp>
      <p:sp>
        <p:nvSpPr>
          <p:cNvPr id="155" name="TextBox 17"/>
          <p:cNvSpPr txBox="1"/>
          <p:nvPr/>
        </p:nvSpPr>
        <p:spPr>
          <a:xfrm>
            <a:off x="6629399" y="4206241"/>
            <a:ext cx="4480563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Validación: 2,032 imágenes</a:t>
            </a:r>
          </a:p>
        </p:txBody>
      </p:sp>
      <p:sp>
        <p:nvSpPr>
          <p:cNvPr id="156" name="TextBox 18"/>
          <p:cNvSpPr txBox="1"/>
          <p:nvPr/>
        </p:nvSpPr>
        <p:spPr>
          <a:xfrm>
            <a:off x="6629399" y="4846321"/>
            <a:ext cx="4480563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Test: 4,015 imágenes (224 x 224 px)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9" name="TextBox 2"/>
          <p:cNvSpPr txBox="1"/>
          <p:nvPr/>
        </p:nvSpPr>
        <p:spPr>
          <a:xfrm>
            <a:off x="777239" y="457199"/>
            <a:ext cx="9052561" cy="542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Pipeline propuesto</a:t>
            </a:r>
          </a:p>
        </p:txBody>
      </p:sp>
      <p:sp>
        <p:nvSpPr>
          <p:cNvPr id="160" name="TextBox 3"/>
          <p:cNvSpPr txBox="1"/>
          <p:nvPr/>
        </p:nvSpPr>
        <p:spPr>
          <a:xfrm>
            <a:off x="777238" y="1463039"/>
            <a:ext cx="2651762" cy="300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00A89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Camino 1: clasificación directa</a:t>
            </a:r>
          </a:p>
        </p:txBody>
      </p:sp>
      <p:sp>
        <p:nvSpPr>
          <p:cNvPr id="161" name="Rectangle 4"/>
          <p:cNvSpPr/>
          <p:nvPr/>
        </p:nvSpPr>
        <p:spPr>
          <a:xfrm>
            <a:off x="731519" y="2011678"/>
            <a:ext cx="2286001" cy="1097282"/>
          </a:xfrm>
          <a:prstGeom prst="rect">
            <a:avLst/>
          </a:prstGeom>
          <a:solidFill>
            <a:srgbClr val="CADC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2" name="TextBox 5"/>
          <p:cNvSpPr txBox="1"/>
          <p:nvPr/>
        </p:nvSpPr>
        <p:spPr>
          <a:xfrm>
            <a:off x="868678" y="2227233"/>
            <a:ext cx="2011683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6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Imagen OCT</a:t>
            </a:r>
          </a:p>
        </p:txBody>
      </p:sp>
      <p:sp>
        <p:nvSpPr>
          <p:cNvPr id="163" name="TextBox 6"/>
          <p:cNvSpPr txBox="1"/>
          <p:nvPr/>
        </p:nvSpPr>
        <p:spPr>
          <a:xfrm>
            <a:off x="868678" y="2592992"/>
            <a:ext cx="2011683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2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224 x 224 RGB</a:t>
            </a:r>
          </a:p>
        </p:txBody>
      </p:sp>
      <p:sp>
        <p:nvSpPr>
          <p:cNvPr id="164" name="Rectangle 7"/>
          <p:cNvSpPr/>
          <p:nvPr/>
        </p:nvSpPr>
        <p:spPr>
          <a:xfrm>
            <a:off x="3200399" y="2468878"/>
            <a:ext cx="731523" cy="54866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5" name="Rectangle 8"/>
          <p:cNvSpPr/>
          <p:nvPr/>
        </p:nvSpPr>
        <p:spPr>
          <a:xfrm>
            <a:off x="4114798" y="2011678"/>
            <a:ext cx="2560323" cy="109728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6" name="TextBox 9"/>
          <p:cNvSpPr txBox="1"/>
          <p:nvPr/>
        </p:nvSpPr>
        <p:spPr>
          <a:xfrm>
            <a:off x="4251959" y="2246848"/>
            <a:ext cx="2286002" cy="3330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ResNet50</a:t>
            </a:r>
          </a:p>
        </p:txBody>
      </p:sp>
      <p:sp>
        <p:nvSpPr>
          <p:cNvPr id="167" name="TextBox 10"/>
          <p:cNvSpPr txBox="1"/>
          <p:nvPr/>
        </p:nvSpPr>
        <p:spPr>
          <a:xfrm>
            <a:off x="4251959" y="2612608"/>
            <a:ext cx="2286002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200">
                <a:solidFill>
                  <a:srgbClr val="CADCFC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ImageNet preentrenadas</a:t>
            </a:r>
          </a:p>
        </p:txBody>
      </p:sp>
      <p:sp>
        <p:nvSpPr>
          <p:cNvPr id="168" name="Rectangle 11"/>
          <p:cNvSpPr/>
          <p:nvPr/>
        </p:nvSpPr>
        <p:spPr>
          <a:xfrm>
            <a:off x="6857999" y="2468878"/>
            <a:ext cx="731523" cy="54866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9" name="Rectangle 12"/>
          <p:cNvSpPr/>
          <p:nvPr/>
        </p:nvSpPr>
        <p:spPr>
          <a:xfrm>
            <a:off x="7772400" y="2011678"/>
            <a:ext cx="3200400" cy="1097282"/>
          </a:xfrm>
          <a:prstGeom prst="rect">
            <a:avLst/>
          </a:prstGeom>
          <a:solidFill>
            <a:srgbClr val="2ECC7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0" name="TextBox 13"/>
          <p:cNvSpPr txBox="1"/>
          <p:nvPr/>
        </p:nvSpPr>
        <p:spPr>
          <a:xfrm>
            <a:off x="7909559" y="2250003"/>
            <a:ext cx="2926082" cy="3330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Predicción</a:t>
            </a:r>
          </a:p>
        </p:txBody>
      </p:sp>
      <p:sp>
        <p:nvSpPr>
          <p:cNvPr id="171" name="TextBox 14"/>
          <p:cNvSpPr txBox="1"/>
          <p:nvPr/>
        </p:nvSpPr>
        <p:spPr>
          <a:xfrm>
            <a:off x="7909559" y="2570043"/>
            <a:ext cx="2926082" cy="300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Accuracy: 92%</a:t>
            </a:r>
          </a:p>
        </p:txBody>
      </p:sp>
      <p:sp>
        <p:nvSpPr>
          <p:cNvPr id="172" name="TextBox 15"/>
          <p:cNvSpPr txBox="1"/>
          <p:nvPr/>
        </p:nvSpPr>
        <p:spPr>
          <a:xfrm>
            <a:off x="777238" y="3566160"/>
            <a:ext cx="4480562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00A89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Camino 2: segmentación + clasificación</a:t>
            </a:r>
          </a:p>
        </p:txBody>
      </p:sp>
      <p:sp>
        <p:nvSpPr>
          <p:cNvPr id="173" name="Rectangle 16"/>
          <p:cNvSpPr/>
          <p:nvPr/>
        </p:nvSpPr>
        <p:spPr>
          <a:xfrm>
            <a:off x="731519" y="4114798"/>
            <a:ext cx="1828801" cy="1097283"/>
          </a:xfrm>
          <a:prstGeom prst="rect">
            <a:avLst/>
          </a:prstGeom>
          <a:solidFill>
            <a:srgbClr val="CADC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4" name="TextBox 17"/>
          <p:cNvSpPr txBox="1"/>
          <p:nvPr/>
        </p:nvSpPr>
        <p:spPr>
          <a:xfrm>
            <a:off x="822958" y="4320541"/>
            <a:ext cx="1645923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Imagen OCT</a:t>
            </a:r>
          </a:p>
        </p:txBody>
      </p:sp>
      <p:sp>
        <p:nvSpPr>
          <p:cNvPr id="175" name="TextBox 18"/>
          <p:cNvSpPr txBox="1"/>
          <p:nvPr/>
        </p:nvSpPr>
        <p:spPr>
          <a:xfrm>
            <a:off x="822958" y="4686299"/>
            <a:ext cx="1645923" cy="2257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Escala de grises</a:t>
            </a:r>
          </a:p>
        </p:txBody>
      </p:sp>
      <p:sp>
        <p:nvSpPr>
          <p:cNvPr id="176" name="Rectangle 19"/>
          <p:cNvSpPr/>
          <p:nvPr/>
        </p:nvSpPr>
        <p:spPr>
          <a:xfrm>
            <a:off x="2697478" y="4572000"/>
            <a:ext cx="457202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7" name="Rectangle 20"/>
          <p:cNvSpPr/>
          <p:nvPr/>
        </p:nvSpPr>
        <p:spPr>
          <a:xfrm>
            <a:off x="3291840" y="4114798"/>
            <a:ext cx="2103122" cy="1097283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8" name="TextBox 21"/>
          <p:cNvSpPr txBox="1"/>
          <p:nvPr/>
        </p:nvSpPr>
        <p:spPr>
          <a:xfrm>
            <a:off x="3383279" y="4320541"/>
            <a:ext cx="1920241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UNet++</a:t>
            </a:r>
          </a:p>
        </p:txBody>
      </p:sp>
      <p:sp>
        <p:nvSpPr>
          <p:cNvPr id="179" name="TextBox 22"/>
          <p:cNvSpPr txBox="1"/>
          <p:nvPr/>
        </p:nvSpPr>
        <p:spPr>
          <a:xfrm>
            <a:off x="3383279" y="4686299"/>
            <a:ext cx="1920241" cy="2257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ResNet34 encoder</a:t>
            </a:r>
          </a:p>
        </p:txBody>
      </p:sp>
      <p:sp>
        <p:nvSpPr>
          <p:cNvPr id="180" name="Rectangle 23"/>
          <p:cNvSpPr/>
          <p:nvPr/>
        </p:nvSpPr>
        <p:spPr>
          <a:xfrm>
            <a:off x="5532120" y="4572000"/>
            <a:ext cx="457202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1" name="Rectangle 24"/>
          <p:cNvSpPr/>
          <p:nvPr/>
        </p:nvSpPr>
        <p:spPr>
          <a:xfrm>
            <a:off x="6126479" y="4114798"/>
            <a:ext cx="1645922" cy="1097283"/>
          </a:xfrm>
          <a:prstGeom prst="rect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2" name="TextBox 25"/>
          <p:cNvSpPr txBox="1"/>
          <p:nvPr/>
        </p:nvSpPr>
        <p:spPr>
          <a:xfrm>
            <a:off x="6217918" y="4328005"/>
            <a:ext cx="1463043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Máscara</a:t>
            </a:r>
          </a:p>
        </p:txBody>
      </p:sp>
      <p:sp>
        <p:nvSpPr>
          <p:cNvPr id="183" name="TextBox 26"/>
          <p:cNvSpPr txBox="1"/>
          <p:nvPr/>
        </p:nvSpPr>
        <p:spPr>
          <a:xfrm>
            <a:off x="6217918" y="4693764"/>
            <a:ext cx="1463043" cy="2257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8 capas</a:t>
            </a:r>
          </a:p>
        </p:txBody>
      </p:sp>
      <p:sp>
        <p:nvSpPr>
          <p:cNvPr id="184" name="Rectangle 27"/>
          <p:cNvSpPr/>
          <p:nvPr/>
        </p:nvSpPr>
        <p:spPr>
          <a:xfrm>
            <a:off x="7909559" y="4572000"/>
            <a:ext cx="457202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5" name="Rectangle 28"/>
          <p:cNvSpPr/>
          <p:nvPr/>
        </p:nvSpPr>
        <p:spPr>
          <a:xfrm>
            <a:off x="8503918" y="4114798"/>
            <a:ext cx="1828802" cy="1097283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6" name="TextBox 29"/>
          <p:cNvSpPr txBox="1"/>
          <p:nvPr/>
        </p:nvSpPr>
        <p:spPr>
          <a:xfrm>
            <a:off x="8595359" y="4303699"/>
            <a:ext cx="1645922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ResNet50</a:t>
            </a:r>
          </a:p>
        </p:txBody>
      </p:sp>
      <p:sp>
        <p:nvSpPr>
          <p:cNvPr id="187" name="TextBox 30"/>
          <p:cNvSpPr txBox="1"/>
          <p:nvPr/>
        </p:nvSpPr>
        <p:spPr>
          <a:xfrm>
            <a:off x="8595359" y="4669459"/>
            <a:ext cx="1645922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CADCFC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ImageNet</a:t>
            </a:r>
          </a:p>
        </p:txBody>
      </p:sp>
      <p:sp>
        <p:nvSpPr>
          <p:cNvPr id="188" name="Rectangle 31"/>
          <p:cNvSpPr/>
          <p:nvPr/>
        </p:nvSpPr>
        <p:spPr>
          <a:xfrm>
            <a:off x="10469880" y="4572000"/>
            <a:ext cx="320042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9" name="Rectangle 32"/>
          <p:cNvSpPr/>
          <p:nvPr/>
        </p:nvSpPr>
        <p:spPr>
          <a:xfrm>
            <a:off x="10058400" y="5486398"/>
            <a:ext cx="1371600" cy="731523"/>
          </a:xfrm>
          <a:prstGeom prst="rect">
            <a:avLst/>
          </a:prstGeom>
          <a:solidFill>
            <a:srgbClr val="E74C3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0" name="TextBox 33"/>
          <p:cNvSpPr txBox="1"/>
          <p:nvPr/>
        </p:nvSpPr>
        <p:spPr>
          <a:xfrm>
            <a:off x="10149839" y="5564703"/>
            <a:ext cx="118872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191" name="TextBox 34"/>
          <p:cNvSpPr txBox="1"/>
          <p:nvPr/>
        </p:nvSpPr>
        <p:spPr>
          <a:xfrm>
            <a:off x="10149839" y="5839024"/>
            <a:ext cx="1188722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72%</a:t>
            </a:r>
          </a:p>
        </p:txBody>
      </p:sp>
      <p:sp>
        <p:nvSpPr>
          <p:cNvPr id="192" name="Rectangle 35"/>
          <p:cNvSpPr/>
          <p:nvPr/>
        </p:nvSpPr>
        <p:spPr>
          <a:xfrm>
            <a:off x="731519" y="5943598"/>
            <a:ext cx="8686801" cy="64008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3" name="Rectangle 36"/>
          <p:cNvSpPr/>
          <p:nvPr/>
        </p:nvSpPr>
        <p:spPr>
          <a:xfrm>
            <a:off x="731519" y="5943598"/>
            <a:ext cx="54866" cy="640083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4" name="TextBox 37"/>
          <p:cNvSpPr txBox="1"/>
          <p:nvPr/>
        </p:nvSpPr>
        <p:spPr>
          <a:xfrm>
            <a:off x="1005839" y="6123240"/>
            <a:ext cx="8138160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Mismo clasificador (ResNet50), diferente input. Esto aísla el efecto de la segmentación.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7" name="TextBox 2"/>
          <p:cNvSpPr txBox="1"/>
          <p:nvPr/>
        </p:nvSpPr>
        <p:spPr>
          <a:xfrm>
            <a:off x="777239" y="457199"/>
            <a:ext cx="9052561" cy="542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Modelo de segmentación: UNet++</a:t>
            </a:r>
          </a:p>
        </p:txBody>
      </p:sp>
      <p:sp>
        <p:nvSpPr>
          <p:cNvPr id="198" name="TextBox 3"/>
          <p:cNvSpPr txBox="1"/>
          <p:nvPr/>
        </p:nvSpPr>
        <p:spPr>
          <a:xfrm>
            <a:off x="777238" y="1463039"/>
            <a:ext cx="5394962" cy="3401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000">
                <a:solidFill>
                  <a:srgbClr val="00A89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Arquitectura y configuración</a:t>
            </a:r>
          </a:p>
        </p:txBody>
      </p:sp>
      <p:sp>
        <p:nvSpPr>
          <p:cNvPr id="199" name="TextBox 4"/>
          <p:cNvSpPr txBox="1"/>
          <p:nvPr/>
        </p:nvSpPr>
        <p:spPr>
          <a:xfrm>
            <a:off x="960118" y="2103121"/>
            <a:ext cx="1554484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Modelo:</a:t>
            </a:r>
          </a:p>
        </p:txBody>
      </p:sp>
      <p:sp>
        <p:nvSpPr>
          <p:cNvPr id="200" name="TextBox 5"/>
          <p:cNvSpPr txBox="1"/>
          <p:nvPr/>
        </p:nvSpPr>
        <p:spPr>
          <a:xfrm>
            <a:off x="2606039" y="2103121"/>
            <a:ext cx="356616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UNet++ (Nested U-Net)</a:t>
            </a:r>
          </a:p>
        </p:txBody>
      </p:sp>
      <p:sp>
        <p:nvSpPr>
          <p:cNvPr id="201" name="TextBox 6"/>
          <p:cNvSpPr txBox="1"/>
          <p:nvPr/>
        </p:nvSpPr>
        <p:spPr>
          <a:xfrm>
            <a:off x="960118" y="2560321"/>
            <a:ext cx="1554484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Encoder:</a:t>
            </a:r>
          </a:p>
        </p:txBody>
      </p:sp>
      <p:sp>
        <p:nvSpPr>
          <p:cNvPr id="202" name="TextBox 7"/>
          <p:cNvSpPr txBox="1"/>
          <p:nvPr/>
        </p:nvSpPr>
        <p:spPr>
          <a:xfrm>
            <a:off x="2606039" y="2560321"/>
            <a:ext cx="3745048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ResNet34 (con pesos pre-entrenados / Imagenet)</a:t>
            </a:r>
          </a:p>
        </p:txBody>
      </p:sp>
      <p:sp>
        <p:nvSpPr>
          <p:cNvPr id="203" name="TextBox 8"/>
          <p:cNvSpPr txBox="1"/>
          <p:nvPr/>
        </p:nvSpPr>
        <p:spPr>
          <a:xfrm>
            <a:off x="960118" y="3017521"/>
            <a:ext cx="1554484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Input:</a:t>
            </a:r>
          </a:p>
        </p:txBody>
      </p:sp>
      <p:sp>
        <p:nvSpPr>
          <p:cNvPr id="204" name="TextBox 9"/>
          <p:cNvSpPr txBox="1"/>
          <p:nvPr/>
        </p:nvSpPr>
        <p:spPr>
          <a:xfrm>
            <a:off x="2606039" y="3017521"/>
            <a:ext cx="356616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1 canal, 224 x 512 px</a:t>
            </a:r>
          </a:p>
        </p:txBody>
      </p:sp>
      <p:sp>
        <p:nvSpPr>
          <p:cNvPr id="205" name="TextBox 10"/>
          <p:cNvSpPr txBox="1"/>
          <p:nvPr/>
        </p:nvSpPr>
        <p:spPr>
          <a:xfrm>
            <a:off x="960118" y="3474721"/>
            <a:ext cx="1554484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Output:</a:t>
            </a:r>
          </a:p>
        </p:txBody>
      </p:sp>
      <p:sp>
        <p:nvSpPr>
          <p:cNvPr id="206" name="TextBox 11"/>
          <p:cNvSpPr txBox="1"/>
          <p:nvPr/>
        </p:nvSpPr>
        <p:spPr>
          <a:xfrm>
            <a:off x="2606039" y="3474721"/>
            <a:ext cx="356616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8 clases de capas retinales</a:t>
            </a:r>
          </a:p>
        </p:txBody>
      </p:sp>
      <p:sp>
        <p:nvSpPr>
          <p:cNvPr id="207" name="TextBox 12"/>
          <p:cNvSpPr txBox="1"/>
          <p:nvPr/>
        </p:nvSpPr>
        <p:spPr>
          <a:xfrm>
            <a:off x="960118" y="3931921"/>
            <a:ext cx="1554484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Loss:</a:t>
            </a:r>
          </a:p>
        </p:txBody>
      </p:sp>
      <p:sp>
        <p:nvSpPr>
          <p:cNvPr id="208" name="TextBox 13"/>
          <p:cNvSpPr txBox="1"/>
          <p:nvPr/>
        </p:nvSpPr>
        <p:spPr>
          <a:xfrm>
            <a:off x="2606039" y="3931921"/>
            <a:ext cx="356616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CrossEntropyLoss</a:t>
            </a:r>
          </a:p>
        </p:txBody>
      </p:sp>
      <p:sp>
        <p:nvSpPr>
          <p:cNvPr id="209" name="TextBox 14"/>
          <p:cNvSpPr txBox="1"/>
          <p:nvPr/>
        </p:nvSpPr>
        <p:spPr>
          <a:xfrm>
            <a:off x="960118" y="4389121"/>
            <a:ext cx="1554484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Optimizer:</a:t>
            </a:r>
          </a:p>
        </p:txBody>
      </p:sp>
      <p:sp>
        <p:nvSpPr>
          <p:cNvPr id="210" name="TextBox 15"/>
          <p:cNvSpPr txBox="1"/>
          <p:nvPr/>
        </p:nvSpPr>
        <p:spPr>
          <a:xfrm>
            <a:off x="2606039" y="4389121"/>
            <a:ext cx="356616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Adam (lr = 1e-3)</a:t>
            </a:r>
          </a:p>
        </p:txBody>
      </p:sp>
      <p:sp>
        <p:nvSpPr>
          <p:cNvPr id="211" name="TextBox 16"/>
          <p:cNvSpPr txBox="1"/>
          <p:nvPr/>
        </p:nvSpPr>
        <p:spPr>
          <a:xfrm>
            <a:off x="960118" y="4846321"/>
            <a:ext cx="1554484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Split:</a:t>
            </a:r>
          </a:p>
        </p:txBody>
      </p:sp>
      <p:sp>
        <p:nvSpPr>
          <p:cNvPr id="212" name="TextBox 17"/>
          <p:cNvSpPr txBox="1"/>
          <p:nvPr/>
        </p:nvSpPr>
        <p:spPr>
          <a:xfrm>
            <a:off x="2606039" y="4846321"/>
            <a:ext cx="356616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80% train / 20% val (176/44 imgs)</a:t>
            </a:r>
          </a:p>
        </p:txBody>
      </p:sp>
      <p:sp>
        <p:nvSpPr>
          <p:cNvPr id="213" name="TextBox 18"/>
          <p:cNvSpPr txBox="1"/>
          <p:nvPr/>
        </p:nvSpPr>
        <p:spPr>
          <a:xfrm>
            <a:off x="960118" y="5303521"/>
            <a:ext cx="1554484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Epochs:</a:t>
            </a:r>
          </a:p>
        </p:txBody>
      </p:sp>
      <p:sp>
        <p:nvSpPr>
          <p:cNvPr id="214" name="TextBox 19"/>
          <p:cNvSpPr txBox="1"/>
          <p:nvPr/>
        </p:nvSpPr>
        <p:spPr>
          <a:xfrm>
            <a:off x="2606039" y="5303521"/>
            <a:ext cx="356616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50, batch size 8</a:t>
            </a:r>
          </a:p>
        </p:txBody>
      </p:sp>
      <p:sp>
        <p:nvSpPr>
          <p:cNvPr id="215" name="TextBox 20"/>
          <p:cNvSpPr txBox="1"/>
          <p:nvPr/>
        </p:nvSpPr>
        <p:spPr>
          <a:xfrm>
            <a:off x="6903718" y="1463039"/>
            <a:ext cx="4480563" cy="3401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000">
                <a:solidFill>
                  <a:srgbClr val="00A89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Justificación técnica</a:t>
            </a:r>
          </a:p>
        </p:txBody>
      </p:sp>
      <p:sp>
        <p:nvSpPr>
          <p:cNvPr id="216" name="Rectangle 21"/>
          <p:cNvSpPr/>
          <p:nvPr/>
        </p:nvSpPr>
        <p:spPr>
          <a:xfrm>
            <a:off x="6858000" y="2103120"/>
            <a:ext cx="4572000" cy="1371602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7" name="Rectangle 22"/>
          <p:cNvSpPr/>
          <p:nvPr/>
        </p:nvSpPr>
        <p:spPr>
          <a:xfrm>
            <a:off x="6858000" y="2103120"/>
            <a:ext cx="54864" cy="1371602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8" name="TextBox 23"/>
          <p:cNvSpPr txBox="1"/>
          <p:nvPr/>
        </p:nvSpPr>
        <p:spPr>
          <a:xfrm>
            <a:off x="7132318" y="2287138"/>
            <a:ext cx="4023363" cy="277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5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¿Por qué UNet++ sobre U-Net?</a:t>
            </a:r>
          </a:p>
        </p:txBody>
      </p:sp>
      <p:sp>
        <p:nvSpPr>
          <p:cNvPr id="219" name="TextBox 24"/>
          <p:cNvSpPr txBox="1"/>
          <p:nvPr/>
        </p:nvSpPr>
        <p:spPr>
          <a:xfrm>
            <a:off x="7132318" y="2652898"/>
            <a:ext cx="4023363" cy="461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Las conexiones densas anidadas mejoran la captura de detalles finos en capas retinales delgadas, críticas en OCT.</a:t>
            </a:r>
          </a:p>
        </p:txBody>
      </p:sp>
      <p:sp>
        <p:nvSpPr>
          <p:cNvPr id="220" name="Rectangle 25"/>
          <p:cNvSpPr/>
          <p:nvPr/>
        </p:nvSpPr>
        <p:spPr>
          <a:xfrm>
            <a:off x="6858000" y="3749037"/>
            <a:ext cx="4572000" cy="1371602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1" name="Rectangle 26"/>
          <p:cNvSpPr/>
          <p:nvPr/>
        </p:nvSpPr>
        <p:spPr>
          <a:xfrm>
            <a:off x="6858000" y="3749037"/>
            <a:ext cx="54864" cy="1371602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2" name="TextBox 27"/>
          <p:cNvSpPr txBox="1"/>
          <p:nvPr/>
        </p:nvSpPr>
        <p:spPr>
          <a:xfrm>
            <a:off x="7132318" y="3963978"/>
            <a:ext cx="4023362" cy="277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5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¿Por qué ResNet34 como encoder?</a:t>
            </a:r>
          </a:p>
        </p:txBody>
      </p:sp>
      <p:sp>
        <p:nvSpPr>
          <p:cNvPr id="223" name="TextBox 28"/>
          <p:cNvSpPr txBox="1"/>
          <p:nvPr/>
        </p:nvSpPr>
        <p:spPr>
          <a:xfrm>
            <a:off x="7132318" y="4373356"/>
            <a:ext cx="4023362" cy="461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Balance entre capacidad de representación y costo computacional para imágenes médicas de un solo canal.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6" name="TextBox 2"/>
          <p:cNvSpPr txBox="1"/>
          <p:nvPr/>
        </p:nvSpPr>
        <p:spPr>
          <a:xfrm>
            <a:off x="777239" y="457199"/>
            <a:ext cx="9052561" cy="542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Resultados: segmentación</a:t>
            </a:r>
          </a:p>
        </p:txBody>
      </p:sp>
      <p:sp>
        <p:nvSpPr>
          <p:cNvPr id="227" name="TextBox 3"/>
          <p:cNvSpPr txBox="1"/>
          <p:nvPr/>
        </p:nvSpPr>
        <p:spPr>
          <a:xfrm>
            <a:off x="777238" y="1371600"/>
            <a:ext cx="3108962" cy="7457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5200">
                <a:solidFill>
                  <a:srgbClr val="00A89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0.981</a:t>
            </a:r>
          </a:p>
        </p:txBody>
      </p:sp>
      <p:sp>
        <p:nvSpPr>
          <p:cNvPr id="228" name="TextBox 4"/>
          <p:cNvSpPr txBox="1"/>
          <p:nvPr/>
        </p:nvSpPr>
        <p:spPr>
          <a:xfrm>
            <a:off x="777238" y="2103121"/>
            <a:ext cx="3108962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6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Dice (macro)</a:t>
            </a:r>
          </a:p>
        </p:txBody>
      </p:sp>
      <p:sp>
        <p:nvSpPr>
          <p:cNvPr id="229" name="TextBox 5"/>
          <p:cNvSpPr txBox="1"/>
          <p:nvPr/>
        </p:nvSpPr>
        <p:spPr>
          <a:xfrm>
            <a:off x="4617718" y="1371600"/>
            <a:ext cx="3108963" cy="7457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52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0.964</a:t>
            </a:r>
          </a:p>
        </p:txBody>
      </p:sp>
      <p:sp>
        <p:nvSpPr>
          <p:cNvPr id="230" name="TextBox 6"/>
          <p:cNvSpPr txBox="1"/>
          <p:nvPr/>
        </p:nvSpPr>
        <p:spPr>
          <a:xfrm>
            <a:off x="4617718" y="2103121"/>
            <a:ext cx="3108963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6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IoU (macro)</a:t>
            </a:r>
          </a:p>
        </p:txBody>
      </p:sp>
      <p:sp>
        <p:nvSpPr>
          <p:cNvPr id="231" name="TextBox 7"/>
          <p:cNvSpPr txBox="1"/>
          <p:nvPr/>
        </p:nvSpPr>
        <p:spPr>
          <a:xfrm>
            <a:off x="8458199" y="1371600"/>
            <a:ext cx="3108963" cy="7457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52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1.53</a:t>
            </a:r>
          </a:p>
        </p:txBody>
      </p:sp>
      <p:sp>
        <p:nvSpPr>
          <p:cNvPr id="232" name="TextBox 8"/>
          <p:cNvSpPr txBox="1"/>
          <p:nvPr/>
        </p:nvSpPr>
        <p:spPr>
          <a:xfrm>
            <a:off x="8458199" y="2103121"/>
            <a:ext cx="3108963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6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Hausdorff Dist. (px)</a:t>
            </a:r>
          </a:p>
        </p:txBody>
      </p:sp>
      <p:sp>
        <p:nvSpPr>
          <p:cNvPr id="233" name="TextBox 9"/>
          <p:cNvSpPr txBox="1"/>
          <p:nvPr/>
        </p:nvSpPr>
        <p:spPr>
          <a:xfrm>
            <a:off x="777238" y="2926079"/>
            <a:ext cx="5394962" cy="3330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Dice y Hausdorff por capa retinal</a:t>
            </a:r>
          </a:p>
        </p:txBody>
      </p:sp>
      <p:graphicFrame>
        <p:nvGraphicFramePr>
          <p:cNvPr id="234" name="Table 10"/>
          <p:cNvGraphicFramePr/>
          <p:nvPr/>
        </p:nvGraphicFramePr>
        <p:xfrm>
          <a:off x="731519" y="3474720"/>
          <a:ext cx="10698482" cy="1097282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ILM-RNFL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RNFL-GCL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GCL-IPL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IPL-INL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INL-OPL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OPL-ONL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ONL-IS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IS-OS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0.999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0.980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0.989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0.970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0.967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0.990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0.978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0.979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5" name="TextBox 11"/>
          <p:cNvSpPr txBox="1"/>
          <p:nvPr/>
        </p:nvSpPr>
        <p:spPr>
          <a:xfrm>
            <a:off x="777238" y="4846321"/>
            <a:ext cx="5394962" cy="33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Convergencia del entrenamiento</a:t>
            </a:r>
          </a:p>
        </p:txBody>
      </p:sp>
      <p:graphicFrame>
        <p:nvGraphicFramePr>
          <p:cNvPr id="236" name="Table 12"/>
          <p:cNvGraphicFramePr/>
          <p:nvPr/>
        </p:nvGraphicFramePr>
        <p:xfrm>
          <a:off x="731519" y="5303520"/>
          <a:ext cx="7315201" cy="1371602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22860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Epoch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Train Loss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Val Loss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Mejora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0.9495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0.5684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-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0.0932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0.0854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85%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0.0530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0.0583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32%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30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0.0315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0.0354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39%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50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0.0192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0.0201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43%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39" name="TextBox 2"/>
          <p:cNvSpPr txBox="1"/>
          <p:nvPr/>
        </p:nvSpPr>
        <p:spPr>
          <a:xfrm>
            <a:off x="777239" y="457199"/>
            <a:ext cx="9052561" cy="542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Clasificación: 3 estrategias</a:t>
            </a:r>
          </a:p>
        </p:txBody>
      </p:sp>
      <p:sp>
        <p:nvSpPr>
          <p:cNvPr id="240" name="Rectangle 3"/>
          <p:cNvSpPr/>
          <p:nvPr/>
        </p:nvSpPr>
        <p:spPr>
          <a:xfrm>
            <a:off x="731520" y="1371600"/>
            <a:ext cx="3383280" cy="4754880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1" name="Rectangle 4"/>
          <p:cNvSpPr/>
          <p:nvPr/>
        </p:nvSpPr>
        <p:spPr>
          <a:xfrm>
            <a:off x="731520" y="1371599"/>
            <a:ext cx="3383280" cy="548643"/>
          </a:xfrm>
          <a:prstGeom prst="rect">
            <a:avLst/>
          </a:prstGeom>
          <a:solidFill>
            <a:srgbClr val="2ECC7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2" name="TextBox 5"/>
          <p:cNvSpPr txBox="1"/>
          <p:nvPr/>
        </p:nvSpPr>
        <p:spPr>
          <a:xfrm>
            <a:off x="868678" y="1506922"/>
            <a:ext cx="3108962" cy="277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5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Modelo 1: imágenes originales</a:t>
            </a:r>
          </a:p>
        </p:txBody>
      </p:sp>
      <p:sp>
        <p:nvSpPr>
          <p:cNvPr id="243" name="TextBox 6"/>
          <p:cNvSpPr txBox="1"/>
          <p:nvPr/>
        </p:nvSpPr>
        <p:spPr>
          <a:xfrm>
            <a:off x="960118" y="2103121"/>
            <a:ext cx="2926084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Input: OCT RGB (224x224)</a:t>
            </a:r>
          </a:p>
        </p:txBody>
      </p:sp>
      <p:sp>
        <p:nvSpPr>
          <p:cNvPr id="244" name="TextBox 7"/>
          <p:cNvSpPr txBox="1"/>
          <p:nvPr/>
        </p:nvSpPr>
        <p:spPr>
          <a:xfrm>
            <a:off x="960118" y="2560321"/>
            <a:ext cx="2926084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ResNet50 (ImageNet V2)</a:t>
            </a:r>
          </a:p>
        </p:txBody>
      </p:sp>
      <p:sp>
        <p:nvSpPr>
          <p:cNvPr id="245" name="TextBox 8"/>
          <p:cNvSpPr txBox="1"/>
          <p:nvPr/>
        </p:nvSpPr>
        <p:spPr>
          <a:xfrm>
            <a:off x="960118" y="3017521"/>
            <a:ext cx="2926084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FC(2048 -&gt; 4 clases)</a:t>
            </a:r>
          </a:p>
        </p:txBody>
      </p:sp>
      <p:sp>
        <p:nvSpPr>
          <p:cNvPr id="246" name="TextBox 9"/>
          <p:cNvSpPr txBox="1"/>
          <p:nvPr/>
        </p:nvSpPr>
        <p:spPr>
          <a:xfrm>
            <a:off x="960118" y="3474721"/>
            <a:ext cx="2926084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Adam, lr = 1e-4</a:t>
            </a:r>
          </a:p>
        </p:txBody>
      </p:sp>
      <p:sp>
        <p:nvSpPr>
          <p:cNvPr id="247" name="TextBox 10"/>
          <p:cNvSpPr txBox="1"/>
          <p:nvPr/>
        </p:nvSpPr>
        <p:spPr>
          <a:xfrm>
            <a:off x="960118" y="3931921"/>
            <a:ext cx="2926084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30 epochs, patience = 5</a:t>
            </a:r>
          </a:p>
        </p:txBody>
      </p:sp>
      <p:sp>
        <p:nvSpPr>
          <p:cNvPr id="248" name="TextBox 11"/>
          <p:cNvSpPr txBox="1"/>
          <p:nvPr/>
        </p:nvSpPr>
        <p:spPr>
          <a:xfrm>
            <a:off x="960118" y="4389121"/>
            <a:ext cx="2926084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ColorJitter (+-0.2)</a:t>
            </a:r>
          </a:p>
        </p:txBody>
      </p:sp>
      <p:sp>
        <p:nvSpPr>
          <p:cNvPr id="249" name="TextBox 12"/>
          <p:cNvSpPr txBox="1"/>
          <p:nvPr/>
        </p:nvSpPr>
        <p:spPr>
          <a:xfrm>
            <a:off x="960118" y="4846321"/>
            <a:ext cx="2926084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WeightedRandomSampler</a:t>
            </a:r>
          </a:p>
        </p:txBody>
      </p:sp>
      <p:sp>
        <p:nvSpPr>
          <p:cNvPr id="250" name="Rectangle 13"/>
          <p:cNvSpPr/>
          <p:nvPr/>
        </p:nvSpPr>
        <p:spPr>
          <a:xfrm>
            <a:off x="4389120" y="1371600"/>
            <a:ext cx="3383282" cy="4754880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1" name="Rectangle 14"/>
          <p:cNvSpPr/>
          <p:nvPr/>
        </p:nvSpPr>
        <p:spPr>
          <a:xfrm>
            <a:off x="4389120" y="1371599"/>
            <a:ext cx="3383282" cy="548643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2" name="TextBox 15"/>
          <p:cNvSpPr txBox="1"/>
          <p:nvPr/>
        </p:nvSpPr>
        <p:spPr>
          <a:xfrm>
            <a:off x="4526279" y="1506922"/>
            <a:ext cx="3108962" cy="277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5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Modelo 2: solo máscaras</a:t>
            </a:r>
          </a:p>
        </p:txBody>
      </p:sp>
      <p:sp>
        <p:nvSpPr>
          <p:cNvPr id="253" name="TextBox 16"/>
          <p:cNvSpPr txBox="1"/>
          <p:nvPr/>
        </p:nvSpPr>
        <p:spPr>
          <a:xfrm>
            <a:off x="4617718" y="2103121"/>
            <a:ext cx="2926083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Input: mascara UNet++ (frozen)</a:t>
            </a:r>
          </a:p>
        </p:txBody>
      </p:sp>
      <p:sp>
        <p:nvSpPr>
          <p:cNvPr id="254" name="TextBox 17"/>
          <p:cNvSpPr txBox="1"/>
          <p:nvPr/>
        </p:nvSpPr>
        <p:spPr>
          <a:xfrm>
            <a:off x="4617718" y="2560321"/>
            <a:ext cx="2926083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OCT -&gt; gray -&gt; UNet++ -&gt; mask</a:t>
            </a:r>
          </a:p>
        </p:txBody>
      </p:sp>
      <p:sp>
        <p:nvSpPr>
          <p:cNvPr id="255" name="TextBox 18"/>
          <p:cNvSpPr txBox="1"/>
          <p:nvPr/>
        </p:nvSpPr>
        <p:spPr>
          <a:xfrm>
            <a:off x="4617718" y="3017521"/>
            <a:ext cx="2926083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Valores 0-7/7, 3 canales</a:t>
            </a:r>
          </a:p>
        </p:txBody>
      </p:sp>
      <p:sp>
        <p:nvSpPr>
          <p:cNvPr id="256" name="TextBox 19"/>
          <p:cNvSpPr txBox="1"/>
          <p:nvPr/>
        </p:nvSpPr>
        <p:spPr>
          <a:xfrm>
            <a:off x="4617718" y="3474721"/>
            <a:ext cx="2926083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ResNet50 (ImageNet V2)</a:t>
            </a:r>
          </a:p>
        </p:txBody>
      </p:sp>
      <p:sp>
        <p:nvSpPr>
          <p:cNvPr id="257" name="TextBox 20"/>
          <p:cNvSpPr txBox="1"/>
          <p:nvPr/>
        </p:nvSpPr>
        <p:spPr>
          <a:xfrm>
            <a:off x="4617718" y="3931921"/>
            <a:ext cx="2926083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20 epochs, patience = 5</a:t>
            </a:r>
          </a:p>
        </p:txBody>
      </p:sp>
      <p:sp>
        <p:nvSpPr>
          <p:cNvPr id="258" name="TextBox 21"/>
          <p:cNvSpPr txBox="1"/>
          <p:nvPr/>
        </p:nvSpPr>
        <p:spPr>
          <a:xfrm>
            <a:off x="4617718" y="4389121"/>
            <a:ext cx="2926083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HFlip + VFlip</a:t>
            </a:r>
          </a:p>
        </p:txBody>
      </p:sp>
      <p:sp>
        <p:nvSpPr>
          <p:cNvPr id="259" name="TextBox 22"/>
          <p:cNvSpPr txBox="1"/>
          <p:nvPr/>
        </p:nvSpPr>
        <p:spPr>
          <a:xfrm>
            <a:off x="4617718" y="4846321"/>
            <a:ext cx="2926083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Batch size: 16</a:t>
            </a:r>
          </a:p>
        </p:txBody>
      </p:sp>
      <p:sp>
        <p:nvSpPr>
          <p:cNvPr id="260" name="Rectangle 23"/>
          <p:cNvSpPr/>
          <p:nvPr/>
        </p:nvSpPr>
        <p:spPr>
          <a:xfrm>
            <a:off x="8046718" y="1371600"/>
            <a:ext cx="3383282" cy="4754880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1" name="Rectangle 24"/>
          <p:cNvSpPr/>
          <p:nvPr/>
        </p:nvSpPr>
        <p:spPr>
          <a:xfrm>
            <a:off x="8046718" y="1371599"/>
            <a:ext cx="3383282" cy="548643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2" name="TextBox 25"/>
          <p:cNvSpPr txBox="1"/>
          <p:nvPr/>
        </p:nvSpPr>
        <p:spPr>
          <a:xfrm>
            <a:off x="8183880" y="1506922"/>
            <a:ext cx="3108962" cy="277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5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Modelo 3: híbrido 4-ch</a:t>
            </a:r>
          </a:p>
        </p:txBody>
      </p:sp>
      <p:sp>
        <p:nvSpPr>
          <p:cNvPr id="263" name="TextBox 26"/>
          <p:cNvSpPr txBox="1"/>
          <p:nvPr/>
        </p:nvSpPr>
        <p:spPr>
          <a:xfrm>
            <a:off x="8275318" y="2103121"/>
            <a:ext cx="2926083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Input: RGB + máscara (4 ch)</a:t>
            </a:r>
          </a:p>
        </p:txBody>
      </p:sp>
      <p:sp>
        <p:nvSpPr>
          <p:cNvPr id="264" name="TextBox 27"/>
          <p:cNvSpPr txBox="1"/>
          <p:nvPr/>
        </p:nvSpPr>
        <p:spPr>
          <a:xfrm>
            <a:off x="8275318" y="2560321"/>
            <a:ext cx="2926083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Conv1 adaptada a 4 canales</a:t>
            </a:r>
          </a:p>
        </p:txBody>
      </p:sp>
      <p:sp>
        <p:nvSpPr>
          <p:cNvPr id="265" name="TextBox 28"/>
          <p:cNvSpPr txBox="1"/>
          <p:nvPr/>
        </p:nvSpPr>
        <p:spPr>
          <a:xfrm>
            <a:off x="8275318" y="3017521"/>
            <a:ext cx="2926083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4to filtro = promedio RGB</a:t>
            </a:r>
          </a:p>
        </p:txBody>
      </p:sp>
      <p:sp>
        <p:nvSpPr>
          <p:cNvPr id="266" name="TextBox 29"/>
          <p:cNvSpPr txBox="1"/>
          <p:nvPr/>
        </p:nvSpPr>
        <p:spPr>
          <a:xfrm>
            <a:off x="8275318" y="3474721"/>
            <a:ext cx="2926083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ResNet50 (ImageNet V2)</a:t>
            </a:r>
          </a:p>
        </p:txBody>
      </p:sp>
      <p:sp>
        <p:nvSpPr>
          <p:cNvPr id="267" name="TextBox 30"/>
          <p:cNvSpPr txBox="1"/>
          <p:nvPr/>
        </p:nvSpPr>
        <p:spPr>
          <a:xfrm>
            <a:off x="8275318" y="3931921"/>
            <a:ext cx="2926083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20 epochs, patience = 5</a:t>
            </a:r>
          </a:p>
        </p:txBody>
      </p:sp>
      <p:sp>
        <p:nvSpPr>
          <p:cNvPr id="268" name="TextBox 31"/>
          <p:cNvSpPr txBox="1"/>
          <p:nvPr/>
        </p:nvSpPr>
        <p:spPr>
          <a:xfrm>
            <a:off x="8275318" y="4389121"/>
            <a:ext cx="2926083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HFlip + VFlip coherentes</a:t>
            </a:r>
          </a:p>
        </p:txBody>
      </p:sp>
      <p:sp>
        <p:nvSpPr>
          <p:cNvPr id="269" name="TextBox 32"/>
          <p:cNvSpPr txBox="1"/>
          <p:nvPr/>
        </p:nvSpPr>
        <p:spPr>
          <a:xfrm>
            <a:off x="8275318" y="4846321"/>
            <a:ext cx="2926083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WeightedRandom, 8K/epoch</a:t>
            </a:r>
          </a:p>
        </p:txBody>
      </p:sp>
      <p:sp>
        <p:nvSpPr>
          <p:cNvPr id="270" name="Rectangle 33"/>
          <p:cNvSpPr/>
          <p:nvPr/>
        </p:nvSpPr>
        <p:spPr>
          <a:xfrm>
            <a:off x="731519" y="6309359"/>
            <a:ext cx="10698482" cy="5486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3" name="TextBox 2"/>
          <p:cNvSpPr txBox="1"/>
          <p:nvPr/>
        </p:nvSpPr>
        <p:spPr>
          <a:xfrm>
            <a:off x="777239" y="457199"/>
            <a:ext cx="9052561" cy="542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Resultados: clasificación comparativa</a:t>
            </a:r>
          </a:p>
        </p:txBody>
      </p:sp>
      <p:sp>
        <p:nvSpPr>
          <p:cNvPr id="274" name="Rectangle 3"/>
          <p:cNvSpPr/>
          <p:nvPr/>
        </p:nvSpPr>
        <p:spPr>
          <a:xfrm>
            <a:off x="731520" y="1280160"/>
            <a:ext cx="3383280" cy="1828802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5" name="TextBox 4"/>
          <p:cNvSpPr txBox="1"/>
          <p:nvPr/>
        </p:nvSpPr>
        <p:spPr>
          <a:xfrm>
            <a:off x="868678" y="1453187"/>
            <a:ext cx="310896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Mod. 1: originales</a:t>
            </a:r>
          </a:p>
        </p:txBody>
      </p:sp>
      <p:sp>
        <p:nvSpPr>
          <p:cNvPr id="276" name="TextBox 5"/>
          <p:cNvSpPr txBox="1"/>
          <p:nvPr/>
        </p:nvSpPr>
        <p:spPr>
          <a:xfrm>
            <a:off x="868678" y="1773228"/>
            <a:ext cx="3108962" cy="850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6000">
                <a:solidFill>
                  <a:srgbClr val="2ECC7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92%</a:t>
            </a:r>
          </a:p>
        </p:txBody>
      </p:sp>
      <p:sp>
        <p:nvSpPr>
          <p:cNvPr id="277" name="TextBox 6"/>
          <p:cNvSpPr txBox="1"/>
          <p:nvPr/>
        </p:nvSpPr>
        <p:spPr>
          <a:xfrm>
            <a:off x="868678" y="2687628"/>
            <a:ext cx="3108962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2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Accuracy test</a:t>
            </a:r>
          </a:p>
        </p:txBody>
      </p:sp>
      <p:sp>
        <p:nvSpPr>
          <p:cNvPr id="278" name="Rectangle 7"/>
          <p:cNvSpPr/>
          <p:nvPr/>
        </p:nvSpPr>
        <p:spPr>
          <a:xfrm>
            <a:off x="4389120" y="1280160"/>
            <a:ext cx="3383282" cy="1828802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9" name="TextBox 8"/>
          <p:cNvSpPr txBox="1"/>
          <p:nvPr/>
        </p:nvSpPr>
        <p:spPr>
          <a:xfrm>
            <a:off x="4526279" y="1453187"/>
            <a:ext cx="310896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Mod. 2: solo máscaras</a:t>
            </a:r>
          </a:p>
        </p:txBody>
      </p:sp>
      <p:sp>
        <p:nvSpPr>
          <p:cNvPr id="280" name="TextBox 9"/>
          <p:cNvSpPr txBox="1"/>
          <p:nvPr/>
        </p:nvSpPr>
        <p:spPr>
          <a:xfrm>
            <a:off x="4526279" y="1773228"/>
            <a:ext cx="3108962" cy="850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6000">
                <a:solidFill>
                  <a:srgbClr val="E74C3C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72%</a:t>
            </a:r>
          </a:p>
        </p:txBody>
      </p:sp>
      <p:sp>
        <p:nvSpPr>
          <p:cNvPr id="281" name="TextBox 10"/>
          <p:cNvSpPr txBox="1"/>
          <p:nvPr/>
        </p:nvSpPr>
        <p:spPr>
          <a:xfrm>
            <a:off x="4526279" y="2687628"/>
            <a:ext cx="3108962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2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Accuracy test</a:t>
            </a:r>
          </a:p>
        </p:txBody>
      </p:sp>
      <p:sp>
        <p:nvSpPr>
          <p:cNvPr id="282" name="Rectangle 11"/>
          <p:cNvSpPr/>
          <p:nvPr/>
        </p:nvSpPr>
        <p:spPr>
          <a:xfrm>
            <a:off x="8046718" y="1280160"/>
            <a:ext cx="3383282" cy="1828802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3" name="TextBox 12"/>
          <p:cNvSpPr txBox="1"/>
          <p:nvPr/>
        </p:nvSpPr>
        <p:spPr>
          <a:xfrm>
            <a:off x="8183878" y="1453187"/>
            <a:ext cx="310896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Mod. 3: híbrido 4-ch</a:t>
            </a:r>
          </a:p>
        </p:txBody>
      </p:sp>
      <p:sp>
        <p:nvSpPr>
          <p:cNvPr id="284" name="TextBox 13"/>
          <p:cNvSpPr txBox="1"/>
          <p:nvPr/>
        </p:nvSpPr>
        <p:spPr>
          <a:xfrm>
            <a:off x="8183878" y="1773228"/>
            <a:ext cx="3108962" cy="850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6000">
                <a:solidFill>
                  <a:srgbClr val="2ECC7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92%</a:t>
            </a:r>
          </a:p>
        </p:txBody>
      </p:sp>
      <p:sp>
        <p:nvSpPr>
          <p:cNvPr id="285" name="TextBox 14"/>
          <p:cNvSpPr txBox="1"/>
          <p:nvPr/>
        </p:nvSpPr>
        <p:spPr>
          <a:xfrm>
            <a:off x="8183878" y="2687628"/>
            <a:ext cx="3108962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2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Accuracy test</a:t>
            </a:r>
          </a:p>
        </p:txBody>
      </p:sp>
      <p:sp>
        <p:nvSpPr>
          <p:cNvPr id="286" name="Rectangle 15"/>
          <p:cNvSpPr/>
          <p:nvPr/>
        </p:nvSpPr>
        <p:spPr>
          <a:xfrm>
            <a:off x="731519" y="3200399"/>
            <a:ext cx="10698482" cy="548643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7" name="TextBox 16"/>
          <p:cNvSpPr txBox="1"/>
          <p:nvPr/>
        </p:nvSpPr>
        <p:spPr>
          <a:xfrm>
            <a:off x="1051558" y="3288601"/>
            <a:ext cx="10058404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El Modelo 3 (imagen + máscara) iguala al Modelo 1 (solo imagen). La segmentación no aporta información adicional.</a:t>
            </a:r>
          </a:p>
        </p:txBody>
      </p:sp>
      <p:sp>
        <p:nvSpPr>
          <p:cNvPr id="288" name="TextBox 17"/>
          <p:cNvSpPr txBox="1"/>
          <p:nvPr/>
        </p:nvSpPr>
        <p:spPr>
          <a:xfrm>
            <a:off x="777239" y="3931921"/>
            <a:ext cx="9052561" cy="3401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0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F1-Score por clase</a:t>
            </a:r>
          </a:p>
        </p:txBody>
      </p:sp>
      <p:graphicFrame>
        <p:nvGraphicFramePr>
          <p:cNvPr id="289" name="Table 18"/>
          <p:cNvGraphicFramePr/>
          <p:nvPr/>
        </p:nvGraphicFramePr>
        <p:xfrm>
          <a:off x="731519" y="4480559"/>
          <a:ext cx="10698482" cy="2103122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343917"/>
                <a:gridCol w="1826804"/>
                <a:gridCol w="1825164"/>
                <a:gridCol w="1922387"/>
                <a:gridCol w="1780861"/>
                <a:gridCol w="1964958"/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Clase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Mod. 1 (original)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Mod. 2 (máscara)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Mod. 3 (híbrido)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Delta 1 vs 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Delta 1 vs 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1A1A2E"/>
                          </a:solidFill>
                        </a:rPr>
                        <a:t>CNV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96167"/>
                          </a:solidFill>
                        </a:rPr>
                        <a:t>0.82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-0.12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-0.01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1A1A2E"/>
                          </a:solidFill>
                        </a:rPr>
                        <a:t>DME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96167"/>
                          </a:solidFill>
                        </a:rPr>
                        <a:t>0.78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-0.16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-0.01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1A1A2E"/>
                          </a:solidFill>
                        </a:rPr>
                        <a:t>DRUSEN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0.89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96167"/>
                          </a:solidFill>
                        </a:rPr>
                        <a:t>0.54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0.89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-0.35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1A1A2E"/>
                          </a:solidFill>
                        </a:rPr>
                        <a:t>NORMAL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96167"/>
                          </a:solidFill>
                        </a:rPr>
                        <a:t>0.71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-0.20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-0.01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92" name="TextBox 2"/>
          <p:cNvSpPr txBox="1"/>
          <p:nvPr/>
        </p:nvSpPr>
        <p:spPr>
          <a:xfrm>
            <a:off x="777239" y="457199"/>
            <a:ext cx="9052561" cy="542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Análisis: ¿por qué la segmentación no mejora?</a:t>
            </a:r>
          </a:p>
        </p:txBody>
      </p:sp>
      <p:sp>
        <p:nvSpPr>
          <p:cNvPr id="293" name="Rectangle 3"/>
          <p:cNvSpPr/>
          <p:nvPr/>
        </p:nvSpPr>
        <p:spPr>
          <a:xfrm>
            <a:off x="731519" y="1463038"/>
            <a:ext cx="10698482" cy="1051562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94" name="Rectangle 4"/>
          <p:cNvSpPr/>
          <p:nvPr/>
        </p:nvSpPr>
        <p:spPr>
          <a:xfrm>
            <a:off x="731519" y="1463038"/>
            <a:ext cx="73154" cy="105156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95" name="Oval 5"/>
          <p:cNvSpPr/>
          <p:nvPr/>
        </p:nvSpPr>
        <p:spPr>
          <a:xfrm>
            <a:off x="1005838" y="1645920"/>
            <a:ext cx="457203" cy="457203"/>
          </a:xfrm>
          <a:prstGeom prst="ellipse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96" name="TextBox 6"/>
          <p:cNvSpPr txBox="1"/>
          <p:nvPr/>
        </p:nvSpPr>
        <p:spPr>
          <a:xfrm>
            <a:off x="1051558" y="1645921"/>
            <a:ext cx="365762" cy="33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97" name="TextBox 7"/>
          <p:cNvSpPr txBox="1"/>
          <p:nvPr/>
        </p:nvSpPr>
        <p:spPr>
          <a:xfrm>
            <a:off x="1691640" y="1536192"/>
            <a:ext cx="9509761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Información de segmentación redundante</a:t>
            </a:r>
          </a:p>
        </p:txBody>
      </p:sp>
      <p:sp>
        <p:nvSpPr>
          <p:cNvPr id="298" name="TextBox 8"/>
          <p:cNvSpPr txBox="1"/>
          <p:nvPr/>
        </p:nvSpPr>
        <p:spPr>
          <a:xfrm>
            <a:off x="1691640" y="1920239"/>
            <a:ext cx="9509761" cy="461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El Modelo 3 (imagen+mascara, 92%) iguala al Modelo 1 (solo imagen, 92%). La segmentación no agrega información que ResNet50 no extraiga ya de la imagen original.</a:t>
            </a:r>
          </a:p>
        </p:txBody>
      </p:sp>
      <p:sp>
        <p:nvSpPr>
          <p:cNvPr id="299" name="Rectangle 9"/>
          <p:cNvSpPr/>
          <p:nvPr/>
        </p:nvSpPr>
        <p:spPr>
          <a:xfrm>
            <a:off x="731519" y="2697478"/>
            <a:ext cx="10698482" cy="1051562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0" name="Rectangle 10"/>
          <p:cNvSpPr/>
          <p:nvPr/>
        </p:nvSpPr>
        <p:spPr>
          <a:xfrm>
            <a:off x="731519" y="2697478"/>
            <a:ext cx="73154" cy="1051562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1" name="Oval 11"/>
          <p:cNvSpPr/>
          <p:nvPr/>
        </p:nvSpPr>
        <p:spPr>
          <a:xfrm>
            <a:off x="1005838" y="2880360"/>
            <a:ext cx="457203" cy="457203"/>
          </a:xfrm>
          <a:prstGeom prst="ellipse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2" name="TextBox 12"/>
          <p:cNvSpPr txBox="1"/>
          <p:nvPr/>
        </p:nvSpPr>
        <p:spPr>
          <a:xfrm>
            <a:off x="1051558" y="2880361"/>
            <a:ext cx="365762" cy="33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03" name="TextBox 13"/>
          <p:cNvSpPr txBox="1"/>
          <p:nvPr/>
        </p:nvSpPr>
        <p:spPr>
          <a:xfrm>
            <a:off x="1691640" y="2770633"/>
            <a:ext cx="9509761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Perdida de textura en máscaras puras</a:t>
            </a:r>
          </a:p>
        </p:txBody>
      </p:sp>
      <p:sp>
        <p:nvSpPr>
          <p:cNvPr id="304" name="TextBox 14"/>
          <p:cNvSpPr txBox="1"/>
          <p:nvPr/>
        </p:nvSpPr>
        <p:spPr>
          <a:xfrm>
            <a:off x="1691640" y="3154679"/>
            <a:ext cx="9509761" cy="461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El Modelo 2 (solo máscaras, 72%) pierde textura, intensidad y contraste al reducir a etiquetas discretas 0-7. Información crítica para distinguir patologías.</a:t>
            </a:r>
          </a:p>
        </p:txBody>
      </p:sp>
      <p:sp>
        <p:nvSpPr>
          <p:cNvPr id="305" name="Rectangle 15"/>
          <p:cNvSpPr/>
          <p:nvPr/>
        </p:nvSpPr>
        <p:spPr>
          <a:xfrm>
            <a:off x="731519" y="3931920"/>
            <a:ext cx="10698482" cy="1051562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6" name="Rectangle 16"/>
          <p:cNvSpPr/>
          <p:nvPr/>
        </p:nvSpPr>
        <p:spPr>
          <a:xfrm>
            <a:off x="731519" y="3931920"/>
            <a:ext cx="73154" cy="1051562"/>
          </a:xfrm>
          <a:prstGeom prst="rect">
            <a:avLst/>
          </a:prstGeom>
          <a:solidFill>
            <a:srgbClr val="E74C3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7" name="Oval 17"/>
          <p:cNvSpPr/>
          <p:nvPr/>
        </p:nvSpPr>
        <p:spPr>
          <a:xfrm>
            <a:off x="1005838" y="4114800"/>
            <a:ext cx="457203" cy="457200"/>
          </a:xfrm>
          <a:prstGeom prst="ellipse">
            <a:avLst/>
          </a:prstGeom>
          <a:solidFill>
            <a:srgbClr val="E74C3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8" name="TextBox 18"/>
          <p:cNvSpPr txBox="1"/>
          <p:nvPr/>
        </p:nvSpPr>
        <p:spPr>
          <a:xfrm>
            <a:off x="1051558" y="4114800"/>
            <a:ext cx="365762" cy="3330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09" name="TextBox 19"/>
          <p:cNvSpPr txBox="1"/>
          <p:nvPr/>
        </p:nvSpPr>
        <p:spPr>
          <a:xfrm>
            <a:off x="1691640" y="4005072"/>
            <a:ext cx="9509761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DRUSEN: la clase más afectada (F1: 0.89 -&gt; 0.54)</a:t>
            </a:r>
          </a:p>
        </p:txBody>
      </p:sp>
      <p:sp>
        <p:nvSpPr>
          <p:cNvPr id="310" name="TextBox 20"/>
          <p:cNvSpPr txBox="1"/>
          <p:nvPr/>
        </p:nvSpPr>
        <p:spPr>
          <a:xfrm>
            <a:off x="1691640" y="4389121"/>
            <a:ext cx="9509761" cy="461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Los drusen son depósitos sub-retinales cuya detección depende de textura visual. El Mod. 3 híbrido recupera F1=0.89, confirmando que la imagen es la clave.</a:t>
            </a:r>
          </a:p>
        </p:txBody>
      </p:sp>
      <p:sp>
        <p:nvSpPr>
          <p:cNvPr id="311" name="Rectangle 21"/>
          <p:cNvSpPr/>
          <p:nvPr/>
        </p:nvSpPr>
        <p:spPr>
          <a:xfrm>
            <a:off x="731519" y="5166359"/>
            <a:ext cx="10698482" cy="1051562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2" name="Rectangle 22"/>
          <p:cNvSpPr/>
          <p:nvPr/>
        </p:nvSpPr>
        <p:spPr>
          <a:xfrm>
            <a:off x="731519" y="5166359"/>
            <a:ext cx="73154" cy="1051562"/>
          </a:xfrm>
          <a:prstGeom prst="rect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3" name="Oval 23"/>
          <p:cNvSpPr/>
          <p:nvPr/>
        </p:nvSpPr>
        <p:spPr>
          <a:xfrm>
            <a:off x="1005838" y="5349240"/>
            <a:ext cx="457203" cy="457203"/>
          </a:xfrm>
          <a:prstGeom prst="ellipse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4" name="TextBox 24"/>
          <p:cNvSpPr txBox="1"/>
          <p:nvPr/>
        </p:nvSpPr>
        <p:spPr>
          <a:xfrm>
            <a:off x="1051558" y="5349241"/>
            <a:ext cx="365762" cy="33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15" name="TextBox 25"/>
          <p:cNvSpPr txBox="1"/>
          <p:nvPr/>
        </p:nvSpPr>
        <p:spPr>
          <a:xfrm>
            <a:off x="1691640" y="5239511"/>
            <a:ext cx="9509761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Discrepancia de dominios entre datasets</a:t>
            </a:r>
          </a:p>
        </p:txBody>
      </p:sp>
      <p:sp>
        <p:nvSpPr>
          <p:cNvPr id="316" name="TextBox 26"/>
          <p:cNvSpPr txBox="1"/>
          <p:nvPr/>
        </p:nvSpPr>
        <p:spPr>
          <a:xfrm>
            <a:off x="1691640" y="5623560"/>
            <a:ext cx="9509761" cy="461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El modelo de segmentación fue entrenado con un dataset distinto al de clasificación. Diferencias en equipos OCT y resolución amplifican la degradación del Modelo 2.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9" name="TextBox 2"/>
          <p:cNvSpPr txBox="1"/>
          <p:nvPr/>
        </p:nvSpPr>
        <p:spPr>
          <a:xfrm>
            <a:off x="777239" y="457199"/>
            <a:ext cx="9052561" cy="542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Prototipo funcional: app demo</a:t>
            </a:r>
          </a:p>
        </p:txBody>
      </p:sp>
      <p:sp>
        <p:nvSpPr>
          <p:cNvPr id="320" name="TextBox 3"/>
          <p:cNvSpPr txBox="1"/>
          <p:nvPr/>
        </p:nvSpPr>
        <p:spPr>
          <a:xfrm>
            <a:off x="777238" y="1463039"/>
            <a:ext cx="5394962" cy="3853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">
                <a:solidFill>
                  <a:srgbClr val="00A89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Funcionalidades</a:t>
            </a:r>
          </a:p>
        </p:txBody>
      </p:sp>
      <p:sp>
        <p:nvSpPr>
          <p:cNvPr id="321" name="Rectangle 4"/>
          <p:cNvSpPr/>
          <p:nvPr/>
        </p:nvSpPr>
        <p:spPr>
          <a:xfrm>
            <a:off x="731519" y="2103120"/>
            <a:ext cx="54866" cy="822962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22" name="TextBox 5"/>
          <p:cNvSpPr txBox="1"/>
          <p:nvPr/>
        </p:nvSpPr>
        <p:spPr>
          <a:xfrm>
            <a:off x="1142999" y="2103121"/>
            <a:ext cx="4663442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Segmentación interactiva</a:t>
            </a:r>
          </a:p>
        </p:txBody>
      </p:sp>
      <p:sp>
        <p:nvSpPr>
          <p:cNvPr id="323" name="TextBox 6"/>
          <p:cNvSpPr txBox="1"/>
          <p:nvPr/>
        </p:nvSpPr>
        <p:spPr>
          <a:xfrm>
            <a:off x="1142999" y="2468878"/>
            <a:ext cx="4663442" cy="461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Visualización de las 8 capas retinales con overlay sobre la imagen OCT original</a:t>
            </a:r>
          </a:p>
        </p:txBody>
      </p:sp>
      <p:sp>
        <p:nvSpPr>
          <p:cNvPr id="324" name="Rectangle 7"/>
          <p:cNvSpPr/>
          <p:nvPr/>
        </p:nvSpPr>
        <p:spPr>
          <a:xfrm>
            <a:off x="731519" y="3108960"/>
            <a:ext cx="54866" cy="822962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25" name="TextBox 8"/>
          <p:cNvSpPr txBox="1"/>
          <p:nvPr/>
        </p:nvSpPr>
        <p:spPr>
          <a:xfrm>
            <a:off x="1142999" y="3108961"/>
            <a:ext cx="4663442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Clasificación comparativa</a:t>
            </a:r>
          </a:p>
        </p:txBody>
      </p:sp>
      <p:sp>
        <p:nvSpPr>
          <p:cNvPr id="326" name="TextBox 9"/>
          <p:cNvSpPr txBox="1"/>
          <p:nvPr/>
        </p:nvSpPr>
        <p:spPr>
          <a:xfrm>
            <a:off x="1142999" y="3474721"/>
            <a:ext cx="4663442" cy="461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Predicción simultánea con ambos modelos, mostrando probabilidades por clase</a:t>
            </a:r>
          </a:p>
        </p:txBody>
      </p:sp>
      <p:sp>
        <p:nvSpPr>
          <p:cNvPr id="327" name="Rectangle 10"/>
          <p:cNvSpPr/>
          <p:nvPr/>
        </p:nvSpPr>
        <p:spPr>
          <a:xfrm>
            <a:off x="731519" y="4114798"/>
            <a:ext cx="54866" cy="822963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28" name="TextBox 11"/>
          <p:cNvSpPr txBox="1"/>
          <p:nvPr/>
        </p:nvSpPr>
        <p:spPr>
          <a:xfrm>
            <a:off x="1142999" y="4114799"/>
            <a:ext cx="4663442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Análisis visual</a:t>
            </a:r>
          </a:p>
        </p:txBody>
      </p:sp>
      <p:sp>
        <p:nvSpPr>
          <p:cNvPr id="329" name="TextBox 12"/>
          <p:cNvSpPr txBox="1"/>
          <p:nvPr/>
        </p:nvSpPr>
        <p:spPr>
          <a:xfrm>
            <a:off x="1142999" y="4480560"/>
            <a:ext cx="4663442" cy="461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Barras de probabilidad, comparación lado a lado, overlay de segmentación</a:t>
            </a:r>
          </a:p>
        </p:txBody>
      </p:sp>
      <p:sp>
        <p:nvSpPr>
          <p:cNvPr id="330" name="Rectangle 13"/>
          <p:cNvSpPr/>
          <p:nvPr/>
        </p:nvSpPr>
        <p:spPr>
          <a:xfrm>
            <a:off x="731519" y="5120640"/>
            <a:ext cx="54866" cy="822962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31" name="TextBox 14"/>
          <p:cNvSpPr txBox="1"/>
          <p:nvPr/>
        </p:nvSpPr>
        <p:spPr>
          <a:xfrm>
            <a:off x="1142999" y="5120641"/>
            <a:ext cx="4663442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Carga de imágenes</a:t>
            </a:r>
          </a:p>
        </p:txBody>
      </p:sp>
      <p:sp>
        <p:nvSpPr>
          <p:cNvPr id="332" name="TextBox 15"/>
          <p:cNvSpPr txBox="1"/>
          <p:nvPr/>
        </p:nvSpPr>
        <p:spPr>
          <a:xfrm>
            <a:off x="1142999" y="5486400"/>
            <a:ext cx="4663442" cy="461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El usuario puede subir imágenes OCT propias para obtener predicciones</a:t>
            </a:r>
          </a:p>
        </p:txBody>
      </p:sp>
      <p:sp>
        <p:nvSpPr>
          <p:cNvPr id="333" name="Rectangle 16"/>
          <p:cNvSpPr/>
          <p:nvPr/>
        </p:nvSpPr>
        <p:spPr>
          <a:xfrm>
            <a:off x="6339063" y="2044021"/>
            <a:ext cx="4846322" cy="3322799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34" name="Rectangle 17"/>
          <p:cNvSpPr/>
          <p:nvPr/>
        </p:nvSpPr>
        <p:spPr>
          <a:xfrm>
            <a:off x="6339063" y="2044021"/>
            <a:ext cx="4846322" cy="54864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35" name="TextBox 18"/>
          <p:cNvSpPr txBox="1"/>
          <p:nvPr/>
        </p:nvSpPr>
        <p:spPr>
          <a:xfrm>
            <a:off x="6659103" y="2151798"/>
            <a:ext cx="4206242" cy="3330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Stack tecnológico</a:t>
            </a:r>
          </a:p>
        </p:txBody>
      </p:sp>
      <p:sp>
        <p:nvSpPr>
          <p:cNvPr id="336" name="TextBox 19"/>
          <p:cNvSpPr txBox="1"/>
          <p:nvPr/>
        </p:nvSpPr>
        <p:spPr>
          <a:xfrm>
            <a:off x="6659103" y="2866982"/>
            <a:ext cx="420624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Framework: Streamlit</a:t>
            </a:r>
          </a:p>
        </p:txBody>
      </p:sp>
      <p:sp>
        <p:nvSpPr>
          <p:cNvPr id="337" name="TextBox 20"/>
          <p:cNvSpPr txBox="1"/>
          <p:nvPr/>
        </p:nvSpPr>
        <p:spPr>
          <a:xfrm>
            <a:off x="6659103" y="3324182"/>
            <a:ext cx="420624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Segmentacion: PyTorch + SMP (UNet++)</a:t>
            </a:r>
          </a:p>
        </p:txBody>
      </p:sp>
      <p:sp>
        <p:nvSpPr>
          <p:cNvPr id="338" name="TextBox 21"/>
          <p:cNvSpPr txBox="1"/>
          <p:nvPr/>
        </p:nvSpPr>
        <p:spPr>
          <a:xfrm>
            <a:off x="6659103" y="3781382"/>
            <a:ext cx="420624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Clasificación: PyTorch + torchvision (ResNet50)</a:t>
            </a:r>
          </a:p>
        </p:txBody>
      </p:sp>
      <p:sp>
        <p:nvSpPr>
          <p:cNvPr id="339" name="TextBox 22"/>
          <p:cNvSpPr txBox="1"/>
          <p:nvPr/>
        </p:nvSpPr>
        <p:spPr>
          <a:xfrm>
            <a:off x="6659103" y="4238582"/>
            <a:ext cx="420624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Visualización: matplotlib + numpy</a:t>
            </a:r>
          </a:p>
        </p:txBody>
      </p:sp>
      <p:sp>
        <p:nvSpPr>
          <p:cNvPr id="340" name="TextBox 23"/>
          <p:cNvSpPr txBox="1"/>
          <p:nvPr/>
        </p:nvSpPr>
        <p:spPr>
          <a:xfrm>
            <a:off x="6659103" y="4695782"/>
            <a:ext cx="420624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Peso modelos: ~125 MB total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43" name="TextBox 2"/>
          <p:cNvSpPr txBox="1"/>
          <p:nvPr/>
        </p:nvSpPr>
        <p:spPr>
          <a:xfrm>
            <a:off x="777239" y="365759"/>
            <a:ext cx="9052561" cy="5493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Conclusiones</a:t>
            </a:r>
          </a:p>
        </p:txBody>
      </p:sp>
      <p:sp>
        <p:nvSpPr>
          <p:cNvPr id="344" name="Oval 3"/>
          <p:cNvSpPr/>
          <p:nvPr/>
        </p:nvSpPr>
        <p:spPr>
          <a:xfrm>
            <a:off x="731519" y="1325880"/>
            <a:ext cx="365763" cy="365763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45" name="TextBox 4"/>
          <p:cNvSpPr txBox="1"/>
          <p:nvPr/>
        </p:nvSpPr>
        <p:spPr>
          <a:xfrm>
            <a:off x="777238" y="1325881"/>
            <a:ext cx="27432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346" name="TextBox 5"/>
          <p:cNvSpPr txBox="1"/>
          <p:nvPr/>
        </p:nvSpPr>
        <p:spPr>
          <a:xfrm>
            <a:off x="1417318" y="1290201"/>
            <a:ext cx="9966964" cy="506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Modelo 1 (imágenes, 92%) y Modelo 3 (híbrido, 92%) superan al Modelo 2 (máscaras, 72%). La segmentación no mejora la clasificación.</a:t>
            </a:r>
          </a:p>
        </p:txBody>
      </p:sp>
      <p:sp>
        <p:nvSpPr>
          <p:cNvPr id="347" name="Oval 6"/>
          <p:cNvSpPr/>
          <p:nvPr/>
        </p:nvSpPr>
        <p:spPr>
          <a:xfrm>
            <a:off x="731519" y="2057399"/>
            <a:ext cx="365763" cy="365763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48" name="TextBox 7"/>
          <p:cNvSpPr txBox="1"/>
          <p:nvPr/>
        </p:nvSpPr>
        <p:spPr>
          <a:xfrm>
            <a:off x="777238" y="2057400"/>
            <a:ext cx="27432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49" name="TextBox 8"/>
          <p:cNvSpPr txBox="1"/>
          <p:nvPr/>
        </p:nvSpPr>
        <p:spPr>
          <a:xfrm>
            <a:off x="1417318" y="2011679"/>
            <a:ext cx="9966964" cy="5065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El Modelo 3 híbrido (imagen+máscara) iguala al Modelo 1 (solo imagen): la segmentación es información redundante para ResNet50.</a:t>
            </a:r>
          </a:p>
        </p:txBody>
      </p:sp>
      <p:sp>
        <p:nvSpPr>
          <p:cNvPr id="350" name="Oval 9"/>
          <p:cNvSpPr/>
          <p:nvPr/>
        </p:nvSpPr>
        <p:spPr>
          <a:xfrm>
            <a:off x="731519" y="2788920"/>
            <a:ext cx="365763" cy="365763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1" name="TextBox 10"/>
          <p:cNvSpPr txBox="1"/>
          <p:nvPr/>
        </p:nvSpPr>
        <p:spPr>
          <a:xfrm>
            <a:off x="777238" y="2788921"/>
            <a:ext cx="27432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52" name="TextBox 11"/>
          <p:cNvSpPr txBox="1"/>
          <p:nvPr/>
        </p:nvSpPr>
        <p:spPr>
          <a:xfrm>
            <a:off x="1417318" y="2733157"/>
            <a:ext cx="9966964" cy="506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UNet++ con ResNet34 logra segmentación precisa (Dice=0.98, IoU=0.96), validando su utilidad como herramienta independiente.</a:t>
            </a:r>
          </a:p>
        </p:txBody>
      </p:sp>
      <p:sp>
        <p:nvSpPr>
          <p:cNvPr id="353" name="Oval 12"/>
          <p:cNvSpPr/>
          <p:nvPr/>
        </p:nvSpPr>
        <p:spPr>
          <a:xfrm>
            <a:off x="731519" y="3520440"/>
            <a:ext cx="365763" cy="365763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4" name="TextBox 13"/>
          <p:cNvSpPr txBox="1"/>
          <p:nvPr/>
        </p:nvSpPr>
        <p:spPr>
          <a:xfrm>
            <a:off x="777238" y="3520441"/>
            <a:ext cx="27432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55" name="TextBox 14"/>
          <p:cNvSpPr txBox="1"/>
          <p:nvPr/>
        </p:nvSpPr>
        <p:spPr>
          <a:xfrm>
            <a:off x="1417318" y="3564323"/>
            <a:ext cx="9966964" cy="277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DRUSEN es la clase mas sensible a la perdida de textura (F1: 0.89 -&gt; 0.54 con máscaras). El híbrido lo recupera (F1=0.89).</a:t>
            </a:r>
          </a:p>
        </p:txBody>
      </p:sp>
      <p:sp>
        <p:nvSpPr>
          <p:cNvPr id="356" name="Oval 15"/>
          <p:cNvSpPr/>
          <p:nvPr/>
        </p:nvSpPr>
        <p:spPr>
          <a:xfrm>
            <a:off x="731519" y="4251959"/>
            <a:ext cx="365763" cy="365763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7" name="TextBox 16"/>
          <p:cNvSpPr txBox="1"/>
          <p:nvPr/>
        </p:nvSpPr>
        <p:spPr>
          <a:xfrm>
            <a:off x="777238" y="4251960"/>
            <a:ext cx="27432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358" name="TextBox 17"/>
          <p:cNvSpPr txBox="1"/>
          <p:nvPr/>
        </p:nvSpPr>
        <p:spPr>
          <a:xfrm>
            <a:off x="1417318" y="4295842"/>
            <a:ext cx="9966964" cy="2779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La discrepancia de dominios entre datasets de segmentación y clasificación amplifica la degradación del Modelo 2.</a:t>
            </a:r>
          </a:p>
        </p:txBody>
      </p:sp>
      <p:sp>
        <p:nvSpPr>
          <p:cNvPr id="359" name="Oval 18"/>
          <p:cNvSpPr/>
          <p:nvPr/>
        </p:nvSpPr>
        <p:spPr>
          <a:xfrm>
            <a:off x="731519" y="4983479"/>
            <a:ext cx="365763" cy="365763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60" name="TextBox 19"/>
          <p:cNvSpPr txBox="1"/>
          <p:nvPr/>
        </p:nvSpPr>
        <p:spPr>
          <a:xfrm>
            <a:off x="777238" y="4983480"/>
            <a:ext cx="27432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361" name="TextBox 20"/>
          <p:cNvSpPr txBox="1"/>
          <p:nvPr/>
        </p:nvSpPr>
        <p:spPr>
          <a:xfrm>
            <a:off x="1417318" y="5027362"/>
            <a:ext cx="9966964" cy="277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La segmentación aporta valor clínico como herramienta de interpretabilidad, complementando al clasificador.</a:t>
            </a:r>
          </a:p>
        </p:txBody>
      </p:sp>
      <p:sp>
        <p:nvSpPr>
          <p:cNvPr id="362" name="Oval 21"/>
          <p:cNvSpPr/>
          <p:nvPr/>
        </p:nvSpPr>
        <p:spPr>
          <a:xfrm>
            <a:off x="731519" y="5714998"/>
            <a:ext cx="365763" cy="365763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63" name="TextBox 22"/>
          <p:cNvSpPr txBox="1"/>
          <p:nvPr/>
        </p:nvSpPr>
        <p:spPr>
          <a:xfrm>
            <a:off x="777238" y="5714999"/>
            <a:ext cx="27432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364" name="TextBox 23"/>
          <p:cNvSpPr txBox="1"/>
          <p:nvPr/>
        </p:nvSpPr>
        <p:spPr>
          <a:xfrm>
            <a:off x="1417318" y="5758882"/>
            <a:ext cx="9966964" cy="277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La app demo demuestra la factibilidad de un sistema de apoyo al diagnostico oftalmológico con DL.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67" name="TextBox 2"/>
          <p:cNvSpPr txBox="1"/>
          <p:nvPr/>
        </p:nvSpPr>
        <p:spPr>
          <a:xfrm>
            <a:off x="1417319" y="1828800"/>
            <a:ext cx="9326882" cy="706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48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¡Gracias!</a:t>
            </a:r>
          </a:p>
        </p:txBody>
      </p:sp>
      <p:sp>
        <p:nvSpPr>
          <p:cNvPr id="368" name="Rectangle 3"/>
          <p:cNvSpPr/>
          <p:nvPr/>
        </p:nvSpPr>
        <p:spPr>
          <a:xfrm>
            <a:off x="4571998" y="3017520"/>
            <a:ext cx="3017523" cy="36578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69" name="TextBox 4"/>
          <p:cNvSpPr txBox="1"/>
          <p:nvPr/>
        </p:nvSpPr>
        <p:spPr>
          <a:xfrm>
            <a:off x="1417319" y="3474721"/>
            <a:ext cx="9326882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>
                <a:solidFill>
                  <a:srgbClr val="CADCFC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¿Preguntas?</a:t>
            </a:r>
          </a:p>
        </p:txBody>
      </p:sp>
      <p:sp>
        <p:nvSpPr>
          <p:cNvPr id="370" name="TextBox 5"/>
          <p:cNvSpPr txBox="1"/>
          <p:nvPr/>
        </p:nvSpPr>
        <p:spPr>
          <a:xfrm>
            <a:off x="1417319" y="4572000"/>
            <a:ext cx="9326882" cy="300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600">
                <a:solidFill>
                  <a:srgbClr val="CADCFC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Alexis Barniquez  |  Barbara Cerezo  |  Daniel Paniagua  |  Brian Salamone</a:t>
            </a:r>
          </a:p>
        </p:txBody>
      </p:sp>
      <p:sp>
        <p:nvSpPr>
          <p:cNvPr id="371" name="TextBox 6"/>
          <p:cNvSpPr txBox="1"/>
          <p:nvPr/>
        </p:nvSpPr>
        <p:spPr>
          <a:xfrm>
            <a:off x="1417319" y="5120641"/>
            <a:ext cx="9326882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solidFill>
                  <a:srgbClr val="6B7B8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Visión por Computadora II  -  CEIA  - 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