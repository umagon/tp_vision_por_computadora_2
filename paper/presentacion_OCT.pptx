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9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6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3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3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3" cy="80486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1417319" y="1371600"/>
            <a:ext cx="9326882" cy="1666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Segmentación y clasificación de patologías</a:t>
            </a:r>
            <a:br/>
            <a:r>
              <a:t>retinales en imágenes OCT mediante Deep Learning</a:t>
            </a:r>
          </a:p>
        </p:txBody>
      </p:sp>
      <p:sp>
        <p:nvSpPr>
          <p:cNvPr id="96" name="Rectangle 4"/>
          <p:cNvSpPr/>
          <p:nvPr/>
        </p:nvSpPr>
        <p:spPr>
          <a:xfrm>
            <a:off x="1371600" y="3749037"/>
            <a:ext cx="2743200" cy="36579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TextBox 5"/>
          <p:cNvSpPr txBox="1"/>
          <p:nvPr/>
        </p:nvSpPr>
        <p:spPr>
          <a:xfrm>
            <a:off x="1417319" y="4114800"/>
            <a:ext cx="9326882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solidFill>
                  <a:srgbClr val="CADCFC"/>
                </a:solidFill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98" name="TextBox 6"/>
          <p:cNvSpPr txBox="1"/>
          <p:nvPr/>
        </p:nvSpPr>
        <p:spPr>
          <a:xfrm>
            <a:off x="1417319" y="4846320"/>
            <a:ext cx="9326882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Visión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Contexto clínico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777237" y="1463038"/>
            <a:ext cx="4937764" cy="385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El problema</a:t>
            </a:r>
          </a:p>
        </p:txBody>
      </p:sp>
      <p:sp>
        <p:nvSpPr>
          <p:cNvPr id="103" name="Rectangle 4"/>
          <p:cNvSpPr/>
          <p:nvPr/>
        </p:nvSpPr>
        <p:spPr>
          <a:xfrm>
            <a:off x="731519" y="2103120"/>
            <a:ext cx="54867" cy="45720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1142999" y="2103121"/>
            <a:ext cx="4572002" cy="506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Las enfermedades retinales (CNV, DME, Drusen) son causas principales de perdida de visión a nivel mundial</a:t>
            </a:r>
          </a:p>
        </p:txBody>
      </p:sp>
      <p:sp>
        <p:nvSpPr>
          <p:cNvPr id="105" name="Rectangle 6"/>
          <p:cNvSpPr/>
          <p:nvPr/>
        </p:nvSpPr>
        <p:spPr>
          <a:xfrm>
            <a:off x="731519" y="3017520"/>
            <a:ext cx="54867" cy="45720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7"/>
          <p:cNvSpPr txBox="1"/>
          <p:nvPr/>
        </p:nvSpPr>
        <p:spPr>
          <a:xfrm>
            <a:off x="1142999" y="3017521"/>
            <a:ext cx="4572002" cy="506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La Tomografía de Coherencia Óptica (OCT) es el estándar de imagen para diagnostico oftalmológico</a:t>
            </a:r>
          </a:p>
        </p:txBody>
      </p:sp>
      <p:sp>
        <p:nvSpPr>
          <p:cNvPr id="107" name="Rectangle 8"/>
          <p:cNvSpPr/>
          <p:nvPr/>
        </p:nvSpPr>
        <p:spPr>
          <a:xfrm>
            <a:off x="731519" y="3931920"/>
            <a:ext cx="54867" cy="45720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9"/>
          <p:cNvSpPr txBox="1"/>
          <p:nvPr/>
        </p:nvSpPr>
        <p:spPr>
          <a:xfrm>
            <a:off x="1142999" y="3931920"/>
            <a:ext cx="4572002" cy="506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Se requieren herramientas automatizadas que asistan al especialista en el diagnostico temprano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629399" y="1463038"/>
            <a:ext cx="4480564" cy="385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4 clases de patología</a:t>
            </a:r>
          </a:p>
        </p:txBody>
      </p:sp>
      <p:sp>
        <p:nvSpPr>
          <p:cNvPr id="110" name="Rectangle 11"/>
          <p:cNvSpPr/>
          <p:nvPr/>
        </p:nvSpPr>
        <p:spPr>
          <a:xfrm>
            <a:off x="6583680" y="2103120"/>
            <a:ext cx="4846323" cy="77724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Rectangle 12"/>
          <p:cNvSpPr/>
          <p:nvPr/>
        </p:nvSpPr>
        <p:spPr>
          <a:xfrm>
            <a:off x="6583680" y="2103120"/>
            <a:ext cx="73155" cy="77724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TextBox 13"/>
          <p:cNvSpPr txBox="1"/>
          <p:nvPr/>
        </p:nvSpPr>
        <p:spPr>
          <a:xfrm>
            <a:off x="6995159" y="2148838"/>
            <a:ext cx="17373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CNV</a:t>
            </a:r>
          </a:p>
        </p:txBody>
      </p:sp>
      <p:sp>
        <p:nvSpPr>
          <p:cNvPr id="113" name="TextBox 14"/>
          <p:cNvSpPr txBox="1"/>
          <p:nvPr/>
        </p:nvSpPr>
        <p:spPr>
          <a:xfrm>
            <a:off x="6995158" y="2468877"/>
            <a:ext cx="4023364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Neovascularización coroidea</a:t>
            </a:r>
          </a:p>
        </p:txBody>
      </p:sp>
      <p:sp>
        <p:nvSpPr>
          <p:cNvPr id="114" name="Rectangle 15"/>
          <p:cNvSpPr/>
          <p:nvPr/>
        </p:nvSpPr>
        <p:spPr>
          <a:xfrm>
            <a:off x="6583680" y="3063238"/>
            <a:ext cx="4846323" cy="77724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Rectangle 16"/>
          <p:cNvSpPr/>
          <p:nvPr/>
        </p:nvSpPr>
        <p:spPr>
          <a:xfrm>
            <a:off x="6583680" y="3063238"/>
            <a:ext cx="73155" cy="777243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17"/>
          <p:cNvSpPr txBox="1"/>
          <p:nvPr/>
        </p:nvSpPr>
        <p:spPr>
          <a:xfrm>
            <a:off x="6995159" y="3108960"/>
            <a:ext cx="173736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DME</a:t>
            </a:r>
          </a:p>
        </p:txBody>
      </p:sp>
      <p:sp>
        <p:nvSpPr>
          <p:cNvPr id="117" name="TextBox 18"/>
          <p:cNvSpPr txBox="1"/>
          <p:nvPr/>
        </p:nvSpPr>
        <p:spPr>
          <a:xfrm>
            <a:off x="6995158" y="3428998"/>
            <a:ext cx="4023364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Edema macular diabético</a:t>
            </a:r>
          </a:p>
        </p:txBody>
      </p:sp>
      <p:sp>
        <p:nvSpPr>
          <p:cNvPr id="118" name="Rectangle 19"/>
          <p:cNvSpPr/>
          <p:nvPr/>
        </p:nvSpPr>
        <p:spPr>
          <a:xfrm>
            <a:off x="6583680" y="4023359"/>
            <a:ext cx="4846323" cy="77724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Rectangle 20"/>
          <p:cNvSpPr/>
          <p:nvPr/>
        </p:nvSpPr>
        <p:spPr>
          <a:xfrm>
            <a:off x="6583680" y="4023359"/>
            <a:ext cx="73155" cy="77724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21"/>
          <p:cNvSpPr txBox="1"/>
          <p:nvPr/>
        </p:nvSpPr>
        <p:spPr>
          <a:xfrm>
            <a:off x="6995159" y="4069079"/>
            <a:ext cx="17373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DRUSEN</a:t>
            </a:r>
          </a:p>
        </p:txBody>
      </p:sp>
      <p:sp>
        <p:nvSpPr>
          <p:cNvPr id="121" name="TextBox 22"/>
          <p:cNvSpPr txBox="1"/>
          <p:nvPr/>
        </p:nvSpPr>
        <p:spPr>
          <a:xfrm>
            <a:off x="6995158" y="4389120"/>
            <a:ext cx="4023364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Depositos sub-retinales</a:t>
            </a:r>
          </a:p>
        </p:txBody>
      </p:sp>
      <p:sp>
        <p:nvSpPr>
          <p:cNvPr id="122" name="Rectangle 23"/>
          <p:cNvSpPr/>
          <p:nvPr/>
        </p:nvSpPr>
        <p:spPr>
          <a:xfrm>
            <a:off x="6583680" y="4983479"/>
            <a:ext cx="4846323" cy="77724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Rectangle 24"/>
          <p:cNvSpPr/>
          <p:nvPr/>
        </p:nvSpPr>
        <p:spPr>
          <a:xfrm>
            <a:off x="6583680" y="4983479"/>
            <a:ext cx="73155" cy="777243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25"/>
          <p:cNvSpPr txBox="1"/>
          <p:nvPr/>
        </p:nvSpPr>
        <p:spPr>
          <a:xfrm>
            <a:off x="6995159" y="5029198"/>
            <a:ext cx="17373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NORMAL</a:t>
            </a:r>
          </a:p>
        </p:txBody>
      </p:sp>
      <p:sp>
        <p:nvSpPr>
          <p:cNvPr id="125" name="TextBox 26"/>
          <p:cNvSpPr txBox="1"/>
          <p:nvPr/>
        </p:nvSpPr>
        <p:spPr>
          <a:xfrm>
            <a:off x="6995158" y="5349240"/>
            <a:ext cx="4023364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6B7B8D"/>
                </a:solidFill>
              </a:defRPr>
            </a:lvl1pPr>
          </a:lstStyle>
          <a:p>
            <a:pPr/>
            <a:r>
              <a:t>Retina sana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Objetivo e hipótesis</a:t>
            </a:r>
          </a:p>
        </p:txBody>
      </p:sp>
      <p:sp>
        <p:nvSpPr>
          <p:cNvPr id="129" name="Rectangle 3"/>
          <p:cNvSpPr/>
          <p:nvPr/>
        </p:nvSpPr>
        <p:spPr>
          <a:xfrm>
            <a:off x="731519" y="1645920"/>
            <a:ext cx="10698482" cy="118872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4"/>
          <p:cNvSpPr txBox="1"/>
          <p:nvPr/>
        </p:nvSpPr>
        <p:spPr>
          <a:xfrm>
            <a:off x="1234438" y="1885786"/>
            <a:ext cx="9692645" cy="644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pPr/>
            <a:r>
              <a:t>Pregunta: ¿la segmentación semántica de capas retinales como preprocesamiento, mejora la clasificación automática de patologías en imágenes OCT?</a:t>
            </a:r>
          </a:p>
        </p:txBody>
      </p:sp>
      <p:sp>
        <p:nvSpPr>
          <p:cNvPr id="131" name="TextBox 5"/>
          <p:cNvSpPr txBox="1"/>
          <p:nvPr/>
        </p:nvSpPr>
        <p:spPr>
          <a:xfrm>
            <a:off x="777237" y="3291840"/>
            <a:ext cx="4937764" cy="385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Hipótesis</a:t>
            </a:r>
          </a:p>
        </p:txBody>
      </p:sp>
      <p:sp>
        <p:nvSpPr>
          <p:cNvPr id="132" name="TextBox 6"/>
          <p:cNvSpPr txBox="1"/>
          <p:nvPr/>
        </p:nvSpPr>
        <p:spPr>
          <a:xfrm>
            <a:off x="777237" y="3840479"/>
            <a:ext cx="4937764" cy="1062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solidFill>
                  <a:srgbClr val="1A1A2E"/>
                </a:solidFill>
              </a:defRPr>
            </a:lvl1pPr>
          </a:lstStyle>
          <a:p>
            <a:pPr/>
            <a:r>
              <a:t>La información estructural extraída por un modelo de segmentación debería mejorar la capacidad del clasificador al proveer representaciones mas ricas de la anatomía retinal.</a:t>
            </a:r>
          </a:p>
        </p:txBody>
      </p:sp>
      <p:sp>
        <p:nvSpPr>
          <p:cNvPr id="133" name="TextBox 7"/>
          <p:cNvSpPr txBox="1"/>
          <p:nvPr/>
        </p:nvSpPr>
        <p:spPr>
          <a:xfrm>
            <a:off x="6629399" y="3291840"/>
            <a:ext cx="4937764" cy="385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Enfoque experimental</a:t>
            </a:r>
          </a:p>
        </p:txBody>
      </p:sp>
      <p:sp>
        <p:nvSpPr>
          <p:cNvPr id="134" name="TextBox 8"/>
          <p:cNvSpPr txBox="1"/>
          <p:nvPr/>
        </p:nvSpPr>
        <p:spPr>
          <a:xfrm>
            <a:off x="6629399" y="3840479"/>
            <a:ext cx="4937764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1. Entrenar UNet++ para segmentar 8 capas retinales</a:t>
            </a:r>
          </a:p>
        </p:txBody>
      </p:sp>
      <p:sp>
        <p:nvSpPr>
          <p:cNvPr id="135" name="TextBox 9"/>
          <p:cNvSpPr txBox="1"/>
          <p:nvPr/>
        </p:nvSpPr>
        <p:spPr>
          <a:xfrm>
            <a:off x="6629399" y="4343399"/>
            <a:ext cx="4937764" cy="277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2. Entrenar ResNet50 sobre imágenes OCT originales</a:t>
            </a:r>
          </a:p>
        </p:txBody>
      </p:sp>
      <p:sp>
        <p:nvSpPr>
          <p:cNvPr id="136" name="TextBox 10"/>
          <p:cNvSpPr txBox="1"/>
          <p:nvPr/>
        </p:nvSpPr>
        <p:spPr>
          <a:xfrm>
            <a:off x="6629399" y="4846320"/>
            <a:ext cx="4937764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3. Entrenar ResNet50 sobre mascaras de segmentación</a:t>
            </a:r>
          </a:p>
        </p:txBody>
      </p:sp>
      <p:sp>
        <p:nvSpPr>
          <p:cNvPr id="137" name="TextBox 11"/>
          <p:cNvSpPr txBox="1"/>
          <p:nvPr/>
        </p:nvSpPr>
        <p:spPr>
          <a:xfrm>
            <a:off x="6629399" y="5349240"/>
            <a:ext cx="4937764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1A1A2E"/>
                </a:solidFill>
              </a:defRPr>
            </a:lvl1pPr>
          </a:lstStyle>
          <a:p>
            <a:pPr/>
            <a:r>
              <a:t>4. Comparar ambos clasificadores aislando la variable de input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Datasets</a:t>
            </a:r>
          </a:p>
        </p:txBody>
      </p:sp>
      <p:sp>
        <p:nvSpPr>
          <p:cNvPr id="141" name="Rectangle 3"/>
          <p:cNvSpPr/>
          <p:nvPr/>
        </p:nvSpPr>
        <p:spPr>
          <a:xfrm>
            <a:off x="731517" y="1463037"/>
            <a:ext cx="5120646" cy="4114805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Rectangle 4"/>
          <p:cNvSpPr/>
          <p:nvPr/>
        </p:nvSpPr>
        <p:spPr>
          <a:xfrm>
            <a:off x="731517" y="1463039"/>
            <a:ext cx="5120646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TextBox 5"/>
          <p:cNvSpPr txBox="1"/>
          <p:nvPr/>
        </p:nvSpPr>
        <p:spPr>
          <a:xfrm>
            <a:off x="1051557" y="1570816"/>
            <a:ext cx="4480564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Dataset de segmentación</a:t>
            </a:r>
          </a:p>
        </p:txBody>
      </p:sp>
      <p:sp>
        <p:nvSpPr>
          <p:cNvPr id="144" name="TextBox 6"/>
          <p:cNvSpPr txBox="1"/>
          <p:nvPr/>
        </p:nvSpPr>
        <p:spPr>
          <a:xfrm>
            <a:off x="1051557" y="2285999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Fuente: Kaggle - Retinal Layer Segmentation</a:t>
            </a:r>
          </a:p>
        </p:txBody>
      </p:sp>
      <p:sp>
        <p:nvSpPr>
          <p:cNvPr id="145" name="TextBox 7"/>
          <p:cNvSpPr txBox="1"/>
          <p:nvPr/>
        </p:nvSpPr>
        <p:spPr>
          <a:xfrm>
            <a:off x="1051557" y="2926078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Formato: archivos .npy (224 x 512 px, escala de grises)</a:t>
            </a:r>
          </a:p>
        </p:txBody>
      </p:sp>
      <p:sp>
        <p:nvSpPr>
          <p:cNvPr id="146" name="TextBox 8"/>
          <p:cNvSpPr txBox="1"/>
          <p:nvPr/>
        </p:nvSpPr>
        <p:spPr>
          <a:xfrm>
            <a:off x="1051557" y="3566159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9 clases: 8 capas retinales + fondo</a:t>
            </a:r>
          </a:p>
        </p:txBody>
      </p:sp>
      <p:sp>
        <p:nvSpPr>
          <p:cNvPr id="147" name="TextBox 9"/>
          <p:cNvSpPr txBox="1"/>
          <p:nvPr/>
        </p:nvSpPr>
        <p:spPr>
          <a:xfrm>
            <a:off x="1051557" y="4206240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Clase 0 (fondo) dominante; capas 1-7 balanceadas</a:t>
            </a:r>
          </a:p>
        </p:txBody>
      </p:sp>
      <p:sp>
        <p:nvSpPr>
          <p:cNvPr id="148" name="TextBox 10"/>
          <p:cNvSpPr txBox="1"/>
          <p:nvPr/>
        </p:nvSpPr>
        <p:spPr>
          <a:xfrm>
            <a:off x="1051557" y="4846320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Máscaras de segmentación píxel a píxel</a:t>
            </a:r>
          </a:p>
        </p:txBody>
      </p:sp>
      <p:sp>
        <p:nvSpPr>
          <p:cNvPr id="149" name="Rectangle 11"/>
          <p:cNvSpPr/>
          <p:nvPr/>
        </p:nvSpPr>
        <p:spPr>
          <a:xfrm>
            <a:off x="6309359" y="1463037"/>
            <a:ext cx="5120643" cy="4114805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Rectangle 12"/>
          <p:cNvSpPr/>
          <p:nvPr/>
        </p:nvSpPr>
        <p:spPr>
          <a:xfrm>
            <a:off x="6309359" y="1463039"/>
            <a:ext cx="5120643" cy="548641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13"/>
          <p:cNvSpPr txBox="1"/>
          <p:nvPr/>
        </p:nvSpPr>
        <p:spPr>
          <a:xfrm>
            <a:off x="6629399" y="1570816"/>
            <a:ext cx="44805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Dataset de clasificación</a:t>
            </a:r>
          </a:p>
        </p:txBody>
      </p:sp>
      <p:sp>
        <p:nvSpPr>
          <p:cNvPr id="152" name="TextBox 14"/>
          <p:cNvSpPr txBox="1"/>
          <p:nvPr/>
        </p:nvSpPr>
        <p:spPr>
          <a:xfrm>
            <a:off x="6629399" y="2285999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Fuente: Kermany et al. (2018) - Cell</a:t>
            </a:r>
          </a:p>
        </p:txBody>
      </p:sp>
      <p:sp>
        <p:nvSpPr>
          <p:cNvPr id="153" name="TextBox 15"/>
          <p:cNvSpPr txBox="1"/>
          <p:nvPr/>
        </p:nvSpPr>
        <p:spPr>
          <a:xfrm>
            <a:off x="6629399" y="2926078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4 clases: CNV, DME, DRUSEN, NORMAL</a:t>
            </a:r>
          </a:p>
        </p:txBody>
      </p:sp>
      <p:sp>
        <p:nvSpPr>
          <p:cNvPr id="154" name="TextBox 16"/>
          <p:cNvSpPr txBox="1"/>
          <p:nvPr/>
        </p:nvSpPr>
        <p:spPr>
          <a:xfrm>
            <a:off x="6629399" y="3566159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Train: ~8,000 imágenes (WeightedRandomSampler)</a:t>
            </a:r>
          </a:p>
        </p:txBody>
      </p:sp>
      <p:sp>
        <p:nvSpPr>
          <p:cNvPr id="155" name="TextBox 17"/>
          <p:cNvSpPr txBox="1"/>
          <p:nvPr/>
        </p:nvSpPr>
        <p:spPr>
          <a:xfrm>
            <a:off x="6629399" y="4206240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Validación: 2,032 imágenes</a:t>
            </a:r>
          </a:p>
        </p:txBody>
      </p:sp>
      <p:sp>
        <p:nvSpPr>
          <p:cNvPr id="156" name="TextBox 18"/>
          <p:cNvSpPr txBox="1"/>
          <p:nvPr/>
        </p:nvSpPr>
        <p:spPr>
          <a:xfrm>
            <a:off x="6629399" y="4846320"/>
            <a:ext cx="44805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Test: 4,015 imágenes (224 x 224 px)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Pipeline propuesto</a:t>
            </a:r>
          </a:p>
        </p:txBody>
      </p:sp>
      <p:sp>
        <p:nvSpPr>
          <p:cNvPr id="160" name="TextBox 3"/>
          <p:cNvSpPr txBox="1"/>
          <p:nvPr/>
        </p:nvSpPr>
        <p:spPr>
          <a:xfrm>
            <a:off x="777238" y="1463039"/>
            <a:ext cx="2651763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00A896"/>
                </a:solidFill>
              </a:defRPr>
            </a:lvl1pPr>
          </a:lstStyle>
          <a:p>
            <a:pPr/>
            <a:r>
              <a:t>Camino 1: clasificación directa</a:t>
            </a:r>
          </a:p>
        </p:txBody>
      </p:sp>
      <p:sp>
        <p:nvSpPr>
          <p:cNvPr id="161" name="Rectangle 4"/>
          <p:cNvSpPr/>
          <p:nvPr/>
        </p:nvSpPr>
        <p:spPr>
          <a:xfrm>
            <a:off x="731519" y="2011678"/>
            <a:ext cx="2286001" cy="1097282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5"/>
          <p:cNvSpPr txBox="1"/>
          <p:nvPr/>
        </p:nvSpPr>
        <p:spPr>
          <a:xfrm>
            <a:off x="868677" y="2227233"/>
            <a:ext cx="201168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63" name="TextBox 6"/>
          <p:cNvSpPr txBox="1"/>
          <p:nvPr/>
        </p:nvSpPr>
        <p:spPr>
          <a:xfrm>
            <a:off x="868677" y="2592991"/>
            <a:ext cx="20116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224 x 224 RGB</a:t>
            </a:r>
          </a:p>
        </p:txBody>
      </p:sp>
      <p:sp>
        <p:nvSpPr>
          <p:cNvPr id="164" name="Rectangle 7"/>
          <p:cNvSpPr/>
          <p:nvPr/>
        </p:nvSpPr>
        <p:spPr>
          <a:xfrm>
            <a:off x="3200399" y="2468877"/>
            <a:ext cx="731524" cy="54867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Rectangle 8"/>
          <p:cNvSpPr/>
          <p:nvPr/>
        </p:nvSpPr>
        <p:spPr>
          <a:xfrm>
            <a:off x="4114798" y="2011678"/>
            <a:ext cx="2560324" cy="10972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9"/>
          <p:cNvSpPr txBox="1"/>
          <p:nvPr/>
        </p:nvSpPr>
        <p:spPr>
          <a:xfrm>
            <a:off x="4251959" y="2246847"/>
            <a:ext cx="228600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67" name="TextBox 10"/>
          <p:cNvSpPr txBox="1"/>
          <p:nvPr/>
        </p:nvSpPr>
        <p:spPr>
          <a:xfrm>
            <a:off x="4251959" y="2612607"/>
            <a:ext cx="2286003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CADCFC"/>
                </a:solidFill>
              </a:defRPr>
            </a:lvl1pPr>
          </a:lstStyle>
          <a:p>
            <a:pPr/>
            <a:r>
              <a:t>ImageNet pre-entrenadas</a:t>
            </a:r>
          </a:p>
        </p:txBody>
      </p:sp>
      <p:sp>
        <p:nvSpPr>
          <p:cNvPr id="168" name="Rectangle 11"/>
          <p:cNvSpPr/>
          <p:nvPr/>
        </p:nvSpPr>
        <p:spPr>
          <a:xfrm>
            <a:off x="6857999" y="2468877"/>
            <a:ext cx="731524" cy="54867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12"/>
          <p:cNvSpPr/>
          <p:nvPr/>
        </p:nvSpPr>
        <p:spPr>
          <a:xfrm>
            <a:off x="7772400" y="2011678"/>
            <a:ext cx="3200400" cy="1097282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13"/>
          <p:cNvSpPr txBox="1"/>
          <p:nvPr/>
        </p:nvSpPr>
        <p:spPr>
          <a:xfrm>
            <a:off x="7909559" y="2250002"/>
            <a:ext cx="292608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Predicción</a:t>
            </a:r>
          </a:p>
        </p:txBody>
      </p:sp>
      <p:sp>
        <p:nvSpPr>
          <p:cNvPr id="171" name="TextBox 14"/>
          <p:cNvSpPr txBox="1"/>
          <p:nvPr/>
        </p:nvSpPr>
        <p:spPr>
          <a:xfrm>
            <a:off x="7909559" y="2570042"/>
            <a:ext cx="2926083" cy="300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Accuracy: 92%</a:t>
            </a:r>
          </a:p>
        </p:txBody>
      </p:sp>
      <p:sp>
        <p:nvSpPr>
          <p:cNvPr id="172" name="TextBox 15"/>
          <p:cNvSpPr txBox="1"/>
          <p:nvPr/>
        </p:nvSpPr>
        <p:spPr>
          <a:xfrm>
            <a:off x="777237" y="3566159"/>
            <a:ext cx="448056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00A896"/>
                </a:solidFill>
              </a:defRPr>
            </a:lvl1pPr>
          </a:lstStyle>
          <a:p>
            <a:pPr/>
            <a:r>
              <a:t>Camino 2: segmentación + clasificación</a:t>
            </a:r>
          </a:p>
        </p:txBody>
      </p:sp>
      <p:sp>
        <p:nvSpPr>
          <p:cNvPr id="173" name="Rectangle 16"/>
          <p:cNvSpPr/>
          <p:nvPr/>
        </p:nvSpPr>
        <p:spPr>
          <a:xfrm>
            <a:off x="731519" y="4114798"/>
            <a:ext cx="1828801" cy="1097284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TextBox 17"/>
          <p:cNvSpPr txBox="1"/>
          <p:nvPr/>
        </p:nvSpPr>
        <p:spPr>
          <a:xfrm>
            <a:off x="822958" y="4320540"/>
            <a:ext cx="16459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Imagen OCT</a:t>
            </a:r>
          </a:p>
        </p:txBody>
      </p:sp>
      <p:sp>
        <p:nvSpPr>
          <p:cNvPr id="175" name="TextBox 18"/>
          <p:cNvSpPr txBox="1"/>
          <p:nvPr/>
        </p:nvSpPr>
        <p:spPr>
          <a:xfrm>
            <a:off x="822958" y="4686298"/>
            <a:ext cx="1645923" cy="22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6B7B8D"/>
                </a:solidFill>
              </a:defRPr>
            </a:lvl1pPr>
          </a:lstStyle>
          <a:p>
            <a:pPr/>
            <a:r>
              <a:t>Escala de grises</a:t>
            </a:r>
          </a:p>
        </p:txBody>
      </p:sp>
      <p:sp>
        <p:nvSpPr>
          <p:cNvPr id="176" name="Rectangle 19"/>
          <p:cNvSpPr/>
          <p:nvPr/>
        </p:nvSpPr>
        <p:spPr>
          <a:xfrm>
            <a:off x="2697477" y="4572000"/>
            <a:ext cx="457203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Rectangle 20"/>
          <p:cNvSpPr/>
          <p:nvPr/>
        </p:nvSpPr>
        <p:spPr>
          <a:xfrm>
            <a:off x="3291840" y="4114798"/>
            <a:ext cx="2103123" cy="109728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TextBox 21"/>
          <p:cNvSpPr txBox="1"/>
          <p:nvPr/>
        </p:nvSpPr>
        <p:spPr>
          <a:xfrm>
            <a:off x="3383279" y="4320540"/>
            <a:ext cx="1920241" cy="300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UNet++</a:t>
            </a:r>
          </a:p>
        </p:txBody>
      </p:sp>
      <p:sp>
        <p:nvSpPr>
          <p:cNvPr id="179" name="TextBox 22"/>
          <p:cNvSpPr txBox="1"/>
          <p:nvPr/>
        </p:nvSpPr>
        <p:spPr>
          <a:xfrm>
            <a:off x="3383279" y="4686298"/>
            <a:ext cx="1920241" cy="22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FFFFFF"/>
                </a:solidFill>
              </a:defRPr>
            </a:lvl1pPr>
          </a:lstStyle>
          <a:p>
            <a:pPr/>
            <a:r>
              <a:t>ResNet34 encoder</a:t>
            </a:r>
          </a:p>
        </p:txBody>
      </p:sp>
      <p:sp>
        <p:nvSpPr>
          <p:cNvPr id="180" name="Rectangle 23"/>
          <p:cNvSpPr/>
          <p:nvPr/>
        </p:nvSpPr>
        <p:spPr>
          <a:xfrm>
            <a:off x="5532120" y="4572000"/>
            <a:ext cx="457203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24"/>
          <p:cNvSpPr/>
          <p:nvPr/>
        </p:nvSpPr>
        <p:spPr>
          <a:xfrm>
            <a:off x="6126479" y="4114798"/>
            <a:ext cx="1645923" cy="1097284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25"/>
          <p:cNvSpPr txBox="1"/>
          <p:nvPr/>
        </p:nvSpPr>
        <p:spPr>
          <a:xfrm>
            <a:off x="6217918" y="4328004"/>
            <a:ext cx="146304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Máscara</a:t>
            </a:r>
          </a:p>
        </p:txBody>
      </p:sp>
      <p:sp>
        <p:nvSpPr>
          <p:cNvPr id="183" name="TextBox 26"/>
          <p:cNvSpPr txBox="1"/>
          <p:nvPr/>
        </p:nvSpPr>
        <p:spPr>
          <a:xfrm>
            <a:off x="6217918" y="4693763"/>
            <a:ext cx="1463044" cy="22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E2761"/>
                </a:solidFill>
              </a:defRPr>
            </a:lvl1pPr>
          </a:lstStyle>
          <a:p>
            <a:pPr/>
            <a:r>
              <a:t>8 capas</a:t>
            </a:r>
          </a:p>
        </p:txBody>
      </p:sp>
      <p:sp>
        <p:nvSpPr>
          <p:cNvPr id="184" name="Rectangle 27"/>
          <p:cNvSpPr/>
          <p:nvPr/>
        </p:nvSpPr>
        <p:spPr>
          <a:xfrm>
            <a:off x="7909559" y="4572000"/>
            <a:ext cx="457203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28"/>
          <p:cNvSpPr/>
          <p:nvPr/>
        </p:nvSpPr>
        <p:spPr>
          <a:xfrm>
            <a:off x="8503918" y="4114798"/>
            <a:ext cx="1828803" cy="109728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TextBox 29"/>
          <p:cNvSpPr txBox="1"/>
          <p:nvPr/>
        </p:nvSpPr>
        <p:spPr>
          <a:xfrm>
            <a:off x="8595359" y="4303698"/>
            <a:ext cx="1645923" cy="300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ResNet50</a:t>
            </a:r>
          </a:p>
        </p:txBody>
      </p:sp>
      <p:sp>
        <p:nvSpPr>
          <p:cNvPr id="187" name="TextBox 30"/>
          <p:cNvSpPr txBox="1"/>
          <p:nvPr/>
        </p:nvSpPr>
        <p:spPr>
          <a:xfrm>
            <a:off x="8595359" y="4669459"/>
            <a:ext cx="1645923" cy="225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ImageNet</a:t>
            </a:r>
          </a:p>
        </p:txBody>
      </p:sp>
      <p:sp>
        <p:nvSpPr>
          <p:cNvPr id="188" name="Rectangle 31"/>
          <p:cNvSpPr/>
          <p:nvPr/>
        </p:nvSpPr>
        <p:spPr>
          <a:xfrm>
            <a:off x="10469880" y="4572000"/>
            <a:ext cx="320043" cy="5486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Rectangle 32"/>
          <p:cNvSpPr/>
          <p:nvPr/>
        </p:nvSpPr>
        <p:spPr>
          <a:xfrm>
            <a:off x="10058400" y="5486398"/>
            <a:ext cx="1371600" cy="731524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TextBox 33"/>
          <p:cNvSpPr txBox="1"/>
          <p:nvPr/>
        </p:nvSpPr>
        <p:spPr>
          <a:xfrm>
            <a:off x="10149839" y="5564702"/>
            <a:ext cx="118872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91" name="TextBox 34"/>
          <p:cNvSpPr txBox="1"/>
          <p:nvPr/>
        </p:nvSpPr>
        <p:spPr>
          <a:xfrm>
            <a:off x="10149839" y="5839023"/>
            <a:ext cx="1188723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192" name="Rectangle 35"/>
          <p:cNvSpPr/>
          <p:nvPr/>
        </p:nvSpPr>
        <p:spPr>
          <a:xfrm>
            <a:off x="731519" y="5943598"/>
            <a:ext cx="8686801" cy="640084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Rectangle 36"/>
          <p:cNvSpPr/>
          <p:nvPr/>
        </p:nvSpPr>
        <p:spPr>
          <a:xfrm>
            <a:off x="731519" y="5943598"/>
            <a:ext cx="54867" cy="640084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4" name="TextBox 37"/>
          <p:cNvSpPr txBox="1"/>
          <p:nvPr/>
        </p:nvSpPr>
        <p:spPr>
          <a:xfrm>
            <a:off x="1005839" y="6123239"/>
            <a:ext cx="8138160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A1A2E"/>
                </a:solidFill>
              </a:defRPr>
            </a:lvl1pPr>
          </a:lstStyle>
          <a:p>
            <a:pPr/>
            <a:r>
              <a:t>Mismo clasificador (ResNet50), diferente input. Esto aísla el efecto de la segmentación.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Modelo de segmentación: UNet++</a:t>
            </a:r>
          </a:p>
        </p:txBody>
      </p:sp>
      <p:sp>
        <p:nvSpPr>
          <p:cNvPr id="198" name="TextBox 3"/>
          <p:cNvSpPr txBox="1"/>
          <p:nvPr/>
        </p:nvSpPr>
        <p:spPr>
          <a:xfrm>
            <a:off x="777237" y="1463038"/>
            <a:ext cx="5394964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00A896"/>
                </a:solidFill>
              </a:defRPr>
            </a:lvl1pPr>
          </a:lstStyle>
          <a:p>
            <a:pPr/>
            <a:r>
              <a:t>Arquitectura y configuración</a:t>
            </a:r>
          </a:p>
        </p:txBody>
      </p:sp>
      <p:sp>
        <p:nvSpPr>
          <p:cNvPr id="199" name="TextBox 4"/>
          <p:cNvSpPr txBox="1"/>
          <p:nvPr/>
        </p:nvSpPr>
        <p:spPr>
          <a:xfrm>
            <a:off x="960118" y="2103121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Modelo:</a:t>
            </a:r>
          </a:p>
        </p:txBody>
      </p:sp>
      <p:sp>
        <p:nvSpPr>
          <p:cNvPr id="200" name="TextBox 5"/>
          <p:cNvSpPr txBox="1"/>
          <p:nvPr/>
        </p:nvSpPr>
        <p:spPr>
          <a:xfrm>
            <a:off x="2606038" y="2103121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UNet++</a:t>
            </a:r>
          </a:p>
        </p:txBody>
      </p:sp>
      <p:sp>
        <p:nvSpPr>
          <p:cNvPr id="201" name="TextBox 6"/>
          <p:cNvSpPr txBox="1"/>
          <p:nvPr/>
        </p:nvSpPr>
        <p:spPr>
          <a:xfrm>
            <a:off x="960118" y="2560321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Encoder:</a:t>
            </a:r>
          </a:p>
        </p:txBody>
      </p:sp>
      <p:sp>
        <p:nvSpPr>
          <p:cNvPr id="202" name="TextBox 7"/>
          <p:cNvSpPr txBox="1"/>
          <p:nvPr/>
        </p:nvSpPr>
        <p:spPr>
          <a:xfrm>
            <a:off x="2606038" y="2560321"/>
            <a:ext cx="3745050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ResNet34 (con pesos pre-entrenados / Imagenet)</a:t>
            </a:r>
          </a:p>
        </p:txBody>
      </p:sp>
      <p:sp>
        <p:nvSpPr>
          <p:cNvPr id="203" name="TextBox 8"/>
          <p:cNvSpPr txBox="1"/>
          <p:nvPr/>
        </p:nvSpPr>
        <p:spPr>
          <a:xfrm>
            <a:off x="960118" y="3017521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Input:</a:t>
            </a:r>
          </a:p>
        </p:txBody>
      </p:sp>
      <p:sp>
        <p:nvSpPr>
          <p:cNvPr id="204" name="TextBox 9"/>
          <p:cNvSpPr txBox="1"/>
          <p:nvPr/>
        </p:nvSpPr>
        <p:spPr>
          <a:xfrm>
            <a:off x="2606038" y="3017521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1 canal, 224 x 512 px</a:t>
            </a:r>
          </a:p>
        </p:txBody>
      </p:sp>
      <p:sp>
        <p:nvSpPr>
          <p:cNvPr id="205" name="TextBox 10"/>
          <p:cNvSpPr txBox="1"/>
          <p:nvPr/>
        </p:nvSpPr>
        <p:spPr>
          <a:xfrm>
            <a:off x="960118" y="3474720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Output:</a:t>
            </a:r>
          </a:p>
        </p:txBody>
      </p:sp>
      <p:sp>
        <p:nvSpPr>
          <p:cNvPr id="206" name="TextBox 11"/>
          <p:cNvSpPr txBox="1"/>
          <p:nvPr/>
        </p:nvSpPr>
        <p:spPr>
          <a:xfrm>
            <a:off x="2606038" y="3474720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8 clases de capas retinales</a:t>
            </a:r>
          </a:p>
        </p:txBody>
      </p:sp>
      <p:sp>
        <p:nvSpPr>
          <p:cNvPr id="207" name="TextBox 12"/>
          <p:cNvSpPr txBox="1"/>
          <p:nvPr/>
        </p:nvSpPr>
        <p:spPr>
          <a:xfrm>
            <a:off x="960118" y="3931920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Loss:</a:t>
            </a:r>
          </a:p>
        </p:txBody>
      </p:sp>
      <p:sp>
        <p:nvSpPr>
          <p:cNvPr id="208" name="TextBox 13"/>
          <p:cNvSpPr txBox="1"/>
          <p:nvPr/>
        </p:nvSpPr>
        <p:spPr>
          <a:xfrm>
            <a:off x="2606038" y="3931920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CrossEntropyLoss</a:t>
            </a:r>
          </a:p>
        </p:txBody>
      </p:sp>
      <p:sp>
        <p:nvSpPr>
          <p:cNvPr id="209" name="TextBox 14"/>
          <p:cNvSpPr txBox="1"/>
          <p:nvPr/>
        </p:nvSpPr>
        <p:spPr>
          <a:xfrm>
            <a:off x="960118" y="4389120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Optimizer:</a:t>
            </a:r>
          </a:p>
        </p:txBody>
      </p:sp>
      <p:sp>
        <p:nvSpPr>
          <p:cNvPr id="210" name="TextBox 15"/>
          <p:cNvSpPr txBox="1"/>
          <p:nvPr/>
        </p:nvSpPr>
        <p:spPr>
          <a:xfrm>
            <a:off x="2606038" y="4389120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Adam (lr = 1e-3)</a:t>
            </a:r>
          </a:p>
        </p:txBody>
      </p:sp>
      <p:sp>
        <p:nvSpPr>
          <p:cNvPr id="211" name="TextBox 16"/>
          <p:cNvSpPr txBox="1"/>
          <p:nvPr/>
        </p:nvSpPr>
        <p:spPr>
          <a:xfrm>
            <a:off x="960118" y="4846320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Split:</a:t>
            </a:r>
          </a:p>
        </p:txBody>
      </p:sp>
      <p:sp>
        <p:nvSpPr>
          <p:cNvPr id="212" name="TextBox 17"/>
          <p:cNvSpPr txBox="1"/>
          <p:nvPr/>
        </p:nvSpPr>
        <p:spPr>
          <a:xfrm>
            <a:off x="2606038" y="4846320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80% train / 20% val (176/44 imgs)</a:t>
            </a:r>
          </a:p>
        </p:txBody>
      </p:sp>
      <p:sp>
        <p:nvSpPr>
          <p:cNvPr id="213" name="TextBox 18"/>
          <p:cNvSpPr txBox="1"/>
          <p:nvPr/>
        </p:nvSpPr>
        <p:spPr>
          <a:xfrm>
            <a:off x="960118" y="5303520"/>
            <a:ext cx="1554485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1E2761"/>
                </a:solidFill>
              </a:defRPr>
            </a:lvl1pPr>
          </a:lstStyle>
          <a:p>
            <a:pPr/>
            <a:r>
              <a:t>Epochs:</a:t>
            </a:r>
          </a:p>
        </p:txBody>
      </p:sp>
      <p:sp>
        <p:nvSpPr>
          <p:cNvPr id="214" name="TextBox 19"/>
          <p:cNvSpPr txBox="1"/>
          <p:nvPr/>
        </p:nvSpPr>
        <p:spPr>
          <a:xfrm>
            <a:off x="2606038" y="5303520"/>
            <a:ext cx="356616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1A1A2E"/>
                </a:solidFill>
              </a:defRPr>
            </a:lvl1pPr>
          </a:lstStyle>
          <a:p>
            <a:pPr/>
            <a:r>
              <a:t>50, batch size 8</a:t>
            </a:r>
          </a:p>
        </p:txBody>
      </p:sp>
      <p:sp>
        <p:nvSpPr>
          <p:cNvPr id="215" name="TextBox 20"/>
          <p:cNvSpPr txBox="1"/>
          <p:nvPr/>
        </p:nvSpPr>
        <p:spPr>
          <a:xfrm>
            <a:off x="6903718" y="1463038"/>
            <a:ext cx="4480564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00A896"/>
                </a:solidFill>
              </a:defRPr>
            </a:lvl1pPr>
          </a:lstStyle>
          <a:p>
            <a:pPr/>
            <a:r>
              <a:t>Justificación técnica</a:t>
            </a:r>
          </a:p>
        </p:txBody>
      </p:sp>
      <p:sp>
        <p:nvSpPr>
          <p:cNvPr id="216" name="Rectangle 21"/>
          <p:cNvSpPr/>
          <p:nvPr/>
        </p:nvSpPr>
        <p:spPr>
          <a:xfrm>
            <a:off x="6858000" y="2103120"/>
            <a:ext cx="4572000" cy="13716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Rectangle 22"/>
          <p:cNvSpPr/>
          <p:nvPr/>
        </p:nvSpPr>
        <p:spPr>
          <a:xfrm>
            <a:off x="6858000" y="2103120"/>
            <a:ext cx="54864" cy="137160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TextBox 23"/>
          <p:cNvSpPr txBox="1"/>
          <p:nvPr/>
        </p:nvSpPr>
        <p:spPr>
          <a:xfrm>
            <a:off x="7132318" y="2287137"/>
            <a:ext cx="4023364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¿Por qué UNet++ sobre U-Net?</a:t>
            </a:r>
          </a:p>
        </p:txBody>
      </p:sp>
      <p:sp>
        <p:nvSpPr>
          <p:cNvPr id="219" name="TextBox 24"/>
          <p:cNvSpPr txBox="1"/>
          <p:nvPr/>
        </p:nvSpPr>
        <p:spPr>
          <a:xfrm>
            <a:off x="7132318" y="2652897"/>
            <a:ext cx="4023364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Las conexiones densas anidadas mejoran la captura de detalles finos en capas retinales delgadas, críticas en OCT.</a:t>
            </a:r>
          </a:p>
        </p:txBody>
      </p:sp>
      <p:sp>
        <p:nvSpPr>
          <p:cNvPr id="220" name="Rectangle 25"/>
          <p:cNvSpPr/>
          <p:nvPr/>
        </p:nvSpPr>
        <p:spPr>
          <a:xfrm>
            <a:off x="6858000" y="3749037"/>
            <a:ext cx="4572000" cy="13716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26"/>
          <p:cNvSpPr/>
          <p:nvPr/>
        </p:nvSpPr>
        <p:spPr>
          <a:xfrm>
            <a:off x="6858000" y="3749037"/>
            <a:ext cx="54864" cy="137160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TextBox 27"/>
          <p:cNvSpPr txBox="1"/>
          <p:nvPr/>
        </p:nvSpPr>
        <p:spPr>
          <a:xfrm>
            <a:off x="7132318" y="3963977"/>
            <a:ext cx="4023363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¿Por qué ResNet34 como encoder?</a:t>
            </a:r>
          </a:p>
        </p:txBody>
      </p:sp>
      <p:sp>
        <p:nvSpPr>
          <p:cNvPr id="223" name="TextBox 28"/>
          <p:cNvSpPr txBox="1"/>
          <p:nvPr/>
        </p:nvSpPr>
        <p:spPr>
          <a:xfrm>
            <a:off x="7132318" y="4373355"/>
            <a:ext cx="4023363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Balance entre capacidad de representación y costo computacional para imágenes médicas de un solo canal.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Resultados: segmentación</a:t>
            </a:r>
          </a:p>
        </p:txBody>
      </p:sp>
      <p:sp>
        <p:nvSpPr>
          <p:cNvPr id="227" name="TextBox 3"/>
          <p:cNvSpPr txBox="1"/>
          <p:nvPr/>
        </p:nvSpPr>
        <p:spPr>
          <a:xfrm>
            <a:off x="777238" y="1371599"/>
            <a:ext cx="3108963" cy="745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5200">
                <a:solidFill>
                  <a:srgbClr val="00A896"/>
                </a:solidFill>
              </a:defRPr>
            </a:lvl1pPr>
          </a:lstStyle>
          <a:p>
            <a:pPr/>
            <a:r>
              <a:t>0.981</a:t>
            </a:r>
          </a:p>
        </p:txBody>
      </p:sp>
      <p:sp>
        <p:nvSpPr>
          <p:cNvPr id="228" name="TextBox 4"/>
          <p:cNvSpPr txBox="1"/>
          <p:nvPr/>
        </p:nvSpPr>
        <p:spPr>
          <a:xfrm>
            <a:off x="777238" y="2103121"/>
            <a:ext cx="3108963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Dice (macro)</a:t>
            </a:r>
          </a:p>
        </p:txBody>
      </p:sp>
      <p:sp>
        <p:nvSpPr>
          <p:cNvPr id="229" name="TextBox 5"/>
          <p:cNvSpPr txBox="1"/>
          <p:nvPr/>
        </p:nvSpPr>
        <p:spPr>
          <a:xfrm>
            <a:off x="4617718" y="1371599"/>
            <a:ext cx="3108964" cy="745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5200">
                <a:solidFill>
                  <a:srgbClr val="1E2761"/>
                </a:solidFill>
              </a:defRPr>
            </a:lvl1pPr>
          </a:lstStyle>
          <a:p>
            <a:pPr/>
            <a:r>
              <a:t>0.964</a:t>
            </a:r>
          </a:p>
        </p:txBody>
      </p:sp>
      <p:sp>
        <p:nvSpPr>
          <p:cNvPr id="230" name="TextBox 6"/>
          <p:cNvSpPr txBox="1"/>
          <p:nvPr/>
        </p:nvSpPr>
        <p:spPr>
          <a:xfrm>
            <a:off x="4617718" y="2103121"/>
            <a:ext cx="310896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IoU (macro)</a:t>
            </a:r>
          </a:p>
        </p:txBody>
      </p:sp>
      <p:sp>
        <p:nvSpPr>
          <p:cNvPr id="231" name="TextBox 7"/>
          <p:cNvSpPr txBox="1"/>
          <p:nvPr/>
        </p:nvSpPr>
        <p:spPr>
          <a:xfrm>
            <a:off x="8458199" y="1371599"/>
            <a:ext cx="3108964" cy="745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5200">
                <a:solidFill>
                  <a:srgbClr val="6B7B8D"/>
                </a:solidFill>
              </a:defRPr>
            </a:lvl1pPr>
          </a:lstStyle>
          <a:p>
            <a:pPr/>
            <a:r>
              <a:t>1.53</a:t>
            </a:r>
          </a:p>
        </p:txBody>
      </p:sp>
      <p:sp>
        <p:nvSpPr>
          <p:cNvPr id="232" name="TextBox 8"/>
          <p:cNvSpPr txBox="1"/>
          <p:nvPr/>
        </p:nvSpPr>
        <p:spPr>
          <a:xfrm>
            <a:off x="8458199" y="2103121"/>
            <a:ext cx="310896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6B7B8D"/>
                </a:solidFill>
              </a:defRPr>
            </a:lvl1pPr>
          </a:lstStyle>
          <a:p>
            <a:pPr/>
            <a:r>
              <a:t>Hausdorff Dist. (px)</a:t>
            </a:r>
          </a:p>
        </p:txBody>
      </p:sp>
      <p:sp>
        <p:nvSpPr>
          <p:cNvPr id="233" name="TextBox 9"/>
          <p:cNvSpPr txBox="1"/>
          <p:nvPr/>
        </p:nvSpPr>
        <p:spPr>
          <a:xfrm>
            <a:off x="777237" y="2926078"/>
            <a:ext cx="5394964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Dice y Hausdorff por capa retinal</a:t>
            </a:r>
          </a:p>
        </p:txBody>
      </p:sp>
      <p:graphicFrame>
        <p:nvGraphicFramePr>
          <p:cNvPr id="234" name="Table 10"/>
          <p:cNvGraphicFramePr/>
          <p:nvPr/>
        </p:nvGraphicFramePr>
        <p:xfrm>
          <a:off x="731519" y="3474720"/>
          <a:ext cx="10698482" cy="109728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ILM-RNFL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RNFL-GCL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GCL-IPL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IPL-INL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INL-OPL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OPL-ONL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ONL-IS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IS-OS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0.967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0.990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00A896"/>
                          </a:solidFill>
                        </a:rPr>
                        <a:t>0.979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>
                          <a:solidFill>
                            <a:srgbClr val="00A896"/>
                          </a:solidFill>
                        </a:rPr>
                        <a:t>█████████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TextBox 11"/>
          <p:cNvSpPr txBox="1"/>
          <p:nvPr/>
        </p:nvSpPr>
        <p:spPr>
          <a:xfrm>
            <a:off x="777237" y="4846320"/>
            <a:ext cx="5394964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1E2761"/>
                </a:solidFill>
              </a:defRPr>
            </a:lvl1pPr>
          </a:lstStyle>
          <a:p>
            <a:pPr/>
            <a:r>
              <a:t>Convergencia del entrenamiento</a:t>
            </a:r>
          </a:p>
        </p:txBody>
      </p:sp>
      <p:graphicFrame>
        <p:nvGraphicFramePr>
          <p:cNvPr id="236" name="Table 12"/>
          <p:cNvGraphicFramePr/>
          <p:nvPr/>
        </p:nvGraphicFramePr>
        <p:xfrm>
          <a:off x="731519" y="5303520"/>
          <a:ext cx="7315201" cy="137160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Train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Val Loss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Mejora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0.9495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0.5684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-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0.0932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0.0854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85%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0.0583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32%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0.0315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0.0354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39%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50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0.0192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0.0201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A1A2E"/>
                          </a:solidFill>
                        </a:rPr>
                        <a:t>43%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Clasificación: 3 estrategias</a:t>
            </a:r>
          </a:p>
        </p:txBody>
      </p:sp>
      <p:sp>
        <p:nvSpPr>
          <p:cNvPr id="240" name="Rectangle 3"/>
          <p:cNvSpPr/>
          <p:nvPr/>
        </p:nvSpPr>
        <p:spPr>
          <a:xfrm>
            <a:off x="731520" y="1371600"/>
            <a:ext cx="3383280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" name="Rectangle 4"/>
          <p:cNvSpPr/>
          <p:nvPr/>
        </p:nvSpPr>
        <p:spPr>
          <a:xfrm>
            <a:off x="731520" y="1371599"/>
            <a:ext cx="3383280" cy="548644"/>
          </a:xfrm>
          <a:prstGeom prst="rect">
            <a:avLst/>
          </a:prstGeom>
          <a:solidFill>
            <a:srgbClr val="2ECC7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TextBox 5"/>
          <p:cNvSpPr txBox="1"/>
          <p:nvPr/>
        </p:nvSpPr>
        <p:spPr>
          <a:xfrm>
            <a:off x="868677" y="1506921"/>
            <a:ext cx="3108963" cy="277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Modelo 1: imágenes originales</a:t>
            </a:r>
          </a:p>
        </p:txBody>
      </p:sp>
      <p:sp>
        <p:nvSpPr>
          <p:cNvPr id="243" name="TextBox 6"/>
          <p:cNvSpPr txBox="1"/>
          <p:nvPr/>
        </p:nvSpPr>
        <p:spPr>
          <a:xfrm>
            <a:off x="960118" y="2103121"/>
            <a:ext cx="2926085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Input: OCT RGB (224x224)</a:t>
            </a:r>
          </a:p>
        </p:txBody>
      </p:sp>
      <p:sp>
        <p:nvSpPr>
          <p:cNvPr id="244" name="TextBox 7"/>
          <p:cNvSpPr txBox="1"/>
          <p:nvPr/>
        </p:nvSpPr>
        <p:spPr>
          <a:xfrm>
            <a:off x="960118" y="2560321"/>
            <a:ext cx="2926085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45" name="TextBox 8"/>
          <p:cNvSpPr txBox="1"/>
          <p:nvPr/>
        </p:nvSpPr>
        <p:spPr>
          <a:xfrm>
            <a:off x="960118" y="3017521"/>
            <a:ext cx="2926085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FC(2048 -&gt; 4 clases)</a:t>
            </a:r>
          </a:p>
        </p:txBody>
      </p:sp>
      <p:sp>
        <p:nvSpPr>
          <p:cNvPr id="246" name="TextBox 9"/>
          <p:cNvSpPr txBox="1"/>
          <p:nvPr/>
        </p:nvSpPr>
        <p:spPr>
          <a:xfrm>
            <a:off x="960118" y="3474720"/>
            <a:ext cx="2926085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Adam, lr = 1e-4</a:t>
            </a:r>
          </a:p>
        </p:txBody>
      </p:sp>
      <p:sp>
        <p:nvSpPr>
          <p:cNvPr id="247" name="TextBox 10"/>
          <p:cNvSpPr txBox="1"/>
          <p:nvPr/>
        </p:nvSpPr>
        <p:spPr>
          <a:xfrm>
            <a:off x="960118" y="3931920"/>
            <a:ext cx="2926085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30 epochs, patience = 5</a:t>
            </a:r>
          </a:p>
        </p:txBody>
      </p:sp>
      <p:sp>
        <p:nvSpPr>
          <p:cNvPr id="248" name="TextBox 11"/>
          <p:cNvSpPr txBox="1"/>
          <p:nvPr/>
        </p:nvSpPr>
        <p:spPr>
          <a:xfrm>
            <a:off x="960118" y="4389120"/>
            <a:ext cx="2926085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ColorJitter (+-0.2)</a:t>
            </a:r>
          </a:p>
        </p:txBody>
      </p:sp>
      <p:sp>
        <p:nvSpPr>
          <p:cNvPr id="249" name="TextBox 12"/>
          <p:cNvSpPr txBox="1"/>
          <p:nvPr/>
        </p:nvSpPr>
        <p:spPr>
          <a:xfrm>
            <a:off x="960118" y="4846320"/>
            <a:ext cx="2926085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WeightedRandomSampler</a:t>
            </a:r>
          </a:p>
        </p:txBody>
      </p:sp>
      <p:sp>
        <p:nvSpPr>
          <p:cNvPr id="250" name="Rectangle 13"/>
          <p:cNvSpPr/>
          <p:nvPr/>
        </p:nvSpPr>
        <p:spPr>
          <a:xfrm>
            <a:off x="4389120" y="1371600"/>
            <a:ext cx="3383282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Rectangle 14"/>
          <p:cNvSpPr/>
          <p:nvPr/>
        </p:nvSpPr>
        <p:spPr>
          <a:xfrm>
            <a:off x="4389120" y="1371599"/>
            <a:ext cx="3383282" cy="548644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TextBox 15"/>
          <p:cNvSpPr txBox="1"/>
          <p:nvPr/>
        </p:nvSpPr>
        <p:spPr>
          <a:xfrm>
            <a:off x="4526279" y="1506921"/>
            <a:ext cx="3108963" cy="277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Modelo 2: solo máscaras</a:t>
            </a:r>
          </a:p>
        </p:txBody>
      </p:sp>
      <p:sp>
        <p:nvSpPr>
          <p:cNvPr id="253" name="TextBox 16"/>
          <p:cNvSpPr txBox="1"/>
          <p:nvPr/>
        </p:nvSpPr>
        <p:spPr>
          <a:xfrm>
            <a:off x="4617718" y="2103121"/>
            <a:ext cx="2926084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Input: mascara UNet++ (frozen)</a:t>
            </a:r>
          </a:p>
        </p:txBody>
      </p:sp>
      <p:sp>
        <p:nvSpPr>
          <p:cNvPr id="254" name="TextBox 17"/>
          <p:cNvSpPr txBox="1"/>
          <p:nvPr/>
        </p:nvSpPr>
        <p:spPr>
          <a:xfrm>
            <a:off x="4617718" y="2560321"/>
            <a:ext cx="2926084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OCT -&gt; gray -&gt; UNet++ -&gt; mask</a:t>
            </a:r>
          </a:p>
        </p:txBody>
      </p:sp>
      <p:sp>
        <p:nvSpPr>
          <p:cNvPr id="255" name="TextBox 18"/>
          <p:cNvSpPr txBox="1"/>
          <p:nvPr/>
        </p:nvSpPr>
        <p:spPr>
          <a:xfrm>
            <a:off x="4617718" y="3017521"/>
            <a:ext cx="2926084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Valores 0-7/7, 3 canales</a:t>
            </a:r>
          </a:p>
        </p:txBody>
      </p:sp>
      <p:sp>
        <p:nvSpPr>
          <p:cNvPr id="256" name="TextBox 19"/>
          <p:cNvSpPr txBox="1"/>
          <p:nvPr/>
        </p:nvSpPr>
        <p:spPr>
          <a:xfrm>
            <a:off x="4617718" y="34747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57" name="TextBox 20"/>
          <p:cNvSpPr txBox="1"/>
          <p:nvPr/>
        </p:nvSpPr>
        <p:spPr>
          <a:xfrm>
            <a:off x="4617718" y="39319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20 epochs, patience = 5</a:t>
            </a:r>
          </a:p>
        </p:txBody>
      </p:sp>
      <p:sp>
        <p:nvSpPr>
          <p:cNvPr id="258" name="TextBox 21"/>
          <p:cNvSpPr txBox="1"/>
          <p:nvPr/>
        </p:nvSpPr>
        <p:spPr>
          <a:xfrm>
            <a:off x="4617718" y="43891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HFlip + VFlip</a:t>
            </a:r>
          </a:p>
        </p:txBody>
      </p:sp>
      <p:sp>
        <p:nvSpPr>
          <p:cNvPr id="259" name="TextBox 22"/>
          <p:cNvSpPr txBox="1"/>
          <p:nvPr/>
        </p:nvSpPr>
        <p:spPr>
          <a:xfrm>
            <a:off x="4617718" y="48463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Batch size: 16</a:t>
            </a:r>
          </a:p>
        </p:txBody>
      </p:sp>
      <p:sp>
        <p:nvSpPr>
          <p:cNvPr id="260" name="Rectangle 23"/>
          <p:cNvSpPr/>
          <p:nvPr/>
        </p:nvSpPr>
        <p:spPr>
          <a:xfrm>
            <a:off x="8046718" y="1371600"/>
            <a:ext cx="3383282" cy="4754880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Rectangle 24"/>
          <p:cNvSpPr/>
          <p:nvPr/>
        </p:nvSpPr>
        <p:spPr>
          <a:xfrm>
            <a:off x="8046718" y="1371599"/>
            <a:ext cx="3383282" cy="54864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2" name="TextBox 25"/>
          <p:cNvSpPr txBox="1"/>
          <p:nvPr/>
        </p:nvSpPr>
        <p:spPr>
          <a:xfrm>
            <a:off x="8183880" y="1506921"/>
            <a:ext cx="3108963" cy="277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Modelo 3: híbrido 4-ch</a:t>
            </a:r>
          </a:p>
        </p:txBody>
      </p:sp>
      <p:sp>
        <p:nvSpPr>
          <p:cNvPr id="263" name="TextBox 26"/>
          <p:cNvSpPr txBox="1"/>
          <p:nvPr/>
        </p:nvSpPr>
        <p:spPr>
          <a:xfrm>
            <a:off x="8275318" y="2103121"/>
            <a:ext cx="2926084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Input: RGB + máscara (4 ch)</a:t>
            </a:r>
          </a:p>
        </p:txBody>
      </p:sp>
      <p:sp>
        <p:nvSpPr>
          <p:cNvPr id="264" name="TextBox 27"/>
          <p:cNvSpPr txBox="1"/>
          <p:nvPr/>
        </p:nvSpPr>
        <p:spPr>
          <a:xfrm>
            <a:off x="8275318" y="2560321"/>
            <a:ext cx="2926084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Conv1 adaptada a 4 canales</a:t>
            </a:r>
          </a:p>
        </p:txBody>
      </p:sp>
      <p:sp>
        <p:nvSpPr>
          <p:cNvPr id="265" name="TextBox 28"/>
          <p:cNvSpPr txBox="1"/>
          <p:nvPr/>
        </p:nvSpPr>
        <p:spPr>
          <a:xfrm>
            <a:off x="8275318" y="3017521"/>
            <a:ext cx="2926084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4to filtro = promedio RGB</a:t>
            </a:r>
          </a:p>
        </p:txBody>
      </p:sp>
      <p:sp>
        <p:nvSpPr>
          <p:cNvPr id="266" name="TextBox 29"/>
          <p:cNvSpPr txBox="1"/>
          <p:nvPr/>
        </p:nvSpPr>
        <p:spPr>
          <a:xfrm>
            <a:off x="8275318" y="34747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ResNet50 (ImageNet V2)</a:t>
            </a:r>
          </a:p>
        </p:txBody>
      </p:sp>
      <p:sp>
        <p:nvSpPr>
          <p:cNvPr id="267" name="TextBox 30"/>
          <p:cNvSpPr txBox="1"/>
          <p:nvPr/>
        </p:nvSpPr>
        <p:spPr>
          <a:xfrm>
            <a:off x="8275318" y="39319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20 epochs, patience = 5</a:t>
            </a:r>
          </a:p>
        </p:txBody>
      </p:sp>
      <p:sp>
        <p:nvSpPr>
          <p:cNvPr id="268" name="TextBox 31"/>
          <p:cNvSpPr txBox="1"/>
          <p:nvPr/>
        </p:nvSpPr>
        <p:spPr>
          <a:xfrm>
            <a:off x="8275318" y="43891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HFlip + VFlip coherentes</a:t>
            </a:r>
          </a:p>
        </p:txBody>
      </p:sp>
      <p:sp>
        <p:nvSpPr>
          <p:cNvPr id="269" name="TextBox 32"/>
          <p:cNvSpPr txBox="1"/>
          <p:nvPr/>
        </p:nvSpPr>
        <p:spPr>
          <a:xfrm>
            <a:off x="8275318" y="4846320"/>
            <a:ext cx="2926084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1A1A2E"/>
                </a:solidFill>
              </a:defRPr>
            </a:lvl1pPr>
          </a:lstStyle>
          <a:p>
            <a:pPr/>
            <a:r>
              <a:t>WeightedRandom, 8K/epoch</a:t>
            </a:r>
          </a:p>
        </p:txBody>
      </p:sp>
      <p:sp>
        <p:nvSpPr>
          <p:cNvPr id="270" name="Rectangle 33"/>
          <p:cNvSpPr/>
          <p:nvPr/>
        </p:nvSpPr>
        <p:spPr>
          <a:xfrm>
            <a:off x="731519" y="6309359"/>
            <a:ext cx="10698482" cy="54867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Resultados: clasificación comparativa</a:t>
            </a:r>
          </a:p>
        </p:txBody>
      </p:sp>
      <p:sp>
        <p:nvSpPr>
          <p:cNvPr id="274" name="Rectangle 3"/>
          <p:cNvSpPr/>
          <p:nvPr/>
        </p:nvSpPr>
        <p:spPr>
          <a:xfrm>
            <a:off x="731520" y="1280160"/>
            <a:ext cx="3383280" cy="18288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4"/>
          <p:cNvSpPr txBox="1"/>
          <p:nvPr/>
        </p:nvSpPr>
        <p:spPr>
          <a:xfrm>
            <a:off x="868677" y="1453186"/>
            <a:ext cx="310896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Mod. 1: originales</a:t>
            </a:r>
          </a:p>
        </p:txBody>
      </p:sp>
      <p:sp>
        <p:nvSpPr>
          <p:cNvPr id="276" name="TextBox 5"/>
          <p:cNvSpPr txBox="1"/>
          <p:nvPr/>
        </p:nvSpPr>
        <p:spPr>
          <a:xfrm>
            <a:off x="868677" y="1773227"/>
            <a:ext cx="3108963" cy="850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6000">
                <a:solidFill>
                  <a:srgbClr val="2ECC71"/>
                </a:solidFill>
              </a:defRPr>
            </a:lvl1pPr>
          </a:lstStyle>
          <a:p>
            <a:pPr/>
            <a:r>
              <a:t>92%</a:t>
            </a:r>
          </a:p>
        </p:txBody>
      </p:sp>
      <p:sp>
        <p:nvSpPr>
          <p:cNvPr id="277" name="TextBox 6"/>
          <p:cNvSpPr txBox="1"/>
          <p:nvPr/>
        </p:nvSpPr>
        <p:spPr>
          <a:xfrm>
            <a:off x="868677" y="2687628"/>
            <a:ext cx="3108963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78" name="Rectangle 7"/>
          <p:cNvSpPr/>
          <p:nvPr/>
        </p:nvSpPr>
        <p:spPr>
          <a:xfrm>
            <a:off x="4389120" y="1280160"/>
            <a:ext cx="3383282" cy="18288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9" name="TextBox 8"/>
          <p:cNvSpPr txBox="1"/>
          <p:nvPr/>
        </p:nvSpPr>
        <p:spPr>
          <a:xfrm>
            <a:off x="4526279" y="1453186"/>
            <a:ext cx="310896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Mod. 2: solo máscaras</a:t>
            </a:r>
          </a:p>
        </p:txBody>
      </p:sp>
      <p:sp>
        <p:nvSpPr>
          <p:cNvPr id="280" name="TextBox 9"/>
          <p:cNvSpPr txBox="1"/>
          <p:nvPr/>
        </p:nvSpPr>
        <p:spPr>
          <a:xfrm>
            <a:off x="4526279" y="1773227"/>
            <a:ext cx="3108963" cy="850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6000">
                <a:solidFill>
                  <a:srgbClr val="E74C3C"/>
                </a:solidFill>
              </a:defRPr>
            </a:lvl1pPr>
          </a:lstStyle>
          <a:p>
            <a:pPr/>
            <a:r>
              <a:t>72%</a:t>
            </a:r>
          </a:p>
        </p:txBody>
      </p:sp>
      <p:sp>
        <p:nvSpPr>
          <p:cNvPr id="281" name="TextBox 10"/>
          <p:cNvSpPr txBox="1"/>
          <p:nvPr/>
        </p:nvSpPr>
        <p:spPr>
          <a:xfrm>
            <a:off x="4526279" y="2687628"/>
            <a:ext cx="3108963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82" name="Rectangle 11"/>
          <p:cNvSpPr/>
          <p:nvPr/>
        </p:nvSpPr>
        <p:spPr>
          <a:xfrm>
            <a:off x="8046718" y="1280160"/>
            <a:ext cx="3383282" cy="182880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3" name="TextBox 12"/>
          <p:cNvSpPr txBox="1"/>
          <p:nvPr/>
        </p:nvSpPr>
        <p:spPr>
          <a:xfrm>
            <a:off x="8183877" y="1453186"/>
            <a:ext cx="310896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Mod. 3: híbrido 4-ch</a:t>
            </a:r>
          </a:p>
        </p:txBody>
      </p:sp>
      <p:sp>
        <p:nvSpPr>
          <p:cNvPr id="284" name="TextBox 13"/>
          <p:cNvSpPr txBox="1"/>
          <p:nvPr/>
        </p:nvSpPr>
        <p:spPr>
          <a:xfrm>
            <a:off x="8183877" y="1773227"/>
            <a:ext cx="3108963" cy="850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6000">
                <a:solidFill>
                  <a:srgbClr val="2ECC71"/>
                </a:solidFill>
              </a:defRPr>
            </a:lvl1pPr>
          </a:lstStyle>
          <a:p>
            <a:pPr/>
            <a:r>
              <a:t>92%</a:t>
            </a:r>
          </a:p>
        </p:txBody>
      </p:sp>
      <p:sp>
        <p:nvSpPr>
          <p:cNvPr id="285" name="TextBox 14"/>
          <p:cNvSpPr txBox="1"/>
          <p:nvPr/>
        </p:nvSpPr>
        <p:spPr>
          <a:xfrm>
            <a:off x="8183877" y="2687628"/>
            <a:ext cx="3108963" cy="24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200">
                <a:solidFill>
                  <a:srgbClr val="6B7B8D"/>
                </a:solidFill>
              </a:defRPr>
            </a:lvl1pPr>
          </a:lstStyle>
          <a:p>
            <a:pPr/>
            <a:r>
              <a:t>Accuracy test</a:t>
            </a:r>
          </a:p>
        </p:txBody>
      </p:sp>
      <p:sp>
        <p:nvSpPr>
          <p:cNvPr id="286" name="Rectangle 15"/>
          <p:cNvSpPr/>
          <p:nvPr/>
        </p:nvSpPr>
        <p:spPr>
          <a:xfrm>
            <a:off x="731519" y="3200399"/>
            <a:ext cx="10698482" cy="54864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TextBox 16"/>
          <p:cNvSpPr txBox="1"/>
          <p:nvPr/>
        </p:nvSpPr>
        <p:spPr>
          <a:xfrm>
            <a:off x="1051558" y="3288600"/>
            <a:ext cx="1005840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El Modelo 3 (imagen + máscara) iguala al Modelo 1 (solo imagen). La segmentación no aporta información adicional.</a:t>
            </a:r>
          </a:p>
        </p:txBody>
      </p:sp>
      <p:sp>
        <p:nvSpPr>
          <p:cNvPr id="288" name="TextBox 17"/>
          <p:cNvSpPr txBox="1"/>
          <p:nvPr/>
        </p:nvSpPr>
        <p:spPr>
          <a:xfrm>
            <a:off x="777239" y="3931920"/>
            <a:ext cx="9052561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1E2761"/>
                </a:solidFill>
              </a:defRPr>
            </a:lvl1pPr>
          </a:lstStyle>
          <a:p>
            <a:pPr/>
            <a:r>
              <a:t>F1-Score por clase</a:t>
            </a:r>
          </a:p>
        </p:txBody>
      </p:sp>
      <p:graphicFrame>
        <p:nvGraphicFramePr>
          <p:cNvPr id="289" name="Table 18"/>
          <p:cNvGraphicFramePr/>
          <p:nvPr/>
        </p:nvGraphicFramePr>
        <p:xfrm>
          <a:off x="731519" y="4480559"/>
          <a:ext cx="10664092" cy="210312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343917"/>
                <a:gridCol w="1826804"/>
                <a:gridCol w="1825164"/>
                <a:gridCol w="1922386"/>
                <a:gridCol w="1780861"/>
                <a:gridCol w="1964958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Clase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1 (original)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2 (máscara)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Mod. 3 (híbrido)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Delta 1 vs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Delta 1 vs 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CNV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0.82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-0.12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DME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0.78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-0.16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DRUSEN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0.54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-0.35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1A1A2E"/>
                          </a:solidFill>
                        </a:rPr>
                        <a:t>NORMAL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96167"/>
                          </a:solidFill>
                        </a:rPr>
                        <a:t>0.71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2ECC71"/>
                          </a:solidFill>
                        </a:rPr>
                        <a:t>0.92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-0.20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E74C3C"/>
                          </a:solidFill>
                        </a:rPr>
                        <a:t>-0.01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2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Análisis: ¿por qué la segmentación no mejora?</a:t>
            </a:r>
          </a:p>
        </p:txBody>
      </p:sp>
      <p:sp>
        <p:nvSpPr>
          <p:cNvPr id="293" name="Rectangle 3"/>
          <p:cNvSpPr/>
          <p:nvPr/>
        </p:nvSpPr>
        <p:spPr>
          <a:xfrm>
            <a:off x="731519" y="1463038"/>
            <a:ext cx="10698482" cy="105156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Rectangle 4"/>
          <p:cNvSpPr/>
          <p:nvPr/>
        </p:nvSpPr>
        <p:spPr>
          <a:xfrm>
            <a:off x="731519" y="1463038"/>
            <a:ext cx="73155" cy="105156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5" name="Oval 5"/>
          <p:cNvSpPr/>
          <p:nvPr/>
        </p:nvSpPr>
        <p:spPr>
          <a:xfrm>
            <a:off x="1005838" y="1645920"/>
            <a:ext cx="457205" cy="457205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6" name="TextBox 6"/>
          <p:cNvSpPr txBox="1"/>
          <p:nvPr/>
        </p:nvSpPr>
        <p:spPr>
          <a:xfrm>
            <a:off x="1051558" y="1645921"/>
            <a:ext cx="36576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97" name="TextBox 7"/>
          <p:cNvSpPr txBox="1"/>
          <p:nvPr/>
        </p:nvSpPr>
        <p:spPr>
          <a:xfrm>
            <a:off x="1691640" y="1536191"/>
            <a:ext cx="9509761" cy="300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Información de segmentación redundante</a:t>
            </a:r>
          </a:p>
        </p:txBody>
      </p:sp>
      <p:sp>
        <p:nvSpPr>
          <p:cNvPr id="298" name="TextBox 8"/>
          <p:cNvSpPr txBox="1"/>
          <p:nvPr/>
        </p:nvSpPr>
        <p:spPr>
          <a:xfrm>
            <a:off x="1691640" y="1920238"/>
            <a:ext cx="9509761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3 (imagen+mascara, 92%) iguala al Modelo 1 (solo imagen, 92%). La segmentación no agrega información que ResNet50 no extraiga ya de la imagen original.</a:t>
            </a:r>
          </a:p>
        </p:txBody>
      </p:sp>
      <p:sp>
        <p:nvSpPr>
          <p:cNvPr id="299" name="Rectangle 9"/>
          <p:cNvSpPr/>
          <p:nvPr/>
        </p:nvSpPr>
        <p:spPr>
          <a:xfrm>
            <a:off x="731519" y="2697477"/>
            <a:ext cx="10698482" cy="105156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Rectangle 10"/>
          <p:cNvSpPr/>
          <p:nvPr/>
        </p:nvSpPr>
        <p:spPr>
          <a:xfrm>
            <a:off x="731519" y="2697477"/>
            <a:ext cx="73155" cy="105156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1" name="Oval 11"/>
          <p:cNvSpPr/>
          <p:nvPr/>
        </p:nvSpPr>
        <p:spPr>
          <a:xfrm>
            <a:off x="1005838" y="2880360"/>
            <a:ext cx="457205" cy="457205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TextBox 12"/>
          <p:cNvSpPr txBox="1"/>
          <p:nvPr/>
        </p:nvSpPr>
        <p:spPr>
          <a:xfrm>
            <a:off x="1051558" y="2880360"/>
            <a:ext cx="3657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03" name="TextBox 13"/>
          <p:cNvSpPr txBox="1"/>
          <p:nvPr/>
        </p:nvSpPr>
        <p:spPr>
          <a:xfrm>
            <a:off x="1691640" y="2770633"/>
            <a:ext cx="9509761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Perdida de textura en máscaras puras</a:t>
            </a:r>
          </a:p>
        </p:txBody>
      </p:sp>
      <p:sp>
        <p:nvSpPr>
          <p:cNvPr id="304" name="TextBox 14"/>
          <p:cNvSpPr txBox="1"/>
          <p:nvPr/>
        </p:nvSpPr>
        <p:spPr>
          <a:xfrm>
            <a:off x="1691640" y="3154678"/>
            <a:ext cx="9509761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2 (solo máscaras, 72%) pierde textura, intensidad y contraste al reducir a etiquetas discretas 0-7. Información crítica para distinguir patologías.</a:t>
            </a:r>
          </a:p>
        </p:txBody>
      </p:sp>
      <p:sp>
        <p:nvSpPr>
          <p:cNvPr id="305" name="Rectangle 15"/>
          <p:cNvSpPr/>
          <p:nvPr/>
        </p:nvSpPr>
        <p:spPr>
          <a:xfrm>
            <a:off x="731519" y="3931920"/>
            <a:ext cx="10698482" cy="105156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Rectangle 16"/>
          <p:cNvSpPr/>
          <p:nvPr/>
        </p:nvSpPr>
        <p:spPr>
          <a:xfrm>
            <a:off x="731519" y="3931920"/>
            <a:ext cx="73155" cy="1051563"/>
          </a:xfrm>
          <a:prstGeom prst="rect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Oval 17"/>
          <p:cNvSpPr/>
          <p:nvPr/>
        </p:nvSpPr>
        <p:spPr>
          <a:xfrm>
            <a:off x="1005838" y="4114800"/>
            <a:ext cx="457205" cy="457200"/>
          </a:xfrm>
          <a:prstGeom prst="ellipse">
            <a:avLst/>
          </a:prstGeom>
          <a:solidFill>
            <a:srgbClr val="E74C3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8" name="TextBox 18"/>
          <p:cNvSpPr txBox="1"/>
          <p:nvPr/>
        </p:nvSpPr>
        <p:spPr>
          <a:xfrm>
            <a:off x="1051558" y="4114799"/>
            <a:ext cx="3657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09" name="TextBox 19"/>
          <p:cNvSpPr txBox="1"/>
          <p:nvPr/>
        </p:nvSpPr>
        <p:spPr>
          <a:xfrm>
            <a:off x="1691640" y="4005071"/>
            <a:ext cx="9509761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DRUSEN: la clase más afectada (F1: 0.89 -&gt; 0.54)</a:t>
            </a:r>
          </a:p>
        </p:txBody>
      </p:sp>
      <p:sp>
        <p:nvSpPr>
          <p:cNvPr id="310" name="TextBox 20"/>
          <p:cNvSpPr txBox="1"/>
          <p:nvPr/>
        </p:nvSpPr>
        <p:spPr>
          <a:xfrm>
            <a:off x="1691640" y="4389120"/>
            <a:ext cx="9509761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Los drusen son depósitos sub-retinales cuya detección depende de textura visual. El Mod. 3 híbrido recupera F1=0.89, confirmando que la imagen es la clave.</a:t>
            </a:r>
          </a:p>
        </p:txBody>
      </p:sp>
      <p:sp>
        <p:nvSpPr>
          <p:cNvPr id="311" name="Rectangle 21"/>
          <p:cNvSpPr/>
          <p:nvPr/>
        </p:nvSpPr>
        <p:spPr>
          <a:xfrm>
            <a:off x="731519" y="5166359"/>
            <a:ext cx="10698482" cy="1051563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Rectangle 22"/>
          <p:cNvSpPr/>
          <p:nvPr/>
        </p:nvSpPr>
        <p:spPr>
          <a:xfrm>
            <a:off x="731519" y="5166359"/>
            <a:ext cx="73155" cy="1051563"/>
          </a:xfrm>
          <a:prstGeom prst="rect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3" name="Oval 23"/>
          <p:cNvSpPr/>
          <p:nvPr/>
        </p:nvSpPr>
        <p:spPr>
          <a:xfrm>
            <a:off x="1005838" y="5349240"/>
            <a:ext cx="457205" cy="457205"/>
          </a:xfrm>
          <a:prstGeom prst="ellipse">
            <a:avLst/>
          </a:prstGeom>
          <a:solidFill>
            <a:srgbClr val="F9C74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4" name="TextBox 24"/>
          <p:cNvSpPr txBox="1"/>
          <p:nvPr/>
        </p:nvSpPr>
        <p:spPr>
          <a:xfrm>
            <a:off x="1051558" y="5349240"/>
            <a:ext cx="36576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15" name="TextBox 25"/>
          <p:cNvSpPr txBox="1"/>
          <p:nvPr/>
        </p:nvSpPr>
        <p:spPr>
          <a:xfrm>
            <a:off x="1691640" y="5239510"/>
            <a:ext cx="9509761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Discrepancia de dominios entre datasets</a:t>
            </a:r>
          </a:p>
        </p:txBody>
      </p:sp>
      <p:sp>
        <p:nvSpPr>
          <p:cNvPr id="316" name="TextBox 26"/>
          <p:cNvSpPr txBox="1"/>
          <p:nvPr/>
        </p:nvSpPr>
        <p:spPr>
          <a:xfrm>
            <a:off x="1691640" y="5623559"/>
            <a:ext cx="9509761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modelo de segmentación fue entrenado con un dataset distinto al de clasificación. Diferencias en equipos OCT y resolución amplifican la degradación del Modelo 2.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TextBox 2"/>
          <p:cNvSpPr txBox="1"/>
          <p:nvPr/>
        </p:nvSpPr>
        <p:spPr>
          <a:xfrm>
            <a:off x="777239" y="457198"/>
            <a:ext cx="9052561" cy="5422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1E2761"/>
                </a:solidFill>
              </a:defRPr>
            </a:lvl1pPr>
          </a:lstStyle>
          <a:p>
            <a:pPr/>
            <a:r>
              <a:t>Prototipo funcional: app demo</a:t>
            </a:r>
          </a:p>
        </p:txBody>
      </p:sp>
      <p:sp>
        <p:nvSpPr>
          <p:cNvPr id="320" name="TextBox 3"/>
          <p:cNvSpPr txBox="1"/>
          <p:nvPr/>
        </p:nvSpPr>
        <p:spPr>
          <a:xfrm>
            <a:off x="777237" y="1463038"/>
            <a:ext cx="5394964" cy="385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00A896"/>
                </a:solidFill>
              </a:defRPr>
            </a:lvl1pPr>
          </a:lstStyle>
          <a:p>
            <a:pPr/>
            <a:r>
              <a:t>Funcionalidades</a:t>
            </a:r>
          </a:p>
        </p:txBody>
      </p:sp>
      <p:sp>
        <p:nvSpPr>
          <p:cNvPr id="321" name="Rectangle 4"/>
          <p:cNvSpPr/>
          <p:nvPr/>
        </p:nvSpPr>
        <p:spPr>
          <a:xfrm>
            <a:off x="731519" y="2103120"/>
            <a:ext cx="54867" cy="82296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TextBox 5"/>
          <p:cNvSpPr txBox="1"/>
          <p:nvPr/>
        </p:nvSpPr>
        <p:spPr>
          <a:xfrm>
            <a:off x="1142998" y="2103121"/>
            <a:ext cx="466344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Segmentación interactiva</a:t>
            </a:r>
          </a:p>
        </p:txBody>
      </p:sp>
      <p:sp>
        <p:nvSpPr>
          <p:cNvPr id="323" name="TextBox 6"/>
          <p:cNvSpPr txBox="1"/>
          <p:nvPr/>
        </p:nvSpPr>
        <p:spPr>
          <a:xfrm>
            <a:off x="1142998" y="2468877"/>
            <a:ext cx="4663444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Visualización de las 8 capas retinales con overlay sobre la imagen OCT original</a:t>
            </a:r>
          </a:p>
        </p:txBody>
      </p:sp>
      <p:sp>
        <p:nvSpPr>
          <p:cNvPr id="324" name="Rectangle 7"/>
          <p:cNvSpPr/>
          <p:nvPr/>
        </p:nvSpPr>
        <p:spPr>
          <a:xfrm>
            <a:off x="731519" y="3108960"/>
            <a:ext cx="54867" cy="82296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5" name="TextBox 8"/>
          <p:cNvSpPr txBox="1"/>
          <p:nvPr/>
        </p:nvSpPr>
        <p:spPr>
          <a:xfrm>
            <a:off x="1142998" y="3108961"/>
            <a:ext cx="466344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Clasificación comparativa</a:t>
            </a:r>
          </a:p>
        </p:txBody>
      </p:sp>
      <p:sp>
        <p:nvSpPr>
          <p:cNvPr id="326" name="TextBox 9"/>
          <p:cNvSpPr txBox="1"/>
          <p:nvPr/>
        </p:nvSpPr>
        <p:spPr>
          <a:xfrm>
            <a:off x="1142998" y="3474720"/>
            <a:ext cx="4663444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Predicción simultánea con ambos modelos, mostrando probabilidades por clase</a:t>
            </a:r>
          </a:p>
        </p:txBody>
      </p:sp>
      <p:sp>
        <p:nvSpPr>
          <p:cNvPr id="327" name="Rectangle 10"/>
          <p:cNvSpPr/>
          <p:nvPr/>
        </p:nvSpPr>
        <p:spPr>
          <a:xfrm>
            <a:off x="731519" y="4114798"/>
            <a:ext cx="54867" cy="822964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11"/>
          <p:cNvSpPr txBox="1"/>
          <p:nvPr/>
        </p:nvSpPr>
        <p:spPr>
          <a:xfrm>
            <a:off x="1142998" y="4114798"/>
            <a:ext cx="466344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Análisis visual</a:t>
            </a:r>
          </a:p>
        </p:txBody>
      </p:sp>
      <p:sp>
        <p:nvSpPr>
          <p:cNvPr id="329" name="TextBox 12"/>
          <p:cNvSpPr txBox="1"/>
          <p:nvPr/>
        </p:nvSpPr>
        <p:spPr>
          <a:xfrm>
            <a:off x="1142998" y="4480559"/>
            <a:ext cx="4663444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Barras de probabilidad, comparación lado a lado, overlay de segmentación</a:t>
            </a:r>
          </a:p>
        </p:txBody>
      </p:sp>
      <p:sp>
        <p:nvSpPr>
          <p:cNvPr id="330" name="Rectangle 13"/>
          <p:cNvSpPr/>
          <p:nvPr/>
        </p:nvSpPr>
        <p:spPr>
          <a:xfrm>
            <a:off x="731519" y="5120640"/>
            <a:ext cx="54867" cy="822963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TextBox 14"/>
          <p:cNvSpPr txBox="1"/>
          <p:nvPr/>
        </p:nvSpPr>
        <p:spPr>
          <a:xfrm>
            <a:off x="1142998" y="5120640"/>
            <a:ext cx="4663444" cy="3005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1E2761"/>
                </a:solidFill>
              </a:defRPr>
            </a:lvl1pPr>
          </a:lstStyle>
          <a:p>
            <a:pPr/>
            <a:r>
              <a:t>Carga de imágenes</a:t>
            </a:r>
          </a:p>
        </p:txBody>
      </p:sp>
      <p:sp>
        <p:nvSpPr>
          <p:cNvPr id="332" name="TextBox 15"/>
          <p:cNvSpPr txBox="1"/>
          <p:nvPr/>
        </p:nvSpPr>
        <p:spPr>
          <a:xfrm>
            <a:off x="1142998" y="5486399"/>
            <a:ext cx="4663444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El usuario puede subir imágenes OCT propias para obtener predicciones</a:t>
            </a:r>
          </a:p>
        </p:txBody>
      </p:sp>
      <p:sp>
        <p:nvSpPr>
          <p:cNvPr id="333" name="Rectangle 16"/>
          <p:cNvSpPr/>
          <p:nvPr/>
        </p:nvSpPr>
        <p:spPr>
          <a:xfrm>
            <a:off x="6339063" y="2044020"/>
            <a:ext cx="4846323" cy="3322801"/>
          </a:xfrm>
          <a:prstGeom prst="rect">
            <a:avLst/>
          </a:prstGeom>
          <a:solidFill>
            <a:srgbClr val="F5F5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Rectangle 17"/>
          <p:cNvSpPr/>
          <p:nvPr/>
        </p:nvSpPr>
        <p:spPr>
          <a:xfrm>
            <a:off x="6339063" y="2044020"/>
            <a:ext cx="4846323" cy="54864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5" name="TextBox 18"/>
          <p:cNvSpPr txBox="1"/>
          <p:nvPr/>
        </p:nvSpPr>
        <p:spPr>
          <a:xfrm>
            <a:off x="6659102" y="2151797"/>
            <a:ext cx="420624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Stack tecnológico</a:t>
            </a:r>
          </a:p>
        </p:txBody>
      </p:sp>
      <p:sp>
        <p:nvSpPr>
          <p:cNvPr id="336" name="TextBox 19"/>
          <p:cNvSpPr txBox="1"/>
          <p:nvPr/>
        </p:nvSpPr>
        <p:spPr>
          <a:xfrm>
            <a:off x="6659102" y="2866981"/>
            <a:ext cx="420624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Framework: Streamlit</a:t>
            </a:r>
          </a:p>
        </p:txBody>
      </p:sp>
      <p:sp>
        <p:nvSpPr>
          <p:cNvPr id="337" name="TextBox 20"/>
          <p:cNvSpPr txBox="1"/>
          <p:nvPr/>
        </p:nvSpPr>
        <p:spPr>
          <a:xfrm>
            <a:off x="6659102" y="3324181"/>
            <a:ext cx="420624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Segmentacion: PyTorch + SMP (UNet++)</a:t>
            </a:r>
          </a:p>
        </p:txBody>
      </p:sp>
      <p:sp>
        <p:nvSpPr>
          <p:cNvPr id="338" name="TextBox 21"/>
          <p:cNvSpPr txBox="1"/>
          <p:nvPr/>
        </p:nvSpPr>
        <p:spPr>
          <a:xfrm>
            <a:off x="6659102" y="3781381"/>
            <a:ext cx="420624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Clasificación: PyTorch + torchvision (ResNet50)</a:t>
            </a:r>
          </a:p>
        </p:txBody>
      </p:sp>
      <p:sp>
        <p:nvSpPr>
          <p:cNvPr id="339" name="TextBox 22"/>
          <p:cNvSpPr txBox="1"/>
          <p:nvPr/>
        </p:nvSpPr>
        <p:spPr>
          <a:xfrm>
            <a:off x="6659102" y="4238581"/>
            <a:ext cx="420624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Visualización: matplotlib + numpy</a:t>
            </a:r>
          </a:p>
        </p:txBody>
      </p:sp>
      <p:sp>
        <p:nvSpPr>
          <p:cNvPr id="340" name="TextBox 23"/>
          <p:cNvSpPr txBox="1"/>
          <p:nvPr/>
        </p:nvSpPr>
        <p:spPr>
          <a:xfrm>
            <a:off x="6659102" y="4695781"/>
            <a:ext cx="420624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1A1A2E"/>
                </a:solidFill>
              </a:defRPr>
            </a:lvl1pPr>
          </a:lstStyle>
          <a:p>
            <a:pPr/>
            <a:r>
              <a:t>Peso modelos: ~125 MB total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TextBox 2"/>
          <p:cNvSpPr txBox="1"/>
          <p:nvPr/>
        </p:nvSpPr>
        <p:spPr>
          <a:xfrm>
            <a:off x="777239" y="365758"/>
            <a:ext cx="9052561" cy="54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Conclusiones</a:t>
            </a:r>
          </a:p>
        </p:txBody>
      </p:sp>
      <p:sp>
        <p:nvSpPr>
          <p:cNvPr id="344" name="Oval 3"/>
          <p:cNvSpPr/>
          <p:nvPr/>
        </p:nvSpPr>
        <p:spPr>
          <a:xfrm>
            <a:off x="731519" y="1325880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5" name="TextBox 4"/>
          <p:cNvSpPr txBox="1"/>
          <p:nvPr/>
        </p:nvSpPr>
        <p:spPr>
          <a:xfrm>
            <a:off x="777238" y="1325880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46" name="TextBox 5"/>
          <p:cNvSpPr txBox="1"/>
          <p:nvPr/>
        </p:nvSpPr>
        <p:spPr>
          <a:xfrm>
            <a:off x="1417317" y="1290200"/>
            <a:ext cx="9966966" cy="506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Modelo 1 (imágenes, 92%) y Modelo 3 (híbrido, 92%) superan al Modelo 2 (máscaras, 72%). La segmentación no mejora la clasificación.</a:t>
            </a:r>
          </a:p>
        </p:txBody>
      </p:sp>
      <p:sp>
        <p:nvSpPr>
          <p:cNvPr id="347" name="Oval 6"/>
          <p:cNvSpPr/>
          <p:nvPr/>
        </p:nvSpPr>
        <p:spPr>
          <a:xfrm>
            <a:off x="731519" y="2057399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8" name="TextBox 7"/>
          <p:cNvSpPr txBox="1"/>
          <p:nvPr/>
        </p:nvSpPr>
        <p:spPr>
          <a:xfrm>
            <a:off x="777238" y="2057399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49" name="TextBox 8"/>
          <p:cNvSpPr txBox="1"/>
          <p:nvPr/>
        </p:nvSpPr>
        <p:spPr>
          <a:xfrm>
            <a:off x="1417317" y="2011678"/>
            <a:ext cx="9966966" cy="506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El Modelo 3 híbrido (imagen+máscara) iguala al Modelo 1 (solo imagen): la segmentación es información redundante para ResNet50.</a:t>
            </a:r>
          </a:p>
        </p:txBody>
      </p:sp>
      <p:sp>
        <p:nvSpPr>
          <p:cNvPr id="350" name="Oval 9"/>
          <p:cNvSpPr/>
          <p:nvPr/>
        </p:nvSpPr>
        <p:spPr>
          <a:xfrm>
            <a:off x="731519" y="2788920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1" name="TextBox 10"/>
          <p:cNvSpPr txBox="1"/>
          <p:nvPr/>
        </p:nvSpPr>
        <p:spPr>
          <a:xfrm>
            <a:off x="777238" y="2788921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52" name="TextBox 11"/>
          <p:cNvSpPr txBox="1"/>
          <p:nvPr/>
        </p:nvSpPr>
        <p:spPr>
          <a:xfrm>
            <a:off x="1417317" y="2733157"/>
            <a:ext cx="9966966" cy="506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UNet++ con ResNet34 logra segmentación precisa (Dice=0.98, IoU=0.96), validando su utilidad como herramienta independiente.</a:t>
            </a:r>
          </a:p>
        </p:txBody>
      </p:sp>
      <p:sp>
        <p:nvSpPr>
          <p:cNvPr id="353" name="Oval 12"/>
          <p:cNvSpPr/>
          <p:nvPr/>
        </p:nvSpPr>
        <p:spPr>
          <a:xfrm>
            <a:off x="731519" y="3520440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4" name="TextBox 13"/>
          <p:cNvSpPr txBox="1"/>
          <p:nvPr/>
        </p:nvSpPr>
        <p:spPr>
          <a:xfrm>
            <a:off x="777238" y="3520440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55" name="TextBox 14"/>
          <p:cNvSpPr txBox="1"/>
          <p:nvPr/>
        </p:nvSpPr>
        <p:spPr>
          <a:xfrm>
            <a:off x="1417317" y="3564323"/>
            <a:ext cx="9966966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DRUSEN es la clase mas sensible a la perdida de textura (F1: 0.89 -&gt; 0.54 con máscaras). El híbrido lo recupera (F1=0.89).</a:t>
            </a:r>
          </a:p>
        </p:txBody>
      </p:sp>
      <p:sp>
        <p:nvSpPr>
          <p:cNvPr id="356" name="Oval 15"/>
          <p:cNvSpPr/>
          <p:nvPr/>
        </p:nvSpPr>
        <p:spPr>
          <a:xfrm>
            <a:off x="731519" y="4251959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16"/>
          <p:cNvSpPr txBox="1"/>
          <p:nvPr/>
        </p:nvSpPr>
        <p:spPr>
          <a:xfrm>
            <a:off x="777238" y="4251959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58" name="TextBox 17"/>
          <p:cNvSpPr txBox="1"/>
          <p:nvPr/>
        </p:nvSpPr>
        <p:spPr>
          <a:xfrm>
            <a:off x="1417317" y="4295842"/>
            <a:ext cx="9966966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discrepancia de dominios entre datasets de segmentación y clasificación amplifica la degradación del Modelo 2.</a:t>
            </a:r>
          </a:p>
        </p:txBody>
      </p:sp>
      <p:sp>
        <p:nvSpPr>
          <p:cNvPr id="359" name="Oval 18"/>
          <p:cNvSpPr/>
          <p:nvPr/>
        </p:nvSpPr>
        <p:spPr>
          <a:xfrm>
            <a:off x="731519" y="4983479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TextBox 19"/>
          <p:cNvSpPr txBox="1"/>
          <p:nvPr/>
        </p:nvSpPr>
        <p:spPr>
          <a:xfrm>
            <a:off x="777238" y="4983479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361" name="TextBox 20"/>
          <p:cNvSpPr txBox="1"/>
          <p:nvPr/>
        </p:nvSpPr>
        <p:spPr>
          <a:xfrm>
            <a:off x="1417317" y="5027362"/>
            <a:ext cx="9966966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segmentación aporta valor clínico como herramienta de interpretabilidad, complementando al clasificador.</a:t>
            </a:r>
          </a:p>
        </p:txBody>
      </p:sp>
      <p:sp>
        <p:nvSpPr>
          <p:cNvPr id="362" name="Oval 21"/>
          <p:cNvSpPr/>
          <p:nvPr/>
        </p:nvSpPr>
        <p:spPr>
          <a:xfrm>
            <a:off x="731519" y="5714998"/>
            <a:ext cx="365765" cy="365765"/>
          </a:xfrm>
          <a:prstGeom prst="ellipse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3" name="TextBox 22"/>
          <p:cNvSpPr txBox="1"/>
          <p:nvPr/>
        </p:nvSpPr>
        <p:spPr>
          <a:xfrm>
            <a:off x="777238" y="5714998"/>
            <a:ext cx="27432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64" name="TextBox 23"/>
          <p:cNvSpPr txBox="1"/>
          <p:nvPr/>
        </p:nvSpPr>
        <p:spPr>
          <a:xfrm>
            <a:off x="1417317" y="5758881"/>
            <a:ext cx="9966966" cy="277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500">
                <a:solidFill>
                  <a:srgbClr val="FFFFFF"/>
                </a:solidFill>
              </a:defRPr>
            </a:lvl1pPr>
          </a:lstStyle>
          <a:p>
            <a:pPr/>
            <a:r>
              <a:t>La app demo demuestra la factibilidad de un sistema de apoyo al diagnostico oftalmológico con DL.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-1" y="-2"/>
            <a:ext cx="12191697" cy="73156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7" name="TextBox 2"/>
          <p:cNvSpPr txBox="1"/>
          <p:nvPr/>
        </p:nvSpPr>
        <p:spPr>
          <a:xfrm>
            <a:off x="1417319" y="1828800"/>
            <a:ext cx="9326882" cy="706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4800">
                <a:solidFill>
                  <a:srgbClr val="FFFFFF"/>
                </a:solidFill>
              </a:defRPr>
            </a:lvl1pPr>
          </a:lstStyle>
          <a:p>
            <a:pPr/>
            <a:r>
              <a:t>¡Gracias!</a:t>
            </a:r>
          </a:p>
        </p:txBody>
      </p:sp>
      <p:sp>
        <p:nvSpPr>
          <p:cNvPr id="368" name="Rectangle 3"/>
          <p:cNvSpPr/>
          <p:nvPr/>
        </p:nvSpPr>
        <p:spPr>
          <a:xfrm>
            <a:off x="4571998" y="3017520"/>
            <a:ext cx="3017524" cy="36579"/>
          </a:xfrm>
          <a:prstGeom prst="rect">
            <a:avLst/>
          </a:prstGeom>
          <a:solidFill>
            <a:srgbClr val="00A89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9" name="TextBox 4"/>
          <p:cNvSpPr txBox="1"/>
          <p:nvPr/>
        </p:nvSpPr>
        <p:spPr>
          <a:xfrm>
            <a:off x="1417319" y="3474720"/>
            <a:ext cx="9326882" cy="444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>
                <a:solidFill>
                  <a:srgbClr val="CADCFC"/>
                </a:solidFill>
              </a:defRPr>
            </a:lvl1pPr>
          </a:lstStyle>
          <a:p>
            <a:pPr/>
            <a:r>
              <a:t>¿Preguntas?</a:t>
            </a:r>
          </a:p>
        </p:txBody>
      </p:sp>
      <p:sp>
        <p:nvSpPr>
          <p:cNvPr id="370" name="TextBox 5"/>
          <p:cNvSpPr txBox="1"/>
          <p:nvPr/>
        </p:nvSpPr>
        <p:spPr>
          <a:xfrm>
            <a:off x="1417319" y="4572000"/>
            <a:ext cx="9326882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600">
                <a:solidFill>
                  <a:srgbClr val="CADCFC"/>
                </a:solidFill>
              </a:defRPr>
            </a:lvl1pPr>
          </a:lstStyle>
          <a:p>
            <a:pPr/>
            <a:r>
              <a:t>Alexis Barniquez  |  Barbara Cerezo  |  Daniel Paniagua  |  Brian Salamone</a:t>
            </a:r>
          </a:p>
        </p:txBody>
      </p:sp>
      <p:sp>
        <p:nvSpPr>
          <p:cNvPr id="371" name="TextBox 6"/>
          <p:cNvSpPr txBox="1"/>
          <p:nvPr/>
        </p:nvSpPr>
        <p:spPr>
          <a:xfrm>
            <a:off x="1417319" y="5120640"/>
            <a:ext cx="9326882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6B7B8D"/>
                </a:solidFill>
              </a:defRPr>
            </a:lvl1pPr>
          </a:lstStyle>
          <a:p>
            <a:pPr/>
            <a:r>
              <a:t>Visión por Computadora II  -  CEIA  - 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